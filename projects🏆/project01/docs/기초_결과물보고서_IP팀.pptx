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210 밀레니얼 Light" charset="1" panose="02020503020101020101"/>
      <p:regular r:id="rId39"/>
    </p:embeddedFont>
    <p:embeddedFont>
      <p:font typeface="210 밀레니얼" charset="1" panose="02020503020101020101"/>
      <p:regular r:id="rId40"/>
    </p:embeddedFont>
    <p:embeddedFont>
      <p:font typeface="Tlab 돋움 레귤러 Bold" charset="1" panose="02060800000000000000"/>
      <p:regular r:id="rId44"/>
    </p:embeddedFont>
    <p:embeddedFont>
      <p:font typeface="Tlab 돋움 미디움" charset="1" panose="02060600000000000000"/>
      <p:regular r:id="rId45"/>
    </p:embeddedFont>
    <p:embeddedFont>
      <p:font typeface="Tlab 돋움 미디움 Bold" charset="1" panose="02060900000000000000"/>
      <p:regular r:id="rId46"/>
    </p:embeddedFont>
    <p:embeddedFont>
      <p:font typeface="Tlab 돋움 레귤러" charset="1" panose="02060500000000000000"/>
      <p:regular r:id="rId48"/>
    </p:embeddedFont>
    <p:embeddedFont>
      <p:font typeface="Source Han Sans KR Bold" charset="1" panose="020B0800000000000000"/>
      <p:regular r:id="rId7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notesMasters/notesMaster1.xml" Type="http://schemas.openxmlformats.org/officeDocument/2006/relationships/notesMaster"/><Relationship Id="rId37" Target="theme/theme2.xml" Type="http://schemas.openxmlformats.org/officeDocument/2006/relationships/theme"/><Relationship Id="rId38" Target="notesSlides/notesSlide1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2.xml" Type="http://schemas.openxmlformats.org/officeDocument/2006/relationships/notesSlide"/><Relationship Id="rId42" Target="notesSlides/notesSlide3.xml" Type="http://schemas.openxmlformats.org/officeDocument/2006/relationships/notesSlide"/><Relationship Id="rId43" Target="notesSlides/notesSlide4.xml" Type="http://schemas.openxmlformats.org/officeDocument/2006/relationships/notes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notesSlides/notesSlide5.xml" Type="http://schemas.openxmlformats.org/officeDocument/2006/relationships/notesSlide"/><Relationship Id="rId48" Target="fonts/font48.fntdata" Type="http://schemas.openxmlformats.org/officeDocument/2006/relationships/font"/><Relationship Id="rId49" Target="notesSlides/notesSlide6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7.xml" Type="http://schemas.openxmlformats.org/officeDocument/2006/relationships/notesSlide"/><Relationship Id="rId51" Target="notesSlides/notesSlide8.xml" Type="http://schemas.openxmlformats.org/officeDocument/2006/relationships/notesSlide"/><Relationship Id="rId52" Target="notesSlides/notesSlide9.xml" Type="http://schemas.openxmlformats.org/officeDocument/2006/relationships/notesSlide"/><Relationship Id="rId53" Target="notesSlides/notesSlide10.xml" Type="http://schemas.openxmlformats.org/officeDocument/2006/relationships/notesSlide"/><Relationship Id="rId54" Target="notesSlides/notesSlide11.xml" Type="http://schemas.openxmlformats.org/officeDocument/2006/relationships/notesSlide"/><Relationship Id="rId55" Target="notesSlides/notesSlide12.xml" Type="http://schemas.openxmlformats.org/officeDocument/2006/relationships/notesSlide"/><Relationship Id="rId56" Target="notesSlides/notesSlide13.xml" Type="http://schemas.openxmlformats.org/officeDocument/2006/relationships/notesSlide"/><Relationship Id="rId57" Target="notesSlides/notesSlide14.xml" Type="http://schemas.openxmlformats.org/officeDocument/2006/relationships/notesSlide"/><Relationship Id="rId58" Target="notesSlides/notesSlide15.xml" Type="http://schemas.openxmlformats.org/officeDocument/2006/relationships/notesSlide"/><Relationship Id="rId59" Target="notesSlides/notesSlide16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7.xml" Type="http://schemas.openxmlformats.org/officeDocument/2006/relationships/notesSlide"/><Relationship Id="rId61" Target="notesSlides/notesSlide18.xml" Type="http://schemas.openxmlformats.org/officeDocument/2006/relationships/notesSlide"/><Relationship Id="rId62" Target="notesSlides/notesSlide19.xml" Type="http://schemas.openxmlformats.org/officeDocument/2006/relationships/notesSlide"/><Relationship Id="rId63" Target="notesSlides/notesSlide20.xml" Type="http://schemas.openxmlformats.org/officeDocument/2006/relationships/notesSlide"/><Relationship Id="rId64" Target="notesSlides/notesSlide21.xml" Type="http://schemas.openxmlformats.org/officeDocument/2006/relationships/notesSlide"/><Relationship Id="rId65" Target="notesSlides/notesSlide22.xml" Type="http://schemas.openxmlformats.org/officeDocument/2006/relationships/notesSlide"/><Relationship Id="rId66" Target="notesSlides/notesSlide23.xml" Type="http://schemas.openxmlformats.org/officeDocument/2006/relationships/notesSlide"/><Relationship Id="rId67" Target="notesSlides/notesSlide24.xml" Type="http://schemas.openxmlformats.org/officeDocument/2006/relationships/notesSlide"/><Relationship Id="rId68" Target="notesSlides/notesSlide25.xml" Type="http://schemas.openxmlformats.org/officeDocument/2006/relationships/notesSlide"/><Relationship Id="rId69" Target="notesSlides/notesSlide26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27.xml" Type="http://schemas.openxmlformats.org/officeDocument/2006/relationships/notesSlide"/><Relationship Id="rId71" Target="fonts/font71.fntdata" Type="http://schemas.openxmlformats.org/officeDocument/2006/relationships/font"/><Relationship Id="rId72" Target="notesSlides/notesSlide28.xml" Type="http://schemas.openxmlformats.org/officeDocument/2006/relationships/notesSlide"/><Relationship Id="rId73" Target="notesSlides/notesSlide29.xml" Type="http://schemas.openxmlformats.org/officeDocument/2006/relationships/notesSlide"/><Relationship Id="rId74" Target="notesSlides/notesSlide30.xml" Type="http://schemas.openxmlformats.org/officeDocument/2006/relationships/notes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 </a:t>
            </a:r>
          </a:p>
          <a:p>
            <a:r>
              <a:rPr lang="en-US"/>
              <a:t>똑똑하고 합리적인 당신의 선택은?  안녕하세요.  4조 발표를 담당하게 된 ㅇㅇㅇ입니다.</a:t>
            </a:r>
          </a:p>
          <a:p>
            <a:r>
              <a:rPr lang="en-US"/>
              <a:t>저희 4조는 모빌리티 분야의 친환경 차량 성능 데이터를 분석하여</a:t>
            </a:r>
          </a:p>
          <a:p>
            <a:r>
              <a:rPr lang="en-US"/>
              <a:t>차량업체 및 관련부처 관계자님들께 가장 효율적인 친환경 내연기관차를 제안하고자 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2. </a:t>
            </a:r>
          </a:p>
          <a:p>
            <a:r>
              <a:rPr lang="en-US"/>
              <a:t>저희 발표는 다음과 같은 순서로 진행됩니다.</a:t>
            </a:r>
          </a:p>
          <a:p>
            <a:r>
              <a:rPr lang="en-US"/>
              <a:t>먼저 프로젝트의 배경과 목표를 간단히 소개한 뒤, 분석에 사용된 데이터셋을 설명드리겠습니다.</a:t>
            </a:r>
          </a:p>
          <a:p>
            <a:r>
              <a:rPr lang="en-US"/>
              <a:t>이후 세 번째로 핵심 분석 결과를 차례대로 공유하고, 이를 바탕으로 한 친환경 자동차 설계 방안을 제시합니다. 마지막으로 분석 결과를 토대로 도출한 비즈니스 인사이트를 정리하며 발표를 마무리하겠습니다.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>여러분 혹시 작년 여름에 발생했던 전기차 화재 사고 기억하실까요? 24년 8월, 인천 청라동의 한 아파트에서 전기차 차량의 배터리가 폭발하며 발생한 화재 사고였습니다. 다행히 인명피해는 없었으나 이재민이 다수 발생해서 크게 화제가 되었던 사고입니다.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>이처럼 친환경을 모토로 하는 전기차에서 -배터리 위험과 -현실적인 충전 인프라 </a:t>
            </a:r>
          </a:p>
          <a:p>
            <a:r>
              <a:rPr lang="en-US"/>
              <a:t>- 그리고  긴 충전시간에 대한 제약도 여전히 해결되고 있지 않습니다. </a:t>
            </a:r>
          </a:p>
          <a:p>
            <a:r>
              <a:rPr lang="en-US"/>
              <a:t>따라서, 저희는 전기차의 발전보다, </a:t>
            </a:r>
          </a:p>
          <a:p>
            <a:r>
              <a:rPr lang="en-US"/>
              <a:t>기존에 널리 쓰이는 내연기관 차량을 보다 친환경적으로 보완하는 방안을 찾고자 합니다.</a:t>
            </a:r>
          </a:p>
          <a:p>
            <a:r>
              <a:rPr lang="en-US"/>
              <a:t>그렇다면 과연 가장 친환경적이고 효율적인 내연기관의 조건은 무엇일까요? 지금부터 저희가 한 데이터분석을 통해 말씀드리겠습니다.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>저희의 분석 프로세스는 크게 네 단계로 이루어져 있습니다.  먼저 데이터를 파악하고, 이어서 전처리를 거친 뒤 탐색적 데이터 분석(EDA)과 시각화를 진행했습니다. 마지막으로 이 과정을 통해 의미 있는 인사이트를 도출했습니다.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6. </a:t>
            </a:r>
          </a:p>
          <a:p>
            <a:r>
              <a:rPr lang="en-US"/>
              <a:t>저희는 캐글에서 배포 중인  2000년부터 2022년까지의  ‘차량 모델별 연료 소비량’  데이터셋을 사용했습니다. 해당 데이터는 캐나다 정부에서 공개 중인 오픈데이터를 기반으로 하며,  </a:t>
            </a:r>
          </a:p>
          <a:p>
            <a:r>
              <a:rPr lang="en-US"/>
              <a:t>저희는 이 안에서 연비와 이산화탄소 배출량을 종속변수로 설정하고, </a:t>
            </a:r>
          </a:p>
          <a:p>
            <a:r>
              <a:rPr lang="en-US"/>
              <a:t>여러 독립변수들과의 상관관계를 분석했습니다.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7.</a:t>
            </a:r>
          </a:p>
          <a:p>
            <a:r>
              <a:rPr lang="en-US"/>
              <a:t>데이터 전처리 과정은 정제와 가공으로 나눠 진행했습니다.</a:t>
            </a:r>
          </a:p>
          <a:p>
            <a:r>
              <a:rPr lang="en-US"/>
              <a:t/>
            </a:r>
          </a:p>
          <a:p>
            <a:r>
              <a:rPr lang="en-US"/>
              <a:t>정제파트에서는 자료들의 일관성을 확보하기 위해</a:t>
            </a:r>
          </a:p>
          <a:p>
            <a:r>
              <a:rPr lang="en-US"/>
              <a:t>다양한 형식으로 작성되어있는 데이터들 통일했고, 축약어들도 직관적으로 이해 할 수 있도록 변경했습니다. </a:t>
            </a:r>
          </a:p>
          <a:p>
            <a:r>
              <a:rPr lang="en-US"/>
              <a:t/>
            </a:r>
          </a:p>
          <a:p>
            <a:r>
              <a:rPr lang="en-US"/>
              <a:t>가공 파트에서는 수치형 변수들의 단위를 분석에 용이하게 변환하였고, 잘게 쪼개진 데이터들은 </a:t>
            </a:r>
          </a:p>
          <a:p>
            <a:r>
              <a:rPr lang="en-US"/>
              <a:t>경향 분석에 적합하도록 그룹화 작업을 진행했습니다.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8.</a:t>
            </a:r>
          </a:p>
          <a:p>
            <a:r>
              <a:rPr lang="en-US"/>
              <a:t>연비 데이터를 전처리하던 중, 도심 연비와 고속도로 연비가 서로 비례 관계를 보인다는 걸 확인했습니다.  </a:t>
            </a:r>
          </a:p>
          <a:p>
            <a:r>
              <a:rPr lang="en-US"/>
              <a:t>그래서 이후 분석에서는 두 값을 종합한 복합 연비를 대표 변수로 사용했습니다.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9.</a:t>
            </a:r>
          </a:p>
          <a:p>
            <a:r>
              <a:rPr lang="en-US"/>
              <a:t>전처리 중 연도별 연비와 이산화탄소 배출량을 살펴보다</a:t>
            </a:r>
          </a:p>
          <a:p>
            <a:r>
              <a:rPr lang="en-US"/>
              <a:t>2014년과 2015년에 급격한 변화가 나타나는 걸 발견했습니다.</a:t>
            </a:r>
          </a:p>
          <a:p>
            <a:r>
              <a:rPr lang="en-US"/>
              <a:t>이상치로 의심된 이 구간이 어떤 요인 때문에 발생했는지, 저희는 추가 탐색 과정을 진행했습니다.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10.</a:t>
            </a:r>
          </a:p>
          <a:p>
            <a:r>
              <a:rPr lang="en-US"/>
              <a:t>저희는 먼저 내부 데이터 요인을 살펴 </a:t>
            </a:r>
          </a:p>
          <a:p>
            <a:r>
              <a:rPr lang="en-US"/>
              <a:t>‘특정 연료 차량 생산 증가가 이상치를 만들었다’는 가설을 세웠습니다. </a:t>
            </a:r>
          </a:p>
          <a:p>
            <a:r>
              <a:rPr lang="en-US"/>
              <a:t>그래서 전체 연료 데이터를 살펴본 결과, 디젤 차량 수 추이가 앞선 그래프와 비슷한 양상을 보인다는 걸 확인했습니다.</a:t>
            </a:r>
          </a:p>
          <a:p>
            <a:r>
              <a:rPr lang="en-US"/>
              <a:t>하지만 디젤 차량은 전체 데이터에서 3% 미만에 불과해, 전체 연비 변화에 미치는 영향이 적다고 판단했습니다. 따라서 이 가설은 기각했습니다.</a:t>
            </a:r>
          </a:p>
          <a:p>
            <a:r>
              <a:rPr lang="en-US"/>
              <a:t>추가적으로 AV 차량 등 다른 요인도 조사했지만, 원인이 아니였습니다.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11.</a:t>
            </a:r>
          </a:p>
          <a:p>
            <a:r>
              <a:rPr lang="en-US"/>
              <a:t> 그래서 이번에는 ‘내부 데이터셋이 아닌 외부요인에 원인이 있을것이다’ 는 가설을 세우고 조사에 들어갔습니다. 조사 결과, 업계에서 큰 파장을 일으킨 디젤게이트 발발 시점이 2015년 이라는 것을 확인했습니다.</a:t>
            </a:r>
          </a:p>
          <a:p>
            <a:r>
              <a:rPr lang="en-US"/>
              <a:t>디젤게이트는 폭스바겐을 중심으로 시작된 디젤차량의 배출가스 조작 사건으로,</a:t>
            </a:r>
          </a:p>
          <a:p>
            <a:r>
              <a:rPr lang="en-US"/>
              <a:t>성능테스트 상황을 인식하고 배출가스를 적어보이게, 환경기준에 맞게 엔진 제어장치를 조작하는 소프트웨어를 차량에 설치한 사건입니다.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12.</a:t>
            </a:r>
          </a:p>
          <a:p>
            <a:r>
              <a:rPr lang="en-US"/>
              <a:t>추가 조사 결과,  폭스바겐 뿐만 아니라 여러 제조사들이 연루 되어있어</a:t>
            </a:r>
          </a:p>
          <a:p>
            <a:r>
              <a:rPr lang="en-US"/>
              <a:t>연루 정도를 기준으로 제조사를 세가지 그룹으로 나누어 배출량을 분석해보았습니다.</a:t>
            </a:r>
          </a:p>
          <a:p>
            <a:r>
              <a:rPr lang="en-US"/>
              <a:t>연루가 되어있는 레드 그룹, </a:t>
            </a:r>
          </a:p>
          <a:p>
            <a:r>
              <a:rPr lang="en-US"/>
              <a:t>의혹이 있는 옐로우 그룹, </a:t>
            </a:r>
          </a:p>
          <a:p>
            <a:r>
              <a:rPr lang="en-US"/>
              <a:t>청렴으로 확인되는 그린 그룹입니다. 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그래프를 확인하시면, 레드, 옐로우 그룹은 표시부분의 배출량이 급상승하는 모습을 확인하실 수 있습니다. 반면에 그린 그룹은 전반적으로 안정적인 양상을 보였지만 밴 차량만 예외적으로 배출량이 증가했습니다. 추가 분석한 결과, 엔진 사이즈 확대 때문이었고, 디젤 게이트와는 직접적인 영향이 없는 것으로 확인했습니다. </a:t>
            </a:r>
          </a:p>
          <a:p>
            <a:r>
              <a:rPr lang="en-US"/>
              <a:t>(클릭) 따라서 저희는 2014년과 2015년 사이의 변화는 디젤게이트의 영향이 크다고 판단했고 이 부분을 전처리하지 않기로 결정했습니다.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13.</a:t>
            </a:r>
          </a:p>
          <a:p>
            <a:r>
              <a:rPr lang="en-US"/>
              <a:t>지금부터 핵심 분석 내용 설명드리겠습니다.</a:t>
            </a:r>
          </a:p>
          <a:p>
            <a:r>
              <a:rPr lang="en-US"/>
              <a:t>엔진이 작을수록 연비와 배출량 두 면에서 유리하다는 사실을 확인했습니다. 따라서 평소 운전할 때 큰 출력이 필요 없다면 3L 이하 엔진 차량을 선택하는 것이 합리적입니다.</a:t>
            </a:r>
          </a:p>
          <a:p>
            <a:r>
              <a:rPr lang="en-US"/>
              <a:t>추가로 산업 트렌드를 조사해본 결과, 실제로 자동차 업계 전반에서 엔진 다운사이징이 주요 흐름으로 자리잡고 있으며, 이는 연비 개선에 긍정적인 영향을 미친다는 분석을 확인할 수 있었습니다.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14</a:t>
            </a:r>
          </a:p>
          <a:p>
            <a:r>
              <a:rPr lang="en-US"/>
              <a:t>실린더 수에 따른 연비와 배출량 분석에서도 실린더수가 많을수록 연비가 안좋고, 이산화탄소 배출량이 많아 효율적인 차량 설계를 위해서는 실린더 수가 적을수록 유리하다 확인되었습니다.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15.</a:t>
            </a:r>
          </a:p>
          <a:p>
            <a:r>
              <a:rPr lang="en-US"/>
              <a:t>하지만 기어의 경우 단수별 분석 결과, 뚜렷한 상관관계는 발견되지 않았습니다. 따라서 기어 단수는 친환경성과 효율성 측면에서 큰 영향을 주지 않는 변수라고 볼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16.</a:t>
            </a:r>
          </a:p>
          <a:p>
            <a:r>
              <a:rPr lang="en-US"/>
              <a:t>변속기 종류에 따른 연비, 배출량 변화 차트 상으로는</a:t>
            </a:r>
          </a:p>
          <a:p>
            <a:r>
              <a:rPr lang="en-US"/>
              <a:t>AV(무단변속기) &gt; M(수동) &gt; AM(전자식 수동) ≈ AS(자동선택) &gt; A(자동) 순으로 좋다는 걸 알수있습니다.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17.</a:t>
            </a:r>
          </a:p>
          <a:p>
            <a:r>
              <a:rPr lang="en-US"/>
              <a:t/>
            </a:r>
          </a:p>
          <a:p>
            <a:r>
              <a:rPr lang="en-US"/>
              <a:t>이번엔 연료종류별 평균연비, 배출량 분석해보았습니다.</a:t>
            </a:r>
          </a:p>
          <a:p>
            <a:r>
              <a:rPr lang="en-US"/>
              <a:t>평균 데이터 상으로 디젤 차량이 연비와 배출량 모두 우수하다는 결과를 확인할 수 있습니다. 하지만 23년간의 평균 데이터이다보니 연도별 변화추이가 궁금해 더 분석을 하였습니다.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18.</a:t>
            </a:r>
          </a:p>
          <a:p>
            <a:r>
              <a:rPr lang="en-US"/>
              <a:t>연도별로 추출을 하니 2007년부터 디젤의 급격한 하락과 상승이 확인되었습니다.</a:t>
            </a:r>
          </a:p>
          <a:p>
            <a:r>
              <a:rPr lang="en-US"/>
              <a:t>그렇담 왜 2006년까지 디젤의 연비는 높고 배출량은 낮았을까 라는 의문이들어 해당 분석을 진행했습니다.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19.</a:t>
            </a:r>
          </a:p>
          <a:p>
            <a:r>
              <a:rPr lang="en-US"/>
              <a:t>디젤 차량의 엔진 그룹 비율을 연도별로 살펴보니, 2007년 이후 대형 엔진 비중이 크게 늘어난 걸 확인할 수 있었습니다. 반면 2006년 이전에는 소형 엔진 위주였기 때문에 배출량이 낮았던 것으로 해석됩니다.</a:t>
            </a:r>
          </a:p>
          <a:p>
            <a:r>
              <a:rPr lang="en-US"/>
              <a:t>따라서 이런 변화를 고려하여 저희는 최근 데이터를 추가로 분석해 보고 최고의 연료를 정하는 게 합리적인 분석 방향이라 판단했습니다 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29.</a:t>
            </a:r>
          </a:p>
          <a:p>
            <a:r>
              <a:rPr lang="en-US"/>
              <a:t>디젤은 2000년대 초반부터 가장 좋은 연비와 적은 이산화탄소 배출량을 보여주었으나, 2010년대에 진입하며 점진적으로 가솔린과 비슷하거나 가솔린보다 못한 모습을 보여주고 있습니다.</a:t>
            </a:r>
          </a:p>
          <a:p>
            <a:r>
              <a:rPr lang="en-US"/>
              <a:t>최근에는 전세계적으로 탄소 배출 규제가 강화되는 추세이기 때문에 무난하게 안정적인 결과를 내는 가솔린이 현실적인 대안이라 파악됩니다.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21.</a:t>
            </a:r>
          </a:p>
          <a:p>
            <a:r>
              <a:rPr lang="en-US"/>
              <a:t>마지막으로 차종별 연비와 배출량을 비교한 결과, 왜건이 전체 차종 중에서 가장 효율적이고 환경 친화적인 성능을 보였습니다.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22.</a:t>
            </a:r>
          </a:p>
          <a:p>
            <a:r>
              <a:rPr lang="en-US"/>
              <a:t>특히 세부 분석에서 스몰 왜건이 미들 왜건보다 연비와 배출량 모두에서 가장 우수한 지표를 기록하며, </a:t>
            </a:r>
          </a:p>
          <a:p>
            <a:r>
              <a:rPr lang="en-US"/>
              <a:t>내연기관 자동차 중, 친환경성과 효율성을 최대로 만족시키는 차종임을 확인했습니다.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23.</a:t>
            </a:r>
          </a:p>
          <a:p>
            <a:r>
              <a:rPr lang="en-US"/>
              <a:t>지금까지의 분석결과를 요약해드리겠습니다. </a:t>
            </a:r>
          </a:p>
          <a:p>
            <a:r>
              <a:rPr lang="en-US"/>
              <a:t>가장 효율적이고 친환경적인 내연기관 차량 조건은 가솔린 연료를 사용하며, 3리터 이하 엔진, 5기통 이하의 실린더를 사용하고 무단변속기가 장착된 스몰 왜건 차종입니다.  </a:t>
            </a:r>
          </a:p>
          <a:p>
            <a:r>
              <a:rPr lang="en-US"/>
              <a:t>(클릭)</a:t>
            </a:r>
          </a:p>
          <a:p>
            <a:r>
              <a:rPr lang="en-US"/>
              <a:t>해당 조건의 차량이 연비와 배출량 측면에서 가장 우수한 성능을 보여줄 것이라 파악되며, 친환경 내연기관 차량의 최적 설계안으로 도출되었습니다.</a:t>
            </a:r>
          </a:p>
          <a:p>
            <a:r>
              <a:rPr lang="en-US"/>
              <a:t/>
            </a:r>
          </a:p>
          <a:p>
            <a:r>
              <a:rPr lang="en-US"/>
              <a:t>지금까지 도출한 설계안을 바탕으로, 이제 비즈니스 인사이트를 제안드리겠습니다.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24. </a:t>
            </a:r>
          </a:p>
          <a:p>
            <a:r>
              <a:rPr lang="en-US"/>
              <a:t>먼저 글로벌 왜건 시장입니다.  우측의 도넛 차트를 확인하시면, 유럽이 전체 시장의 40%를 차지하고 있습니다. </a:t>
            </a:r>
          </a:p>
          <a:p>
            <a:r>
              <a:rPr lang="en-US"/>
              <a:t>유럽 소비자들은 환경 가치에 대한 인식이 높고,</a:t>
            </a:r>
          </a:p>
          <a:p>
            <a:r>
              <a:rPr lang="en-US"/>
              <a:t>생활 패턴 또한</a:t>
            </a:r>
          </a:p>
          <a:p>
            <a:r>
              <a:rPr lang="en-US"/>
              <a:t> 가족 중심으로 이동하거나, 적재공간 활용도를 중시하는 등</a:t>
            </a:r>
          </a:p>
          <a:p>
            <a:r>
              <a:rPr lang="en-US"/>
              <a:t>친환경 왜건 차량의 특징들과 높은 적합성을 보입니다.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25</a:t>
            </a:r>
          </a:p>
          <a:p>
            <a:r>
              <a:rPr lang="en-US"/>
              <a:t>"여러분, 혹시 왜건 차량을 직접 타보신 분 계신가요?  네.. 아마 많지 않으실 겁니다. </a:t>
            </a:r>
          </a:p>
          <a:p>
            <a:r>
              <a:rPr lang="en-US"/>
              <a:t>국내에서는 왜건에 대한 인식이 아직 낮습니다. </a:t>
            </a:r>
          </a:p>
          <a:p>
            <a:r>
              <a:rPr lang="en-US"/>
              <a:t/>
            </a:r>
          </a:p>
          <a:p>
            <a:r>
              <a:rPr lang="en-US"/>
              <a:t>(클릭)</a:t>
            </a:r>
          </a:p>
          <a:p>
            <a:r>
              <a:rPr lang="en-US"/>
              <a:t>한국의 2025 자동차 등록 데이터를 확인하시면 </a:t>
            </a:r>
          </a:p>
          <a:p>
            <a:r>
              <a:rPr lang="en-US"/>
              <a:t>(클릭)</a:t>
            </a:r>
          </a:p>
          <a:p>
            <a:r>
              <a:rPr lang="en-US"/>
              <a:t>전체 차량 등록 비율에서도 (클릭) 왜건은 0.14%의 작은 부분을 맡고 있는데요..  </a:t>
            </a:r>
          </a:p>
          <a:p>
            <a:r>
              <a:rPr lang="en-US"/>
              <a:t>하지만 이 점은(클릭) 오히려 SUV에 잠식된 국내시장 안에서 새로운 기회를 모색할 수 있는 블루오션으로 볼 수도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25</a:t>
            </a:r>
          </a:p>
          <a:p>
            <a:r>
              <a:rPr lang="en-US"/>
              <a:t>"여러분, 혹시 왜건 차량을 직접 타보신 분 계신가요?  네.. 아마 많지 않으실 겁니다. </a:t>
            </a:r>
          </a:p>
          <a:p>
            <a:r>
              <a:rPr lang="en-US"/>
              <a:t>국내에서는 왜건에 대한 인식이 아직 낮습니다. </a:t>
            </a:r>
          </a:p>
          <a:p>
            <a:r>
              <a:rPr lang="en-US"/>
              <a:t/>
            </a:r>
          </a:p>
          <a:p>
            <a:r>
              <a:rPr lang="en-US"/>
              <a:t>(클릭)</a:t>
            </a:r>
          </a:p>
          <a:p>
            <a:r>
              <a:rPr lang="en-US"/>
              <a:t>한국의 2025 자동차 등록 데이터를 확인하시면 </a:t>
            </a:r>
          </a:p>
          <a:p>
            <a:r>
              <a:rPr lang="en-US"/>
              <a:t>(클릭)</a:t>
            </a:r>
          </a:p>
          <a:p>
            <a:r>
              <a:rPr lang="en-US"/>
              <a:t>전체 차량 등록 비율에서도 (클릭) 왜건은 0.14%의 작은 부분을 맡고 있는데요..  </a:t>
            </a:r>
          </a:p>
          <a:p>
            <a:r>
              <a:rPr lang="en-US"/>
              <a:t>하지만 이 점은(클릭) 오히려 SUV에 잠식된 국내시장 안에서 새로운 기회를 모색할 수 있는 블루오션으로 볼 수도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따라서 저희는 수요층이 다수 분포된 유럽 시장을 메인 타겟으로, </a:t>
            </a:r>
          </a:p>
          <a:p>
            <a:r>
              <a:rPr lang="en-US"/>
              <a:t>동시에, 인식 부족이라는 리스크는 있지만</a:t>
            </a:r>
          </a:p>
          <a:p>
            <a:r>
              <a:rPr lang="en-US"/>
              <a:t>친환경 트렌드와 맞물려 </a:t>
            </a:r>
          </a:p>
          <a:p>
            <a:r>
              <a:rPr lang="en-US"/>
              <a:t>잠재적 성장 가능성을 가진 국내 시장을 서브 타겟으로 시장진출을 진행해볼 것을 제안드립니다.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분석을 하며 다음의 자료를  참고하였습니다.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이상으로 4조의 발표를 마치겠습니다. 감사합니다.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https://www.kaggle.com/datasets/ahmettyilmazz/fuel-consumption/data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8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30.pn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32.pn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3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35.pn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37.pn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39.pn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41.jpeg" Type="http://schemas.openxmlformats.org/officeDocument/2006/relationships/image"/><Relationship Id="rId4" Target="../media/image42.jpeg" Type="http://schemas.openxmlformats.org/officeDocument/2006/relationships/image"/><Relationship Id="rId5" Target="../media/image43.jpeg" Type="http://schemas.openxmlformats.org/officeDocument/2006/relationships/image"/><Relationship Id="rId6" Target="../media/image44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5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5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https://it.donga.com/107402/" TargetMode="External" Type="http://schemas.openxmlformats.org/officeDocument/2006/relationships/hyperlink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90018" cy="238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7904243" y="8685420"/>
            <a:ext cx="9450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이혜림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77753" y="8685420"/>
            <a:ext cx="105876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하지웅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28770" y="8685420"/>
            <a:ext cx="106601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임혜윤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5723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68425" y="8685420"/>
            <a:ext cx="82477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강승희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398027" y="8727585"/>
            <a:ext cx="0" cy="249374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1053878" y="8731650"/>
            <a:ext cx="0" cy="249374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9203284" y="8727585"/>
            <a:ext cx="0" cy="249374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329074" y="2900014"/>
            <a:ext cx="15629851" cy="473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44"/>
              </a:lnSpc>
            </a:pPr>
            <a:r>
              <a:rPr lang="en-US" sz="6246">
                <a:solidFill>
                  <a:srgbClr val="3087BB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똑똑하고 합리적인 </a:t>
            </a:r>
          </a:p>
          <a:p>
            <a:pPr algn="ctr">
              <a:lnSpc>
                <a:spcPts val="8744"/>
              </a:lnSpc>
            </a:pPr>
            <a:r>
              <a:rPr lang="en-US" sz="6246">
                <a:solidFill>
                  <a:srgbClr val="3087BB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당신의 선택은?</a:t>
            </a:r>
          </a:p>
          <a:p>
            <a:pPr algn="ctr">
              <a:lnSpc>
                <a:spcPts val="10144"/>
              </a:lnSpc>
            </a:pPr>
            <a:r>
              <a:rPr lang="en-US" sz="7246">
                <a:solidFill>
                  <a:srgbClr val="31356E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데이터로 찾아본 가장 효율적인</a:t>
            </a:r>
          </a:p>
          <a:p>
            <a:pPr algn="ctr">
              <a:lnSpc>
                <a:spcPts val="10144"/>
              </a:lnSpc>
            </a:pPr>
            <a:r>
              <a:rPr lang="en-US" sz="7246">
                <a:solidFill>
                  <a:srgbClr val="31356E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친환경 내연기관차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41473"/>
            <a:ext cx="16668349" cy="8937333"/>
            <a:chOff x="0" y="0"/>
            <a:chExt cx="4390018" cy="2353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90018" cy="238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992012" y="4539406"/>
            <a:ext cx="849143" cy="704277"/>
            <a:chOff x="0" y="0"/>
            <a:chExt cx="223643" cy="1854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643" cy="185488"/>
            </a:xfrm>
            <a:custGeom>
              <a:avLst/>
              <a:gdLst/>
              <a:ahLst/>
              <a:cxnLst/>
              <a:rect r="r" b="b" t="t" l="l"/>
              <a:pathLst>
                <a:path h="185488" w="223643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23643" cy="214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992402" y="5874811"/>
            <a:ext cx="849143" cy="704277"/>
            <a:chOff x="0" y="0"/>
            <a:chExt cx="223643" cy="1854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3643" cy="185488"/>
            </a:xfrm>
            <a:custGeom>
              <a:avLst/>
              <a:gdLst/>
              <a:ahLst/>
              <a:cxnLst/>
              <a:rect r="r" b="b" t="t" l="l"/>
              <a:pathLst>
                <a:path h="185488" w="223643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23643" cy="214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005092" y="5874811"/>
            <a:ext cx="849143" cy="704277"/>
            <a:chOff x="0" y="0"/>
            <a:chExt cx="223643" cy="1854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643" cy="185488"/>
            </a:xfrm>
            <a:custGeom>
              <a:avLst/>
              <a:gdLst/>
              <a:ahLst/>
              <a:cxnLst/>
              <a:rect r="r" b="b" t="t" l="l"/>
              <a:pathLst>
                <a:path h="185488" w="223643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23643" cy="214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005092" y="7138063"/>
            <a:ext cx="849143" cy="704277"/>
            <a:chOff x="0" y="0"/>
            <a:chExt cx="223643" cy="1854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643" cy="185488"/>
            </a:xfrm>
            <a:custGeom>
              <a:avLst/>
              <a:gdLst/>
              <a:ahLst/>
              <a:cxnLst/>
              <a:rect r="r" b="b" t="t" l="l"/>
              <a:pathLst>
                <a:path h="185488" w="223643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23643" cy="214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00155" y="4539406"/>
            <a:ext cx="849143" cy="704277"/>
            <a:chOff x="0" y="0"/>
            <a:chExt cx="223643" cy="1854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3643" cy="185488"/>
            </a:xfrm>
            <a:custGeom>
              <a:avLst/>
              <a:gdLst/>
              <a:ahLst/>
              <a:cxnLst/>
              <a:rect r="r" b="b" t="t" l="l"/>
              <a:pathLst>
                <a:path h="185488" w="223643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23643" cy="214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109634" y="2349291"/>
            <a:ext cx="560284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목 차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93605" y="4673213"/>
            <a:ext cx="388633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3087BB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프로젝트 배경 및 목표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39849" y="4716075"/>
            <a:ext cx="117984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39747" y="6007940"/>
            <a:ext cx="117984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93605" y="6006140"/>
            <a:ext cx="38863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3087BB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데이터 개요 및 전처리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39747" y="7290177"/>
            <a:ext cx="121082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15464" y="7266364"/>
            <a:ext cx="384262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3087BB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핵심 분석 내용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34805" y="4706070"/>
            <a:ext cx="117984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70631" y="4673213"/>
            <a:ext cx="541193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3087BB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효율적인 자동차 설계 방안 모색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834805" y="6029952"/>
            <a:ext cx="117984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387523" y="6006140"/>
            <a:ext cx="401827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3087BB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비즈니스 인사이트 제안  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9ECEE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9ECEE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426499" y="3621295"/>
            <a:ext cx="13435001" cy="4689157"/>
            <a:chOff x="0" y="0"/>
            <a:chExt cx="17913335" cy="6252209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3"/>
            <a:srcRect l="13580" t="0" r="12758" b="0"/>
            <a:stretch>
              <a:fillRect/>
            </a:stretch>
          </p:blipFill>
          <p:spPr>
            <a:xfrm flipH="false" flipV="false">
              <a:off x="0" y="0"/>
              <a:ext cx="8893167" cy="6252209"/>
            </a:xfrm>
            <a:prstGeom prst="rect">
              <a:avLst/>
            </a:prstGeom>
          </p:spPr>
        </p:pic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4"/>
            <a:srcRect l="2586" t="0" r="2586" b="0"/>
            <a:stretch>
              <a:fillRect/>
            </a:stretch>
          </p:blipFill>
          <p:spPr>
            <a:xfrm flipH="false" flipV="false">
              <a:off x="9020167" y="0"/>
              <a:ext cx="8893167" cy="6252209"/>
            </a:xfrm>
            <a:prstGeom prst="rect">
              <a:avLst/>
            </a:prstGeom>
          </p:spPr>
        </p:pic>
      </p:grpSp>
      <p:sp>
        <p:nvSpPr>
          <p:cNvPr name="TextBox 9" id="9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15970" y="2268999"/>
            <a:ext cx="11256060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31356E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인천 청라동 아파트 지하주차장 전기차 화재 사고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60351" y="1028700"/>
            <a:ext cx="310485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01 프로젝트 배경 및 목표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815364" y="3759913"/>
            <a:ext cx="14657272" cy="3928726"/>
            <a:chOff x="0" y="0"/>
            <a:chExt cx="3860352" cy="103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60352" cy="1034726"/>
            </a:xfrm>
            <a:custGeom>
              <a:avLst/>
              <a:gdLst/>
              <a:ahLst/>
              <a:cxnLst/>
              <a:rect r="r" b="b" t="t" l="l"/>
              <a:pathLst>
                <a:path h="1034726" w="3860352">
                  <a:moveTo>
                    <a:pt x="0" y="0"/>
                  </a:moveTo>
                  <a:lnTo>
                    <a:pt x="3860352" y="0"/>
                  </a:lnTo>
                  <a:lnTo>
                    <a:pt x="3860352" y="1034726"/>
                  </a:lnTo>
                  <a:lnTo>
                    <a:pt x="0" y="1034726"/>
                  </a:lnTo>
                  <a:close/>
                </a:path>
              </a:pathLst>
            </a:custGeom>
            <a:solidFill>
              <a:srgbClr val="F1FA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3860352" cy="1129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039554" y="5143500"/>
            <a:ext cx="1931576" cy="1375206"/>
            <a:chOff x="0" y="0"/>
            <a:chExt cx="880513" cy="6268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80513" cy="626891"/>
            </a:xfrm>
            <a:custGeom>
              <a:avLst/>
              <a:gdLst/>
              <a:ahLst/>
              <a:cxnLst/>
              <a:rect r="r" b="b" t="t" l="l"/>
              <a:pathLst>
                <a:path h="626891" w="880513">
                  <a:moveTo>
                    <a:pt x="880513" y="313445"/>
                  </a:moveTo>
                  <a:lnTo>
                    <a:pt x="474113" y="0"/>
                  </a:lnTo>
                  <a:lnTo>
                    <a:pt x="474113" y="203200"/>
                  </a:lnTo>
                  <a:lnTo>
                    <a:pt x="0" y="203200"/>
                  </a:lnTo>
                  <a:lnTo>
                    <a:pt x="0" y="423691"/>
                  </a:lnTo>
                  <a:lnTo>
                    <a:pt x="474113" y="423691"/>
                  </a:lnTo>
                  <a:lnTo>
                    <a:pt x="474113" y="626891"/>
                  </a:lnTo>
                  <a:lnTo>
                    <a:pt x="880513" y="313445"/>
                  </a:lnTo>
                  <a:close/>
                </a:path>
              </a:pathLst>
            </a:custGeom>
            <a:solidFill>
              <a:srgbClr val="3087B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74625"/>
              <a:ext cx="778913" cy="249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332293" y="3961949"/>
            <a:ext cx="3670773" cy="3470549"/>
          </a:xfrm>
          <a:custGeom>
            <a:avLst/>
            <a:gdLst/>
            <a:ahLst/>
            <a:cxnLst/>
            <a:rect r="r" b="b" t="t" l="l"/>
            <a:pathLst>
              <a:path h="3470549" w="3670773">
                <a:moveTo>
                  <a:pt x="0" y="0"/>
                </a:moveTo>
                <a:lnTo>
                  <a:pt x="3670773" y="0"/>
                </a:lnTo>
                <a:lnTo>
                  <a:pt x="3670773" y="3470549"/>
                </a:lnTo>
                <a:lnTo>
                  <a:pt x="0" y="34705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332293" y="4770179"/>
            <a:ext cx="3510535" cy="195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9"/>
              </a:lnSpc>
            </a:pPr>
            <a:r>
              <a:rPr lang="en-US" b="true" sz="3198">
                <a:solidFill>
                  <a:srgbClr val="31356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배터리 화재</a:t>
            </a:r>
          </a:p>
          <a:p>
            <a:pPr algn="ctr">
              <a:lnSpc>
                <a:spcPts val="5309"/>
              </a:lnSpc>
            </a:pPr>
            <a:r>
              <a:rPr lang="en-US" b="true" sz="3198">
                <a:solidFill>
                  <a:srgbClr val="31356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부족한 충전 인프라</a:t>
            </a:r>
          </a:p>
          <a:p>
            <a:pPr algn="ctr">
              <a:lnSpc>
                <a:spcPts val="5309"/>
              </a:lnSpc>
            </a:pPr>
            <a:r>
              <a:rPr lang="en-US" b="true" sz="3198">
                <a:solidFill>
                  <a:srgbClr val="31356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긴 충전 시간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27909" y="4741838"/>
            <a:ext cx="5635751" cy="206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0"/>
              </a:lnSpc>
            </a:pPr>
            <a:r>
              <a:rPr lang="en-US" sz="3800">
                <a:solidFill>
                  <a:srgbClr val="2F5F98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기존에 널리 쓰이던 </a:t>
            </a:r>
          </a:p>
          <a:p>
            <a:pPr algn="ctr">
              <a:lnSpc>
                <a:spcPts val="5510"/>
              </a:lnSpc>
            </a:pPr>
            <a:r>
              <a:rPr lang="en-US" sz="3800">
                <a:solidFill>
                  <a:srgbClr val="2F5F98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내연기관차량의</a:t>
            </a:r>
          </a:p>
          <a:p>
            <a:pPr algn="ctr">
              <a:lnSpc>
                <a:spcPts val="5510"/>
              </a:lnSpc>
              <a:spcBef>
                <a:spcPct val="0"/>
              </a:spcBef>
            </a:pPr>
            <a:r>
              <a:rPr lang="en-US" sz="3800">
                <a:solidFill>
                  <a:srgbClr val="31356E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친환경성 </a:t>
            </a:r>
            <a:r>
              <a:rPr lang="en-US" sz="3800">
                <a:solidFill>
                  <a:srgbClr val="2F5F98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보완 요구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42828" y="2181225"/>
            <a:ext cx="460234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필요성과 목표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098796"/>
            <a:ext cx="16668349" cy="745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34567F"/>
                </a:solidFill>
                <a:latin typeface="Tlab 돋움 미디움 Bold"/>
                <a:ea typeface="Tlab 돋움 미디움 Bold"/>
                <a:cs typeface="Tlab 돋움 미디움 Bold"/>
                <a:sym typeface="Tlab 돋움 미디움 Bold"/>
              </a:rPr>
              <a:t>가장 </a:t>
            </a:r>
            <a:r>
              <a:rPr lang="en-US" b="true" sz="4399">
                <a:solidFill>
                  <a:srgbClr val="34567F"/>
                </a:solidFill>
                <a:latin typeface="Tlab 돋움 미디움 Bold"/>
                <a:ea typeface="Tlab 돋움 미디움 Bold"/>
                <a:cs typeface="Tlab 돋움 미디움 Bold"/>
                <a:sym typeface="Tlab 돋움 미디움 Bold"/>
              </a:rPr>
              <a:t>친환경적이고 효율적인 내연기관의 조건은 무엇일까?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60351" y="1028700"/>
            <a:ext cx="310485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01 프로젝트 배경 및 목표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740352" y="6207077"/>
            <a:ext cx="14508380" cy="0"/>
          </a:xfrm>
          <a:prstGeom prst="line">
            <a:avLst/>
          </a:prstGeom>
          <a:ln cap="rnd" w="19050">
            <a:solidFill>
              <a:srgbClr val="6C84A1">
                <a:alpha val="9098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3321668" y="6095857"/>
            <a:ext cx="222441" cy="22244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84A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076102" y="6095857"/>
            <a:ext cx="222441" cy="22244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84A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830536" y="6095857"/>
            <a:ext cx="222441" cy="22244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84A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64431" y="6095857"/>
            <a:ext cx="222441" cy="22244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84A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753203" y="3859373"/>
            <a:ext cx="868240" cy="864240"/>
          </a:xfrm>
          <a:custGeom>
            <a:avLst/>
            <a:gdLst/>
            <a:ahLst/>
            <a:cxnLst/>
            <a:rect r="r" b="b" t="t" l="l"/>
            <a:pathLst>
              <a:path h="864240" w="868240">
                <a:moveTo>
                  <a:pt x="0" y="0"/>
                </a:moveTo>
                <a:lnTo>
                  <a:pt x="868239" y="0"/>
                </a:lnTo>
                <a:lnTo>
                  <a:pt x="868239" y="864240"/>
                </a:lnTo>
                <a:lnTo>
                  <a:pt x="0" y="8642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051165" y="3924304"/>
            <a:ext cx="806438" cy="806438"/>
          </a:xfrm>
          <a:custGeom>
            <a:avLst/>
            <a:gdLst/>
            <a:ahLst/>
            <a:cxnLst/>
            <a:rect r="r" b="b" t="t" l="l"/>
            <a:pathLst>
              <a:path h="806438" w="806438">
                <a:moveTo>
                  <a:pt x="0" y="0"/>
                </a:moveTo>
                <a:lnTo>
                  <a:pt x="806438" y="0"/>
                </a:lnTo>
                <a:lnTo>
                  <a:pt x="806438" y="806437"/>
                </a:lnTo>
                <a:lnTo>
                  <a:pt x="0" y="8064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347225" y="3803241"/>
            <a:ext cx="920373" cy="920373"/>
          </a:xfrm>
          <a:custGeom>
            <a:avLst/>
            <a:gdLst/>
            <a:ahLst/>
            <a:cxnLst/>
            <a:rect r="r" b="b" t="t" l="l"/>
            <a:pathLst>
              <a:path h="920373" w="920373">
                <a:moveTo>
                  <a:pt x="0" y="0"/>
                </a:moveTo>
                <a:lnTo>
                  <a:pt x="920372" y="0"/>
                </a:lnTo>
                <a:lnTo>
                  <a:pt x="920372" y="920372"/>
                </a:lnTo>
                <a:lnTo>
                  <a:pt x="0" y="9203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513124" y="3803241"/>
            <a:ext cx="1016186" cy="927501"/>
          </a:xfrm>
          <a:custGeom>
            <a:avLst/>
            <a:gdLst/>
            <a:ahLst/>
            <a:cxnLst/>
            <a:rect r="r" b="b" t="t" l="l"/>
            <a:pathLst>
              <a:path h="927501" w="1016186">
                <a:moveTo>
                  <a:pt x="0" y="0"/>
                </a:moveTo>
                <a:lnTo>
                  <a:pt x="1016186" y="0"/>
                </a:lnTo>
                <a:lnTo>
                  <a:pt x="1016186" y="927500"/>
                </a:lnTo>
                <a:lnTo>
                  <a:pt x="0" y="9275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3" id="23"/>
          <p:cNvSpPr txBox="true"/>
          <p:nvPr/>
        </p:nvSpPr>
        <p:spPr>
          <a:xfrm rot="0">
            <a:off x="6802618" y="2183991"/>
            <a:ext cx="46472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분석 프로세스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5723" y="5349866"/>
            <a:ext cx="4298523" cy="50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5"/>
              </a:lnSpc>
            </a:pPr>
            <a:r>
              <a:rPr lang="en-US" b="true" sz="3599" spc="-183">
                <a:solidFill>
                  <a:srgbClr val="31356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데이터 파악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17521" y="5349866"/>
            <a:ext cx="4298523" cy="50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5"/>
              </a:lnSpc>
            </a:pPr>
            <a:r>
              <a:rPr lang="en-US" b="true" sz="3599" spc="-183">
                <a:solidFill>
                  <a:srgbClr val="31356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데이터 전처리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871955" y="5349866"/>
            <a:ext cx="4298523" cy="50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5"/>
              </a:lnSpc>
            </a:pPr>
            <a:r>
              <a:rPr lang="en-US" b="true" sz="3599" spc="-183">
                <a:solidFill>
                  <a:srgbClr val="31356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EDA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26390" y="5349866"/>
            <a:ext cx="4298523" cy="50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5"/>
              </a:lnSpc>
            </a:pPr>
            <a:r>
              <a:rPr lang="en-US" b="true" sz="3599" spc="-183">
                <a:solidFill>
                  <a:srgbClr val="31356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인사이트 도출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42132" y="6461172"/>
            <a:ext cx="3032617" cy="168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 spc="-62">
                <a:solidFill>
                  <a:srgbClr val="31356E">
                    <a:alpha val="52941"/>
                  </a:srgbClr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구조, 크기 확인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 spc="-62">
                <a:solidFill>
                  <a:srgbClr val="31356E">
                    <a:alpha val="52941"/>
                  </a:srgbClr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변수</a:t>
            </a:r>
            <a:r>
              <a:rPr lang="en-US" sz="2000" spc="-62">
                <a:solidFill>
                  <a:srgbClr val="31356E">
                    <a:alpha val="52941"/>
                  </a:srgbClr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의 특성 확인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 spc="-62">
                <a:solidFill>
                  <a:srgbClr val="31356E">
                    <a:alpha val="52941"/>
                  </a:srgbClr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독립변수 / 종속변수 구분</a:t>
            </a:r>
          </a:p>
          <a:p>
            <a:pPr algn="l">
              <a:lnSpc>
                <a:spcPts val="340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875242" y="6461172"/>
            <a:ext cx="2624160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 spc="-62">
                <a:solidFill>
                  <a:srgbClr val="31356E">
                    <a:alpha val="52941"/>
                  </a:srgbClr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정제 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 spc="-62">
                <a:solidFill>
                  <a:srgbClr val="31356E">
                    <a:alpha val="52941"/>
                  </a:srgbClr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결측치 및 이상치 처리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 spc="-62">
                <a:solidFill>
                  <a:srgbClr val="31356E">
                    <a:alpha val="52941"/>
                  </a:srgbClr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파생변수 생성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63624" y="6499272"/>
            <a:ext cx="3162766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 spc="-62">
                <a:solidFill>
                  <a:srgbClr val="31356E">
                    <a:alpha val="52941"/>
                  </a:srgbClr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기술통계 분석 (단변량)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 spc="-62">
                <a:solidFill>
                  <a:srgbClr val="31356E">
                    <a:alpha val="52941"/>
                  </a:srgbClr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그룹별 집계 분석 (다변량)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 spc="-62">
                <a:solidFill>
                  <a:srgbClr val="31356E">
                    <a:alpha val="52941"/>
                  </a:srgbClr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시각화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 spc="-62">
                <a:solidFill>
                  <a:srgbClr val="31356E">
                    <a:alpha val="52941"/>
                  </a:srgbClr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그래프</a:t>
            </a:r>
            <a:r>
              <a:rPr lang="en-US" sz="2000" spc="-62">
                <a:solidFill>
                  <a:srgbClr val="31356E">
                    <a:alpha val="52941"/>
                  </a:srgbClr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해석</a:t>
            </a:r>
          </a:p>
          <a:p>
            <a:pPr algn="l">
              <a:lnSpc>
                <a:spcPts val="340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3730054" y="6461172"/>
            <a:ext cx="2091194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 spc="-62">
                <a:solidFill>
                  <a:srgbClr val="31356E">
                    <a:alpha val="52941"/>
                  </a:srgbClr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분석 결과 요약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 spc="-62">
                <a:solidFill>
                  <a:srgbClr val="31356E">
                    <a:alpha val="52941"/>
                  </a:srgbClr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의사결정을 위한 </a:t>
            </a:r>
          </a:p>
          <a:p>
            <a:pPr algn="l">
              <a:lnSpc>
                <a:spcPts val="3400"/>
              </a:lnSpc>
            </a:pPr>
            <a:r>
              <a:rPr lang="en-US" sz="2000" spc="-62">
                <a:solidFill>
                  <a:srgbClr val="31356E">
                    <a:alpha val="52941"/>
                  </a:srgbClr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    </a:t>
            </a:r>
            <a:r>
              <a:rPr lang="en-US" sz="2000" spc="-62">
                <a:solidFill>
                  <a:srgbClr val="31356E">
                    <a:alpha val="52941"/>
                  </a:srgbClr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인사이트 제안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960351" y="1028700"/>
            <a:ext cx="310485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01 프로젝트 배경 및 목표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>
              <a:hlinkClick r:id="rId3" tooltip="https://www.kaggle.com/datasets/ahmettyilmazz/fuel-consumption/data"/>
            </p:cNvPr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90018" cy="238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3552934"/>
            <a:ext cx="16230600" cy="4049325"/>
            <a:chOff x="0" y="0"/>
            <a:chExt cx="4274726" cy="10664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1066489"/>
            </a:xfrm>
            <a:custGeom>
              <a:avLst/>
              <a:gdLst/>
              <a:ahLst/>
              <a:cxnLst/>
              <a:rect r="r" b="b" t="t" l="l"/>
              <a:pathLst>
                <a:path h="1066489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066489"/>
                  </a:lnTo>
                  <a:lnTo>
                    <a:pt x="0" y="1066489"/>
                  </a:lnTo>
                  <a:close/>
                </a:path>
              </a:pathLst>
            </a:custGeom>
            <a:solidFill>
              <a:srgbClr val="F1FA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4274726" cy="1161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134928" y="2126821"/>
            <a:ext cx="404315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데이터 개요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43887" y="6501521"/>
            <a:ext cx="878606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1A6896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2000년부터 2022년까지 캐나다에서 판매된 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1A6896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신형 경량 승용차의 모델별 연료 소비 및 이산화탄소(CO2​) 배출량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59728" y="8164234"/>
            <a:ext cx="956854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b="true" sz="3199">
                <a:solidFill>
                  <a:srgbClr val="31356E"/>
                </a:solidFill>
                <a:latin typeface="Tlab 돋움 미디움 Bold"/>
                <a:ea typeface="Tlab 돋움 미디움 Bold"/>
                <a:cs typeface="Tlab 돋움 미디움 Bold"/>
                <a:sym typeface="Tlab 돋움 미디움 Bold"/>
              </a:rPr>
              <a:t>엔진 크기/실린더 수/연료 종류 등(독립변수)</a:t>
            </a:r>
            <a:r>
              <a:rPr lang="en-US" sz="3199">
                <a:solidFill>
                  <a:srgbClr val="31356E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과</a:t>
            </a:r>
            <a:r>
              <a:rPr lang="en-US" sz="3199">
                <a:solidFill>
                  <a:srgbClr val="31356E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 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b="true" sz="3199">
                <a:solidFill>
                  <a:srgbClr val="31356E"/>
                </a:solidFill>
                <a:latin typeface="Tlab 돋움 미디움 Bold"/>
                <a:ea typeface="Tlab 돋움 미디움 Bold"/>
                <a:cs typeface="Tlab 돋움 미디움 Bold"/>
                <a:sym typeface="Tlab 돋움 미디움 Bold"/>
              </a:rPr>
              <a:t>연비 및 </a:t>
            </a:r>
            <a:r>
              <a:rPr lang="en-US" b="true" sz="3199">
                <a:solidFill>
                  <a:srgbClr val="31356E"/>
                </a:solidFill>
                <a:latin typeface="Tlab 돋움 미디움 Bold"/>
                <a:ea typeface="Tlab 돋움 미디움 Bold"/>
                <a:cs typeface="Tlab 돋움 미디움 Bold"/>
                <a:sym typeface="Tlab 돋움 미디움 Bold"/>
              </a:rPr>
              <a:t>C</a:t>
            </a:r>
            <a:r>
              <a:rPr lang="en-US" b="true" sz="3199">
                <a:solidFill>
                  <a:srgbClr val="31356E"/>
                </a:solidFill>
                <a:latin typeface="Tlab 돋움 미디움 Bold"/>
                <a:ea typeface="Tlab 돋움 미디움 Bold"/>
                <a:cs typeface="Tlab 돋움 미디움 Bold"/>
                <a:sym typeface="Tlab 돋움 미디움 Bold"/>
              </a:rPr>
              <a:t>O</a:t>
            </a:r>
            <a:r>
              <a:rPr lang="en-US" b="true" sz="3199">
                <a:solidFill>
                  <a:srgbClr val="31356E"/>
                </a:solidFill>
                <a:latin typeface="Tlab 돋움 미디움 Bold"/>
                <a:ea typeface="Tlab 돋움 미디움 Bold"/>
                <a:cs typeface="Tlab 돋움 미디움 Bold"/>
                <a:sym typeface="Tlab 돋움 미디움 Bold"/>
              </a:rPr>
              <a:t>2</a:t>
            </a:r>
            <a:r>
              <a:rPr lang="en-US" b="true" sz="3199">
                <a:solidFill>
                  <a:srgbClr val="31356E"/>
                </a:solidFill>
                <a:latin typeface="Tlab 돋움 미디움 Bold"/>
                <a:ea typeface="Tlab 돋움 미디움 Bold"/>
                <a:cs typeface="Tlab 돋움 미디움 Bold"/>
                <a:sym typeface="Tlab 돋움 미디움 Bold"/>
              </a:rPr>
              <a:t>​ 배출량(종속변수)</a:t>
            </a:r>
            <a:r>
              <a:rPr lang="en-US" sz="3199">
                <a:solidFill>
                  <a:srgbClr val="31356E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의 상관관계를 분석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83111" y="3948821"/>
            <a:ext cx="4178737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YEAR : 제조 연도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MAKE : 제조사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VEHICLE CLASS : 차량 분류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ENGINE SIZE : 엔진 크기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CYLINDERS : 실린더 개수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TRANSMISSION : 변속기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sz="240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FUEL : 연료 종류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b="true" sz="2400">
                <a:solidFill>
                  <a:srgbClr val="1A6896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COMB (L/100km)</a:t>
            </a:r>
            <a:r>
              <a:rPr lang="en-US" sz="240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: </a:t>
            </a:r>
            <a:r>
              <a:rPr lang="en-US" b="true" sz="2400">
                <a:solidFill>
                  <a:srgbClr val="1A6896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복합 연비</a:t>
            </a:r>
          </a:p>
          <a:p>
            <a:pPr algn="ctr">
              <a:lnSpc>
                <a:spcPts val="2880"/>
              </a:lnSpc>
              <a:spcBef>
                <a:spcPct val="0"/>
              </a:spcBef>
            </a:pPr>
            <a:r>
              <a:rPr lang="en-US" b="true" sz="2400">
                <a:solidFill>
                  <a:srgbClr val="1A6896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EMISSIONS</a:t>
            </a:r>
            <a:r>
              <a:rPr lang="en-US" sz="240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: </a:t>
            </a:r>
            <a:r>
              <a:rPr lang="en-US" b="true" sz="2400">
                <a:solidFill>
                  <a:srgbClr val="1A6896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배출량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94219" y="1028700"/>
            <a:ext cx="327098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02 데이터 개요 및 전처리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90018" cy="238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807834" y="2125520"/>
            <a:ext cx="467233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데이터 전처리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90856" y="3401870"/>
            <a:ext cx="7614759" cy="5713382"/>
            <a:chOff x="0" y="0"/>
            <a:chExt cx="2005533" cy="15047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05533" cy="1504759"/>
            </a:xfrm>
            <a:custGeom>
              <a:avLst/>
              <a:gdLst/>
              <a:ahLst/>
              <a:cxnLst/>
              <a:rect r="r" b="b" t="t" l="l"/>
              <a:pathLst>
                <a:path h="1504759" w="2005533">
                  <a:moveTo>
                    <a:pt x="0" y="0"/>
                  </a:moveTo>
                  <a:lnTo>
                    <a:pt x="2005533" y="0"/>
                  </a:lnTo>
                  <a:lnTo>
                    <a:pt x="2005533" y="1504759"/>
                  </a:lnTo>
                  <a:lnTo>
                    <a:pt x="0" y="1504759"/>
                  </a:lnTo>
                  <a:close/>
                </a:path>
              </a:pathLst>
            </a:custGeom>
            <a:solidFill>
              <a:srgbClr val="F1FA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2005533" cy="1600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877549" y="3864718"/>
            <a:ext cx="4298523" cy="50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5"/>
              </a:lnSpc>
            </a:pPr>
            <a:r>
              <a:rPr lang="en-US" sz="3599" spc="-183">
                <a:solidFill>
                  <a:srgbClr val="31356E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데이터 정제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32121" y="4591658"/>
            <a:ext cx="258937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1356E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일관성 / 정확성 확보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3209" y="5392393"/>
            <a:ext cx="3477543" cy="254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6999"/>
              </a:lnSpc>
              <a:buFont typeface="Arial"/>
              <a:buChar char="•"/>
            </a:pPr>
            <a:r>
              <a:rPr lang="en-US" sz="2799">
                <a:solidFill>
                  <a:srgbClr val="31356E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제조사명 통일</a:t>
            </a:r>
          </a:p>
          <a:p>
            <a:pPr algn="l" marL="604519" indent="-302260" lvl="1">
              <a:lnSpc>
                <a:spcPts val="6999"/>
              </a:lnSpc>
              <a:buFont typeface="Arial"/>
              <a:buChar char="•"/>
            </a:pPr>
            <a:r>
              <a:rPr lang="en-US" sz="2799">
                <a:solidFill>
                  <a:srgbClr val="31356E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연료 이름 변경</a:t>
            </a:r>
          </a:p>
          <a:p>
            <a:pPr algn="l" marL="604519" indent="-302260" lvl="1">
              <a:lnSpc>
                <a:spcPts val="6999"/>
              </a:lnSpc>
              <a:buFont typeface="Arial"/>
              <a:buChar char="•"/>
            </a:pPr>
            <a:r>
              <a:rPr lang="en-US" sz="2799">
                <a:solidFill>
                  <a:srgbClr val="31356E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비정상 데이터 제거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79999" y="5392393"/>
            <a:ext cx="3205353" cy="254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2799">
                <a:solidFill>
                  <a:srgbClr val="2169AC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Ford → FORD</a:t>
            </a:r>
          </a:p>
          <a:p>
            <a:pPr algn="l">
              <a:lnSpc>
                <a:spcPts val="6999"/>
              </a:lnSpc>
            </a:pPr>
            <a:r>
              <a:rPr lang="en-US" sz="2799">
                <a:solidFill>
                  <a:srgbClr val="2169AC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‘X’ → ‘Gasoline’</a:t>
            </a:r>
          </a:p>
          <a:p>
            <a:pPr algn="l">
              <a:lnSpc>
                <a:spcPts val="6999"/>
              </a:lnSpc>
            </a:pPr>
            <a:r>
              <a:rPr lang="en-US" sz="2799">
                <a:solidFill>
                  <a:srgbClr val="2169AC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기어 수 1단 → None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058275" y="3401870"/>
            <a:ext cx="8098045" cy="5713382"/>
            <a:chOff x="0" y="0"/>
            <a:chExt cx="10797393" cy="7617843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797393" cy="7617843"/>
              <a:chOff x="0" y="0"/>
              <a:chExt cx="2132818" cy="150475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132818" cy="1504759"/>
              </a:xfrm>
              <a:custGeom>
                <a:avLst/>
                <a:gdLst/>
                <a:ahLst/>
                <a:cxnLst/>
                <a:rect r="r" b="b" t="t" l="l"/>
                <a:pathLst>
                  <a:path h="1504759" w="2132818">
                    <a:moveTo>
                      <a:pt x="0" y="0"/>
                    </a:moveTo>
                    <a:lnTo>
                      <a:pt x="2132818" y="0"/>
                    </a:lnTo>
                    <a:lnTo>
                      <a:pt x="2132818" y="1504759"/>
                    </a:lnTo>
                    <a:lnTo>
                      <a:pt x="0" y="1504759"/>
                    </a:lnTo>
                    <a:close/>
                  </a:path>
                </a:pathLst>
              </a:custGeom>
              <a:solidFill>
                <a:srgbClr val="F1FA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0"/>
                <a:ext cx="2132818" cy="16000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0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556144" y="515530"/>
              <a:ext cx="5731364" cy="689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5"/>
                </a:lnSpc>
              </a:pPr>
              <a:r>
                <a:rPr lang="en-US" sz="3599" spc="-183">
                  <a:solidFill>
                    <a:srgbClr val="31356E"/>
                  </a:solidFill>
                  <a:latin typeface="Tlab 돋움 미디움"/>
                  <a:ea typeface="Tlab 돋움 미디움"/>
                  <a:cs typeface="Tlab 돋움 미디움"/>
                  <a:sym typeface="Tlab 돋움 미디움"/>
                </a:rPr>
                <a:t>데이터 가공 / 변환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242341" y="1472084"/>
              <a:ext cx="4358972" cy="1004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31356E"/>
                  </a:solidFill>
                  <a:latin typeface="Tlab 돋움 미디움"/>
                  <a:ea typeface="Tlab 돋움 미디움"/>
                  <a:cs typeface="Tlab 돋움 미디움"/>
                  <a:sym typeface="Tlab 돋움 미디움"/>
                </a:rPr>
                <a:t>새로운 관점의 분석을 위한 데이터 생성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2771506"/>
              <a:ext cx="6430710" cy="4460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6999"/>
                </a:lnSpc>
                <a:buFont typeface="Arial"/>
                <a:buChar char="•"/>
              </a:pPr>
              <a:r>
                <a:rPr lang="en-US" sz="2799">
                  <a:solidFill>
                    <a:srgbClr val="31356E"/>
                  </a:solidFill>
                  <a:latin typeface="Tlab 돋움 미디움"/>
                  <a:ea typeface="Tlab 돋움 미디움"/>
                  <a:cs typeface="Tlab 돋움 미디움"/>
                  <a:sym typeface="Tlab 돋움 미디움"/>
                </a:rPr>
                <a:t>연비 단위 변환</a:t>
              </a:r>
            </a:p>
            <a:p>
              <a:pPr algn="l" marL="604519" indent="-302260" lvl="1">
                <a:lnSpc>
                  <a:spcPts val="6999"/>
                </a:lnSpc>
                <a:buFont typeface="Arial"/>
                <a:buChar char="•"/>
              </a:pPr>
              <a:r>
                <a:rPr lang="en-US" sz="2799">
                  <a:solidFill>
                    <a:srgbClr val="31356E"/>
                  </a:solidFill>
                  <a:latin typeface="Tlab 돋움 미디움"/>
                  <a:ea typeface="Tlab 돋움 미디움"/>
                  <a:cs typeface="Tlab 돋움 미디움"/>
                  <a:sym typeface="Tlab 돋움 미디움"/>
                </a:rPr>
                <a:t>TRANSMISSION 분할</a:t>
              </a:r>
            </a:p>
            <a:p>
              <a:pPr algn="l" marL="604519" indent="-302260" lvl="1">
                <a:lnSpc>
                  <a:spcPts val="6999"/>
                </a:lnSpc>
                <a:buFont typeface="Arial"/>
                <a:buChar char="•"/>
              </a:pPr>
              <a:r>
                <a:rPr lang="en-US" sz="2799">
                  <a:solidFill>
                    <a:srgbClr val="31356E"/>
                  </a:solidFill>
                  <a:latin typeface="Tlab 돋움 미디움"/>
                  <a:ea typeface="Tlab 돋움 미디움"/>
                  <a:cs typeface="Tlab 돋움 미디움"/>
                  <a:sym typeface="Tlab 돋움 미디움"/>
                </a:rPr>
                <a:t>엔진 사이즈 그룹화</a:t>
              </a:r>
            </a:p>
            <a:p>
              <a:pPr algn="l" marL="604519" indent="-302260" lvl="1">
                <a:lnSpc>
                  <a:spcPts val="6999"/>
                </a:lnSpc>
                <a:buFont typeface="Arial"/>
                <a:buChar char="•"/>
              </a:pPr>
              <a:r>
                <a:rPr lang="en-US" sz="2799">
                  <a:solidFill>
                    <a:srgbClr val="31356E"/>
                  </a:solidFill>
                  <a:latin typeface="Tlab 돋움 미디움"/>
                  <a:ea typeface="Tlab 돋움 미디움"/>
                  <a:cs typeface="Tlab 돋움 미디움"/>
                  <a:sym typeface="Tlab 돋움 미디움"/>
                </a:rPr>
                <a:t>VEHICLE CLASS 그룹화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234825" y="2771506"/>
              <a:ext cx="4562569" cy="4460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99"/>
                </a:lnSpc>
              </a:pPr>
              <a:r>
                <a:rPr lang="en-US" sz="2799">
                  <a:solidFill>
                    <a:srgbClr val="2169AC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L/100km → km/L</a:t>
              </a:r>
            </a:p>
            <a:p>
              <a:pPr algn="l">
                <a:lnSpc>
                  <a:spcPts val="6999"/>
                </a:lnSpc>
              </a:pPr>
              <a:r>
                <a:rPr lang="en-US" sz="2799">
                  <a:solidFill>
                    <a:srgbClr val="2169AC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변속기 / 기어 수</a:t>
              </a:r>
            </a:p>
            <a:p>
              <a:pPr algn="l">
                <a:lnSpc>
                  <a:spcPts val="6999"/>
                </a:lnSpc>
              </a:pPr>
              <a:r>
                <a:rPr lang="en-US" sz="2799">
                  <a:solidFill>
                    <a:srgbClr val="2169AC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1-2 2-3 3-4 ... </a:t>
              </a:r>
            </a:p>
            <a:p>
              <a:pPr algn="l">
                <a:lnSpc>
                  <a:spcPts val="6999"/>
                </a:lnSpc>
              </a:pPr>
              <a:r>
                <a:rPr lang="en-US" sz="2799">
                  <a:solidFill>
                    <a:srgbClr val="2169AC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대분류(SUV, CAR)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794219" y="1028700"/>
            <a:ext cx="327098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02 데이터 개요 및 전처리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90018" cy="238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3235508" y="5790826"/>
            <a:ext cx="0" cy="499783"/>
          </a:xfrm>
          <a:prstGeom prst="line">
            <a:avLst/>
          </a:prstGeom>
          <a:ln cap="flat" w="66675">
            <a:solidFill>
              <a:srgbClr val="3087BB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512166" y="3387008"/>
            <a:ext cx="7178881" cy="5807202"/>
          </a:xfrm>
          <a:custGeom>
            <a:avLst/>
            <a:gdLst/>
            <a:ahLst/>
            <a:cxnLst/>
            <a:rect r="r" b="b" t="t" l="l"/>
            <a:pathLst>
              <a:path h="5807202" w="7178881">
                <a:moveTo>
                  <a:pt x="0" y="0"/>
                </a:moveTo>
                <a:lnTo>
                  <a:pt x="7178882" y="0"/>
                </a:lnTo>
                <a:lnTo>
                  <a:pt x="7178882" y="5807202"/>
                </a:lnTo>
                <a:lnTo>
                  <a:pt x="0" y="5807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837746" y="4312535"/>
            <a:ext cx="679552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087BB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고속도로의 연비와 도심의 연비가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087BB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비례하다고 판단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77251" y="2171610"/>
            <a:ext cx="3314350" cy="63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48"/>
              </a:lnSpc>
              <a:spcBef>
                <a:spcPct val="0"/>
              </a:spcBef>
            </a:pPr>
            <a:r>
              <a:rPr lang="en-US" sz="3677">
                <a:solidFill>
                  <a:srgbClr val="31356E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종속 변수 (연비)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94219" y="1028700"/>
            <a:ext cx="327098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02 데이터 개요 및 전처리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691048" y="6682643"/>
            <a:ext cx="7088921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1356E"/>
                </a:solidFill>
                <a:latin typeface="Tlab 돋움 미디움 Bold"/>
                <a:ea typeface="Tlab 돋움 미디움 Bold"/>
                <a:cs typeface="Tlab 돋움 미디움 Bold"/>
                <a:sym typeface="Tlab 돋움 미디움 Bold"/>
              </a:rPr>
              <a:t>도심 연비(55%)와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1356E"/>
                </a:solidFill>
                <a:latin typeface="Tlab 돋움 미디움 Bold"/>
                <a:ea typeface="Tlab 돋움 미디움 Bold"/>
                <a:cs typeface="Tlab 돋움 미디움 Bold"/>
                <a:sym typeface="Tlab 돋움 미디움 Bold"/>
              </a:rPr>
              <a:t>고속도로 연비(45%)를 종합한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1356E"/>
                </a:solidFill>
                <a:latin typeface="Tlab 돋움 미디움 Bold"/>
                <a:ea typeface="Tlab 돋움 미디움 Bold"/>
                <a:cs typeface="Tlab 돋움 미디움 Bold"/>
                <a:sym typeface="Tlab 돋움 미디움 Bold"/>
              </a:rPr>
              <a:t>복합 연비 COMB 사용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90018" cy="238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270053" y="3169648"/>
            <a:ext cx="6100955" cy="4770989"/>
          </a:xfrm>
          <a:custGeom>
            <a:avLst/>
            <a:gdLst/>
            <a:ahLst/>
            <a:cxnLst/>
            <a:rect r="r" b="b" t="t" l="l"/>
            <a:pathLst>
              <a:path h="4770989" w="6100955">
                <a:moveTo>
                  <a:pt x="0" y="0"/>
                </a:moveTo>
                <a:lnTo>
                  <a:pt x="6100955" y="0"/>
                </a:lnTo>
                <a:lnTo>
                  <a:pt x="6100955" y="4770989"/>
                </a:lnTo>
                <a:lnTo>
                  <a:pt x="0" y="4770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12470" y="3169648"/>
            <a:ext cx="6105477" cy="4774848"/>
          </a:xfrm>
          <a:custGeom>
            <a:avLst/>
            <a:gdLst/>
            <a:ahLst/>
            <a:cxnLst/>
            <a:rect r="r" b="b" t="t" l="l"/>
            <a:pathLst>
              <a:path h="4774848" w="6105477">
                <a:moveTo>
                  <a:pt x="0" y="0"/>
                </a:moveTo>
                <a:lnTo>
                  <a:pt x="6105477" y="0"/>
                </a:lnTo>
                <a:lnTo>
                  <a:pt x="6105477" y="4774847"/>
                </a:lnTo>
                <a:lnTo>
                  <a:pt x="0" y="47748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74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373682" y="8096895"/>
            <a:ext cx="9540636" cy="1016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799">
                <a:solidFill>
                  <a:srgbClr val="34567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2015년 연비 급락, 배출량 급등 후 일정 수준 유지 :</a:t>
            </a:r>
            <a:r>
              <a:rPr lang="en-US" sz="2799">
                <a:solidFill>
                  <a:srgbClr val="2F5F98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  <a:r>
              <a:rPr lang="en-US" sz="2799" b="true">
                <a:solidFill>
                  <a:srgbClr val="2F5F98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이상치 의심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799">
                <a:solidFill>
                  <a:srgbClr val="34567F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→ </a:t>
            </a:r>
            <a:r>
              <a:rPr lang="en-US" b="true" sz="2799">
                <a:solidFill>
                  <a:srgbClr val="34567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작용 요인 탐색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9032" y="2197122"/>
            <a:ext cx="3934003" cy="59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13"/>
              </a:lnSpc>
              <a:spcBef>
                <a:spcPct val="0"/>
              </a:spcBef>
            </a:pPr>
            <a:r>
              <a:rPr lang="en-US" sz="3509">
                <a:solidFill>
                  <a:srgbClr val="31356E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전처리 이상치 탐색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94219" y="1028700"/>
            <a:ext cx="327098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02 데이터 개요 및 전처리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14154283" y="5143500"/>
            <a:ext cx="214462" cy="2049788"/>
          </a:xfrm>
          <a:prstGeom prst="line">
            <a:avLst/>
          </a:prstGeom>
          <a:ln cap="flat" w="95250">
            <a:solidFill>
              <a:srgbClr val="F2512C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>
            <a:off x="6526340" y="3676237"/>
            <a:ext cx="214462" cy="2039580"/>
          </a:xfrm>
          <a:prstGeom prst="line">
            <a:avLst/>
          </a:prstGeom>
          <a:ln cap="flat" w="95250">
            <a:solidFill>
              <a:srgbClr val="F2512C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90018" cy="238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922151" y="2913420"/>
            <a:ext cx="6099055" cy="4905290"/>
          </a:xfrm>
          <a:custGeom>
            <a:avLst/>
            <a:gdLst/>
            <a:ahLst/>
            <a:cxnLst/>
            <a:rect r="r" b="b" t="t" l="l"/>
            <a:pathLst>
              <a:path h="4905290" w="6099055">
                <a:moveTo>
                  <a:pt x="0" y="0"/>
                </a:moveTo>
                <a:lnTo>
                  <a:pt x="6099055" y="0"/>
                </a:lnTo>
                <a:lnTo>
                  <a:pt x="6099055" y="4905289"/>
                </a:lnTo>
                <a:lnTo>
                  <a:pt x="0" y="4905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512152" y="4998708"/>
            <a:ext cx="952800" cy="1071862"/>
            <a:chOff x="0" y="0"/>
            <a:chExt cx="722514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2514" cy="812800"/>
            </a:xfrm>
            <a:custGeom>
              <a:avLst/>
              <a:gdLst/>
              <a:ahLst/>
              <a:cxnLst/>
              <a:rect r="r" b="b" t="t" l="l"/>
              <a:pathLst>
                <a:path h="812800" w="722514">
                  <a:moveTo>
                    <a:pt x="722514" y="406400"/>
                  </a:moveTo>
                  <a:lnTo>
                    <a:pt x="316114" y="0"/>
                  </a:lnTo>
                  <a:lnTo>
                    <a:pt x="316114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316114" y="609600"/>
                  </a:lnTo>
                  <a:lnTo>
                    <a:pt x="316114" y="812800"/>
                  </a:lnTo>
                  <a:lnTo>
                    <a:pt x="722514" y="406400"/>
                  </a:lnTo>
                  <a:close/>
                </a:path>
              </a:pathLst>
            </a:custGeom>
            <a:solidFill>
              <a:srgbClr val="3087B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74625"/>
              <a:ext cx="620914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408975" y="3250568"/>
            <a:ext cx="5649538" cy="4568141"/>
          </a:xfrm>
          <a:custGeom>
            <a:avLst/>
            <a:gdLst/>
            <a:ahLst/>
            <a:cxnLst/>
            <a:rect r="r" b="b" t="t" l="l"/>
            <a:pathLst>
              <a:path h="4568141" w="5649538">
                <a:moveTo>
                  <a:pt x="0" y="0"/>
                </a:moveTo>
                <a:lnTo>
                  <a:pt x="5649537" y="0"/>
                </a:lnTo>
                <a:lnTo>
                  <a:pt x="5649537" y="4568141"/>
                </a:lnTo>
                <a:lnTo>
                  <a:pt x="0" y="4568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5776353" y="3742093"/>
            <a:ext cx="226179" cy="2670809"/>
          </a:xfrm>
          <a:prstGeom prst="line">
            <a:avLst/>
          </a:prstGeom>
          <a:ln cap="flat" w="95250">
            <a:solidFill>
              <a:srgbClr val="F2512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10812282" y="6862629"/>
            <a:ext cx="4760090" cy="760017"/>
            <a:chOff x="0" y="0"/>
            <a:chExt cx="1162834" cy="1856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62834" cy="185663"/>
            </a:xfrm>
            <a:custGeom>
              <a:avLst/>
              <a:gdLst/>
              <a:ahLst/>
              <a:cxnLst/>
              <a:rect r="r" b="b" t="t" l="l"/>
              <a:pathLst>
                <a:path h="185663" w="1162834">
                  <a:moveTo>
                    <a:pt x="581417" y="0"/>
                  </a:moveTo>
                  <a:cubicBezTo>
                    <a:pt x="260309" y="0"/>
                    <a:pt x="0" y="41562"/>
                    <a:pt x="0" y="92832"/>
                  </a:cubicBezTo>
                  <a:cubicBezTo>
                    <a:pt x="0" y="144101"/>
                    <a:pt x="260309" y="185663"/>
                    <a:pt x="581417" y="185663"/>
                  </a:cubicBezTo>
                  <a:cubicBezTo>
                    <a:pt x="902525" y="185663"/>
                    <a:pt x="1162834" y="144101"/>
                    <a:pt x="1162834" y="92832"/>
                  </a:cubicBezTo>
                  <a:cubicBezTo>
                    <a:pt x="1162834" y="41562"/>
                    <a:pt x="902525" y="0"/>
                    <a:pt x="58141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2512C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9016" y="-11169"/>
              <a:ext cx="944803" cy="179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279578" y="2556232"/>
            <a:ext cx="863178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4"/>
              </a:lnSpc>
              <a:spcBef>
                <a:spcPct val="0"/>
              </a:spcBef>
            </a:pPr>
            <a:r>
              <a:rPr lang="en-US" sz="2699">
                <a:solidFill>
                  <a:srgbClr val="1D2A3A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가설 설정 : 특정 연료의 차량 생산이 증가 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7251" y="2016878"/>
            <a:ext cx="3339041" cy="514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9721" indent="-324860" lvl="1">
              <a:lnSpc>
                <a:spcPts val="4213"/>
              </a:lnSpc>
              <a:spcBef>
                <a:spcPct val="0"/>
              </a:spcBef>
              <a:buAutoNum type="arabicPeriod" startAt="1"/>
            </a:pPr>
            <a:r>
              <a:rPr lang="en-US" sz="3009">
                <a:solidFill>
                  <a:srgbClr val="31356E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 내부 요인 조사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85884" y="7918124"/>
            <a:ext cx="5306169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31356E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디젤 연료의 차량 수가 2015년에 급등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31356E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→ 전체에서 디젤이 차지하는 비중 확인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53023" y="7797302"/>
            <a:ext cx="7333655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31356E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다른 연료에 비해 디젤 연료가 차지하는 비중 아주 적음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31356E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→ 디젤 차량 수가 전체 연비에 큰 영향을 줄 수는 없다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31356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→ 가설 기각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94219" y="1028700"/>
            <a:ext cx="327098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02 데이터 개요 및 전처리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90018" cy="238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4734940" y="3937515"/>
            <a:ext cx="12185103" cy="4756884"/>
            <a:chOff x="0" y="0"/>
            <a:chExt cx="3209245" cy="12528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09245" cy="1252842"/>
            </a:xfrm>
            <a:custGeom>
              <a:avLst/>
              <a:gdLst/>
              <a:ahLst/>
              <a:cxnLst/>
              <a:rect r="r" b="b" t="t" l="l"/>
              <a:pathLst>
                <a:path h="1252842" w="3209245">
                  <a:moveTo>
                    <a:pt x="0" y="0"/>
                  </a:moveTo>
                  <a:lnTo>
                    <a:pt x="3209245" y="0"/>
                  </a:lnTo>
                  <a:lnTo>
                    <a:pt x="3209245" y="1252842"/>
                  </a:lnTo>
                  <a:lnTo>
                    <a:pt x="0" y="1252842"/>
                  </a:lnTo>
                  <a:close/>
                </a:path>
              </a:pathLst>
            </a:custGeom>
            <a:solidFill>
              <a:srgbClr val="F1FA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209245" cy="1281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67958" y="3937515"/>
            <a:ext cx="3366982" cy="4756884"/>
          </a:xfrm>
          <a:custGeom>
            <a:avLst/>
            <a:gdLst/>
            <a:ahLst/>
            <a:cxnLst/>
            <a:rect r="r" b="b" t="t" l="l"/>
            <a:pathLst>
              <a:path h="4756884" w="3366982">
                <a:moveTo>
                  <a:pt x="0" y="0"/>
                </a:moveTo>
                <a:lnTo>
                  <a:pt x="3366982" y="0"/>
                </a:lnTo>
                <a:lnTo>
                  <a:pt x="3366982" y="4756884"/>
                </a:lnTo>
                <a:lnTo>
                  <a:pt x="0" y="4756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33625" y="2559380"/>
            <a:ext cx="5816621" cy="60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60"/>
              </a:lnSpc>
              <a:spcBef>
                <a:spcPct val="0"/>
              </a:spcBef>
            </a:pPr>
            <a:r>
              <a:rPr lang="en-US" sz="3421">
                <a:solidFill>
                  <a:srgbClr val="1D2A3A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2015년 발생한 차량 이슈 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77234" y="2016878"/>
            <a:ext cx="3339041" cy="514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13"/>
              </a:lnSpc>
              <a:spcBef>
                <a:spcPct val="0"/>
              </a:spcBef>
            </a:pPr>
            <a:r>
              <a:rPr lang="en-US" sz="3009">
                <a:solidFill>
                  <a:srgbClr val="31356E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2. 외부 요인 조사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66667" y="4569410"/>
            <a:ext cx="11121647" cy="3359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79"/>
              </a:lnSpc>
            </a:pPr>
            <a:r>
              <a:rPr lang="en-US" b="true" sz="2544">
                <a:solidFill>
                  <a:srgbClr val="1A6896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디젤게이트(Dieselgate) : </a:t>
            </a:r>
          </a:p>
          <a:p>
            <a:pPr algn="just">
              <a:lnSpc>
                <a:spcPts val="1216"/>
              </a:lnSpc>
            </a:pPr>
          </a:p>
          <a:p>
            <a:pPr algn="just">
              <a:lnSpc>
                <a:spcPts val="4357"/>
              </a:lnSpc>
            </a:pPr>
            <a:r>
              <a:rPr lang="en-US" sz="242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2015년 </a:t>
            </a:r>
            <a:r>
              <a:rPr lang="en-US" sz="242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폭스바겐 디젤차 배출가스 조작 사건 발생.</a:t>
            </a:r>
          </a:p>
          <a:p>
            <a:pPr algn="just">
              <a:lnSpc>
                <a:spcPts val="4357"/>
              </a:lnSpc>
            </a:pPr>
            <a:r>
              <a:rPr lang="en-US" sz="242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폭스바겐의 디젤 엔진 배출가스가 기준치의 40배나 발생한다는 사실이 밝혀짐.</a:t>
            </a:r>
          </a:p>
          <a:p>
            <a:pPr algn="just">
              <a:lnSpc>
                <a:spcPts val="4357"/>
              </a:lnSpc>
            </a:pPr>
            <a:r>
              <a:rPr lang="en-US" sz="242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차량이 성능테스트 상황을 인식해 배출가스를 실제보다 적게 보이게 하고,</a:t>
            </a:r>
          </a:p>
          <a:p>
            <a:pPr algn="just">
              <a:lnSpc>
                <a:spcPts val="4357"/>
              </a:lnSpc>
            </a:pPr>
            <a:r>
              <a:rPr lang="en-US" sz="242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기준에 맞도록 엔진 제어 장치를 조작하는 소프트웨어를 설치했다는 의혹이 제기됨.</a:t>
            </a:r>
          </a:p>
          <a:p>
            <a:pPr algn="just">
              <a:lnSpc>
                <a:spcPts val="324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94219" y="1028700"/>
            <a:ext cx="327098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02 데이터 개요 및 전처리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9583591"/>
            <a:ext cx="8344620" cy="240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6C84A1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Dieselgate Report: Who, What, How — Transport &amp; Environment, 2016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90018" cy="238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874910" y="3597118"/>
            <a:ext cx="5384390" cy="4296157"/>
          </a:xfrm>
          <a:custGeom>
            <a:avLst/>
            <a:gdLst/>
            <a:ahLst/>
            <a:cxnLst/>
            <a:rect r="r" b="b" t="t" l="l"/>
            <a:pathLst>
              <a:path h="4296157" w="5384390">
                <a:moveTo>
                  <a:pt x="0" y="0"/>
                </a:moveTo>
                <a:lnTo>
                  <a:pt x="5384390" y="0"/>
                </a:lnTo>
                <a:lnTo>
                  <a:pt x="5384390" y="4296157"/>
                </a:lnTo>
                <a:lnTo>
                  <a:pt x="0" y="4296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838631">
            <a:off x="15414658" y="4313459"/>
            <a:ext cx="194952" cy="1028948"/>
            <a:chOff x="0" y="0"/>
            <a:chExt cx="42698" cy="2254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698" cy="225442"/>
            </a:xfrm>
            <a:custGeom>
              <a:avLst/>
              <a:gdLst/>
              <a:ahLst/>
              <a:cxnLst/>
              <a:rect r="r" b="b" t="t" l="l"/>
              <a:pathLst>
                <a:path h="225442" w="42698">
                  <a:moveTo>
                    <a:pt x="42698" y="21349"/>
                  </a:moveTo>
                  <a:lnTo>
                    <a:pt x="42698" y="204093"/>
                  </a:lnTo>
                  <a:cubicBezTo>
                    <a:pt x="42698" y="215883"/>
                    <a:pt x="33140" y="225442"/>
                    <a:pt x="21349" y="225442"/>
                  </a:cubicBezTo>
                  <a:lnTo>
                    <a:pt x="21349" y="225442"/>
                  </a:lnTo>
                  <a:cubicBezTo>
                    <a:pt x="9558" y="225442"/>
                    <a:pt x="0" y="215883"/>
                    <a:pt x="0" y="204093"/>
                  </a:cubicBezTo>
                  <a:lnTo>
                    <a:pt x="0" y="21349"/>
                  </a:lnTo>
                  <a:cubicBezTo>
                    <a:pt x="0" y="9558"/>
                    <a:pt x="9558" y="0"/>
                    <a:pt x="21349" y="0"/>
                  </a:cubicBezTo>
                  <a:lnTo>
                    <a:pt x="21349" y="0"/>
                  </a:lnTo>
                  <a:cubicBezTo>
                    <a:pt x="33140" y="0"/>
                    <a:pt x="42698" y="9558"/>
                    <a:pt x="42698" y="21349"/>
                  </a:cubicBezTo>
                  <a:close/>
                </a:path>
              </a:pathLst>
            </a:custGeom>
            <a:solidFill>
              <a:srgbClr val="F2512C">
                <a:alpha val="6078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2698" cy="254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26420" y="3597118"/>
            <a:ext cx="5384390" cy="4296157"/>
          </a:xfrm>
          <a:custGeom>
            <a:avLst/>
            <a:gdLst/>
            <a:ahLst/>
            <a:cxnLst/>
            <a:rect r="r" b="b" t="t" l="l"/>
            <a:pathLst>
              <a:path h="4296157" w="5384390">
                <a:moveTo>
                  <a:pt x="0" y="0"/>
                </a:moveTo>
                <a:lnTo>
                  <a:pt x="5384391" y="0"/>
                </a:lnTo>
                <a:lnTo>
                  <a:pt x="5384391" y="4296157"/>
                </a:lnTo>
                <a:lnTo>
                  <a:pt x="0" y="42961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217230" y="5110086"/>
            <a:ext cx="894171" cy="2190014"/>
            <a:chOff x="0" y="0"/>
            <a:chExt cx="235502" cy="5767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5502" cy="576794"/>
            </a:xfrm>
            <a:custGeom>
              <a:avLst/>
              <a:gdLst/>
              <a:ahLst/>
              <a:cxnLst/>
              <a:rect r="r" b="b" t="t" l="l"/>
              <a:pathLst>
                <a:path h="576794" w="235502">
                  <a:moveTo>
                    <a:pt x="117751" y="0"/>
                  </a:moveTo>
                  <a:cubicBezTo>
                    <a:pt x="52719" y="0"/>
                    <a:pt x="0" y="129120"/>
                    <a:pt x="0" y="288397"/>
                  </a:cubicBezTo>
                  <a:cubicBezTo>
                    <a:pt x="0" y="447674"/>
                    <a:pt x="52719" y="576794"/>
                    <a:pt x="117751" y="576794"/>
                  </a:cubicBezTo>
                  <a:cubicBezTo>
                    <a:pt x="182783" y="576794"/>
                    <a:pt x="235502" y="447674"/>
                    <a:pt x="235502" y="288397"/>
                  </a:cubicBezTo>
                  <a:cubicBezTo>
                    <a:pt x="235502" y="129120"/>
                    <a:pt x="182783" y="0"/>
                    <a:pt x="11775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F2512C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22078" y="25499"/>
              <a:ext cx="191345" cy="497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390997" y="3517710"/>
            <a:ext cx="5483913" cy="4375565"/>
          </a:xfrm>
          <a:custGeom>
            <a:avLst/>
            <a:gdLst/>
            <a:ahLst/>
            <a:cxnLst/>
            <a:rect r="r" b="b" t="t" l="l"/>
            <a:pathLst>
              <a:path h="4375565" w="5483913">
                <a:moveTo>
                  <a:pt x="0" y="0"/>
                </a:moveTo>
                <a:lnTo>
                  <a:pt x="5483913" y="0"/>
                </a:lnTo>
                <a:lnTo>
                  <a:pt x="5483913" y="4375565"/>
                </a:lnTo>
                <a:lnTo>
                  <a:pt x="0" y="43755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656568" y="4791640"/>
            <a:ext cx="895496" cy="2615597"/>
            <a:chOff x="0" y="0"/>
            <a:chExt cx="235851" cy="6888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5851" cy="688881"/>
            </a:xfrm>
            <a:custGeom>
              <a:avLst/>
              <a:gdLst/>
              <a:ahLst/>
              <a:cxnLst/>
              <a:rect r="r" b="b" t="t" l="l"/>
              <a:pathLst>
                <a:path h="688881" w="235851">
                  <a:moveTo>
                    <a:pt x="117925" y="0"/>
                  </a:moveTo>
                  <a:cubicBezTo>
                    <a:pt x="52797" y="0"/>
                    <a:pt x="0" y="154211"/>
                    <a:pt x="0" y="344441"/>
                  </a:cubicBezTo>
                  <a:cubicBezTo>
                    <a:pt x="0" y="534670"/>
                    <a:pt x="52797" y="688881"/>
                    <a:pt x="117925" y="688881"/>
                  </a:cubicBezTo>
                  <a:cubicBezTo>
                    <a:pt x="183054" y="688881"/>
                    <a:pt x="235851" y="534670"/>
                    <a:pt x="235851" y="344441"/>
                  </a:cubicBezTo>
                  <a:cubicBezTo>
                    <a:pt x="235851" y="154211"/>
                    <a:pt x="183054" y="0"/>
                    <a:pt x="11792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F2512C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22111" y="36008"/>
              <a:ext cx="191629" cy="588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4930615" y="4568346"/>
            <a:ext cx="352667" cy="180609"/>
          </a:xfrm>
          <a:prstGeom prst="line">
            <a:avLst/>
          </a:prstGeom>
          <a:ln cap="flat" w="38100">
            <a:solidFill>
              <a:srgbClr val="F2512C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13794219" y="1028700"/>
            <a:ext cx="327098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02 데이터 개요 및 전처리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7854912"/>
            <a:ext cx="16193325" cy="1478016"/>
            <a:chOff x="0" y="0"/>
            <a:chExt cx="4264909" cy="3892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64909" cy="389272"/>
            </a:xfrm>
            <a:custGeom>
              <a:avLst/>
              <a:gdLst/>
              <a:ahLst/>
              <a:cxnLst/>
              <a:rect r="r" b="b" t="t" l="l"/>
              <a:pathLst>
                <a:path h="389272" w="4264909">
                  <a:moveTo>
                    <a:pt x="15299" y="0"/>
                  </a:moveTo>
                  <a:lnTo>
                    <a:pt x="4249610" y="0"/>
                  </a:lnTo>
                  <a:cubicBezTo>
                    <a:pt x="4258059" y="0"/>
                    <a:pt x="4264909" y="6850"/>
                    <a:pt x="4264909" y="15299"/>
                  </a:cubicBezTo>
                  <a:lnTo>
                    <a:pt x="4264909" y="373973"/>
                  </a:lnTo>
                  <a:cubicBezTo>
                    <a:pt x="4264909" y="382422"/>
                    <a:pt x="4258059" y="389272"/>
                    <a:pt x="4249610" y="389272"/>
                  </a:cubicBezTo>
                  <a:lnTo>
                    <a:pt x="15299" y="389272"/>
                  </a:lnTo>
                  <a:cubicBezTo>
                    <a:pt x="6850" y="389272"/>
                    <a:pt x="0" y="382422"/>
                    <a:pt x="0" y="373973"/>
                  </a:cubicBezTo>
                  <a:lnTo>
                    <a:pt x="0" y="15299"/>
                  </a:lnTo>
                  <a:cubicBezTo>
                    <a:pt x="0" y="6850"/>
                    <a:pt x="6850" y="0"/>
                    <a:pt x="15299" y="0"/>
                  </a:cubicBezTo>
                  <a:close/>
                </a:path>
              </a:pathLst>
            </a:custGeom>
            <a:solidFill>
              <a:srgbClr val="3087B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264909" cy="446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RED/YELLOW의 배출량이 급상승하는 모습을 보이고, GREEN GROUP의 VAN은 이상치가 아니었기 때문에  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FFFFF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 </a:t>
              </a:r>
              <a:r>
                <a:rPr lang="en-US" b="true" sz="26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2015년 평균 연비와 평균 배출량의 급격한 변화</a:t>
              </a:r>
              <a:r>
                <a:rPr lang="en-US" sz="2699">
                  <a:solidFill>
                    <a:srgbClr val="FFFFF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는 </a:t>
              </a:r>
              <a:r>
                <a:rPr lang="en-US" b="true" sz="26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디젤게이트의 영향</a:t>
              </a:r>
              <a:r>
                <a:rPr lang="en-US" sz="2699">
                  <a:solidFill>
                    <a:srgbClr val="FFFFFF"/>
                  </a:solidFill>
                  <a:latin typeface="Tlab 돋움 레귤러"/>
                  <a:ea typeface="Tlab 돋움 레귤러"/>
                  <a:cs typeface="Tlab 돋움 레귤러"/>
                  <a:sym typeface="Tlab 돋움 레귤러"/>
                </a:rPr>
                <a:t>이 컸을 것 → </a:t>
              </a:r>
              <a:r>
                <a:rPr lang="en-US" b="true" sz="2699">
                  <a:solidFill>
                    <a:srgbClr val="FFFFFF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이상치 전처리 안함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24204" y="4372184"/>
            <a:ext cx="536373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2512C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77234" y="2016878"/>
            <a:ext cx="3339041" cy="514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13"/>
              </a:lnSpc>
              <a:spcBef>
                <a:spcPct val="0"/>
              </a:spcBef>
            </a:pPr>
            <a:r>
              <a:rPr lang="en-US" sz="3009">
                <a:solidFill>
                  <a:srgbClr val="31356E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2. 외부 요인 조사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68848" y="2492058"/>
            <a:ext cx="9534637" cy="863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4"/>
              </a:lnSpc>
            </a:pPr>
            <a:r>
              <a:rPr lang="en-US" sz="2400">
                <a:solidFill>
                  <a:srgbClr val="1A6896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: 디젤게이트 연루(RED) / 연루 의혹(YELLOW) / 청렴(GREEN)으로</a:t>
            </a:r>
          </a:p>
          <a:p>
            <a:pPr algn="just">
              <a:lnSpc>
                <a:spcPts val="3504"/>
              </a:lnSpc>
            </a:pPr>
            <a:r>
              <a:rPr lang="en-US" sz="2400">
                <a:solidFill>
                  <a:srgbClr val="1A6896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   그룹을 나누어 2015년 전후로 배출량 변화 관찰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90018" cy="238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269152" y="2750919"/>
            <a:ext cx="13749695" cy="5578737"/>
            <a:chOff x="0" y="0"/>
            <a:chExt cx="18332927" cy="74383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70383" cy="7435153"/>
            </a:xfrm>
            <a:custGeom>
              <a:avLst/>
              <a:gdLst/>
              <a:ahLst/>
              <a:cxnLst/>
              <a:rect r="r" b="b" t="t" l="l"/>
              <a:pathLst>
                <a:path h="7435153" w="9470383">
                  <a:moveTo>
                    <a:pt x="0" y="0"/>
                  </a:moveTo>
                  <a:lnTo>
                    <a:pt x="9470383" y="0"/>
                  </a:lnTo>
                  <a:lnTo>
                    <a:pt x="9470383" y="7435153"/>
                  </a:lnTo>
                  <a:lnTo>
                    <a:pt x="0" y="7435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9010455" y="0"/>
              <a:ext cx="9322471" cy="7438316"/>
            </a:xfrm>
            <a:custGeom>
              <a:avLst/>
              <a:gdLst/>
              <a:ahLst/>
              <a:cxnLst/>
              <a:rect r="r" b="b" t="t" l="l"/>
              <a:pathLst>
                <a:path h="7438316" w="9322471">
                  <a:moveTo>
                    <a:pt x="0" y="0"/>
                  </a:moveTo>
                  <a:lnTo>
                    <a:pt x="9322472" y="0"/>
                  </a:lnTo>
                  <a:lnTo>
                    <a:pt x="9322472" y="7438316"/>
                  </a:lnTo>
                  <a:lnTo>
                    <a:pt x="0" y="743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24204" y="1028700"/>
            <a:ext cx="231287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03 핵심 분석 내용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73656" y="8638427"/>
            <a:ext cx="10940689" cy="49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1356E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엔진 크기가 커질수록 연비↓, 배출량↑ : </a:t>
            </a:r>
            <a:r>
              <a:rPr lang="en-US" b="true" sz="2799">
                <a:solidFill>
                  <a:srgbClr val="31356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엔진 크기 작을수록 좋다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36020" y="1890600"/>
            <a:ext cx="9432714" cy="541892"/>
            <a:chOff x="0" y="0"/>
            <a:chExt cx="12576952" cy="72252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4848267" y="-57150"/>
              <a:ext cx="7728685" cy="666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13"/>
                </a:lnSpc>
                <a:spcBef>
                  <a:spcPct val="0"/>
                </a:spcBef>
              </a:pPr>
              <a:r>
                <a:rPr lang="en-US" sz="3009">
                  <a:solidFill>
                    <a:srgbClr val="31356E"/>
                  </a:solidFill>
                  <a:latin typeface="Tlab 돋움 미디움"/>
                  <a:ea typeface="Tlab 돋움 미디움"/>
                  <a:cs typeface="Tlab 돋움 미디움"/>
                  <a:sym typeface="Tlab 돋움 미디움"/>
                </a:rPr>
                <a:t>엔진 크기 그룹 별 연비, 배출량 분석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28575"/>
              <a:ext cx="4873667" cy="751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32"/>
                </a:lnSpc>
                <a:spcBef>
                  <a:spcPct val="0"/>
                </a:spcBef>
              </a:pPr>
              <a:r>
                <a:rPr lang="en-US" sz="3380">
                  <a:solidFill>
                    <a:srgbClr val="31356E"/>
                  </a:solidFill>
                  <a:latin typeface="210 밀레니얼"/>
                  <a:ea typeface="210 밀레니얼"/>
                  <a:cs typeface="210 밀레니얼"/>
                  <a:sym typeface="210 밀레니얼"/>
                </a:rPr>
                <a:t>핵심 분석 내용 1 :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22224466" cy="1191644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224466" cy="11916444"/>
              <a:chOff x="0" y="0"/>
              <a:chExt cx="4390018" cy="235386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390018" cy="2353865"/>
              </a:xfrm>
              <a:custGeom>
                <a:avLst/>
                <a:gdLst/>
                <a:ahLst/>
                <a:cxnLst/>
                <a:rect r="r" b="b" t="t" l="l"/>
                <a:pathLst>
                  <a:path h="2353865" w="4390018">
                    <a:moveTo>
                      <a:pt x="0" y="0"/>
                    </a:moveTo>
                    <a:lnTo>
                      <a:pt x="4390018" y="0"/>
                    </a:lnTo>
                    <a:lnTo>
                      <a:pt x="4390018" y="2353865"/>
                    </a:lnTo>
                    <a:lnTo>
                      <a:pt x="0" y="235386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087BB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390018" cy="24014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6" id="6"/>
            <p:cNvSpPr/>
            <p:nvPr/>
          </p:nvSpPr>
          <p:spPr>
            <a:xfrm>
              <a:off x="0" y="1234015"/>
              <a:ext cx="22224466" cy="0"/>
            </a:xfrm>
            <a:prstGeom prst="line">
              <a:avLst/>
            </a:prstGeom>
            <a:ln cap="flat" w="25400">
              <a:solidFill>
                <a:srgbClr val="3087B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269621" y="2748168"/>
            <a:ext cx="13748758" cy="5609673"/>
            <a:chOff x="0" y="0"/>
            <a:chExt cx="18331678" cy="74795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3180"/>
              <a:ext cx="9357858" cy="7476384"/>
            </a:xfrm>
            <a:custGeom>
              <a:avLst/>
              <a:gdLst/>
              <a:ahLst/>
              <a:cxnLst/>
              <a:rect r="r" b="b" t="t" l="l"/>
              <a:pathLst>
                <a:path h="7476384" w="9357858">
                  <a:moveTo>
                    <a:pt x="0" y="0"/>
                  </a:moveTo>
                  <a:lnTo>
                    <a:pt x="9357858" y="0"/>
                  </a:lnTo>
                  <a:lnTo>
                    <a:pt x="9357858" y="7476384"/>
                  </a:lnTo>
                  <a:lnTo>
                    <a:pt x="0" y="7476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8924561" y="0"/>
              <a:ext cx="9407117" cy="7479564"/>
            </a:xfrm>
            <a:custGeom>
              <a:avLst/>
              <a:gdLst/>
              <a:ahLst/>
              <a:cxnLst/>
              <a:rect r="r" b="b" t="t" l="l"/>
              <a:pathLst>
                <a:path h="7479564" w="9407117">
                  <a:moveTo>
                    <a:pt x="0" y="0"/>
                  </a:moveTo>
                  <a:lnTo>
                    <a:pt x="9407117" y="0"/>
                  </a:lnTo>
                  <a:lnTo>
                    <a:pt x="9407117" y="7479564"/>
                  </a:lnTo>
                  <a:lnTo>
                    <a:pt x="0" y="7479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24204" y="1028700"/>
            <a:ext cx="231287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03 핵심 분석 내용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31579" y="8663861"/>
            <a:ext cx="10224843" cy="49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1356E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실린더 수 많을수록 연비↓, 배출량↑ : </a:t>
            </a:r>
            <a:r>
              <a:rPr lang="en-US" b="true" sz="2799">
                <a:solidFill>
                  <a:srgbClr val="31356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실린더 수 적을수록 좋다</a:t>
            </a:r>
            <a:r>
              <a:rPr lang="en-US" sz="2799">
                <a:solidFill>
                  <a:srgbClr val="31356E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36020" y="1890600"/>
            <a:ext cx="9432714" cy="541892"/>
            <a:chOff x="0" y="0"/>
            <a:chExt cx="12576952" cy="72252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4848267" y="-57150"/>
              <a:ext cx="7728685" cy="666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13"/>
                </a:lnSpc>
                <a:spcBef>
                  <a:spcPct val="0"/>
                </a:spcBef>
              </a:pPr>
              <a:r>
                <a:rPr lang="en-US" sz="3009">
                  <a:solidFill>
                    <a:srgbClr val="31356E"/>
                  </a:solidFill>
                  <a:latin typeface="Tlab 돋움 미디움"/>
                  <a:ea typeface="Tlab 돋움 미디움"/>
                  <a:cs typeface="Tlab 돋움 미디움"/>
                  <a:sym typeface="Tlab 돋움 미디움"/>
                </a:rPr>
                <a:t>실린더 수에 따른 연비, 배출량 분석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28575"/>
              <a:ext cx="4873667" cy="751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32"/>
                </a:lnSpc>
                <a:spcBef>
                  <a:spcPct val="0"/>
                </a:spcBef>
              </a:pPr>
              <a:r>
                <a:rPr lang="en-US" sz="3380">
                  <a:solidFill>
                    <a:srgbClr val="31356E"/>
                  </a:solidFill>
                  <a:latin typeface="210 밀레니얼"/>
                  <a:ea typeface="210 밀레니얼"/>
                  <a:cs typeface="210 밀레니얼"/>
                  <a:sym typeface="210 밀레니얼"/>
                </a:rPr>
                <a:t>핵심 분석 내용 2 :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22224466" cy="1191644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224466" cy="11916444"/>
              <a:chOff x="0" y="0"/>
              <a:chExt cx="4390018" cy="235386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390018" cy="2353865"/>
              </a:xfrm>
              <a:custGeom>
                <a:avLst/>
                <a:gdLst/>
                <a:ahLst/>
                <a:cxnLst/>
                <a:rect r="r" b="b" t="t" l="l"/>
                <a:pathLst>
                  <a:path h="2353865" w="4390018">
                    <a:moveTo>
                      <a:pt x="0" y="0"/>
                    </a:moveTo>
                    <a:lnTo>
                      <a:pt x="4390018" y="0"/>
                    </a:lnTo>
                    <a:lnTo>
                      <a:pt x="4390018" y="2353865"/>
                    </a:lnTo>
                    <a:lnTo>
                      <a:pt x="0" y="235386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087BB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390018" cy="24014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6" id="6"/>
            <p:cNvSpPr/>
            <p:nvPr/>
          </p:nvSpPr>
          <p:spPr>
            <a:xfrm>
              <a:off x="0" y="1234015"/>
              <a:ext cx="22224466" cy="0"/>
            </a:xfrm>
            <a:prstGeom prst="line">
              <a:avLst/>
            </a:prstGeom>
            <a:ln cap="flat" w="25400">
              <a:solidFill>
                <a:srgbClr val="3087B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24204" y="1028700"/>
            <a:ext cx="231287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03 핵심 분석 내용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46829" y="8663861"/>
            <a:ext cx="9194341" cy="49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1356E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기어 단수와는 큰 연관성 발견되지 않음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578462" y="3100317"/>
            <a:ext cx="13131076" cy="5362338"/>
            <a:chOff x="0" y="0"/>
            <a:chExt cx="17508101" cy="71497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0716"/>
              <a:ext cx="8970349" cy="7129067"/>
            </a:xfrm>
            <a:custGeom>
              <a:avLst/>
              <a:gdLst/>
              <a:ahLst/>
              <a:cxnLst/>
              <a:rect r="r" b="b" t="t" l="l"/>
              <a:pathLst>
                <a:path h="7129067" w="8970349">
                  <a:moveTo>
                    <a:pt x="0" y="0"/>
                  </a:moveTo>
                  <a:lnTo>
                    <a:pt x="8970349" y="0"/>
                  </a:lnTo>
                  <a:lnTo>
                    <a:pt x="8970349" y="7129067"/>
                  </a:lnTo>
                  <a:lnTo>
                    <a:pt x="0" y="7129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537993" y="0"/>
              <a:ext cx="8970108" cy="7132100"/>
            </a:xfrm>
            <a:custGeom>
              <a:avLst/>
              <a:gdLst/>
              <a:ahLst/>
              <a:cxnLst/>
              <a:rect r="r" b="b" t="t" l="l"/>
              <a:pathLst>
                <a:path h="7132100" w="8970108">
                  <a:moveTo>
                    <a:pt x="0" y="0"/>
                  </a:moveTo>
                  <a:lnTo>
                    <a:pt x="8970108" y="0"/>
                  </a:lnTo>
                  <a:lnTo>
                    <a:pt x="8970108" y="7132100"/>
                  </a:lnTo>
                  <a:lnTo>
                    <a:pt x="0" y="713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072220" y="1833450"/>
            <a:ext cx="5897688" cy="514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13"/>
              </a:lnSpc>
              <a:spcBef>
                <a:spcPct val="0"/>
              </a:spcBef>
            </a:pPr>
            <a:r>
              <a:rPr lang="en-US" sz="3009">
                <a:solidFill>
                  <a:srgbClr val="31356E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기어 단수에 따른 연비, 배출량 분석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6020" y="1852500"/>
            <a:ext cx="3655250" cy="57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32"/>
              </a:lnSpc>
              <a:spcBef>
                <a:spcPct val="0"/>
              </a:spcBef>
            </a:pPr>
            <a:r>
              <a:rPr lang="en-US" sz="3380">
                <a:solidFill>
                  <a:srgbClr val="31356E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핵심 분석 내용 3 :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22224466" cy="1191644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224466" cy="11916444"/>
              <a:chOff x="0" y="0"/>
              <a:chExt cx="4390018" cy="235386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390018" cy="2353865"/>
              </a:xfrm>
              <a:custGeom>
                <a:avLst/>
                <a:gdLst/>
                <a:ahLst/>
                <a:cxnLst/>
                <a:rect r="r" b="b" t="t" l="l"/>
                <a:pathLst>
                  <a:path h="2353865" w="4390018">
                    <a:moveTo>
                      <a:pt x="0" y="0"/>
                    </a:moveTo>
                    <a:lnTo>
                      <a:pt x="4390018" y="0"/>
                    </a:lnTo>
                    <a:lnTo>
                      <a:pt x="4390018" y="2353865"/>
                    </a:lnTo>
                    <a:lnTo>
                      <a:pt x="0" y="235386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087BB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390018" cy="24014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6" id="6"/>
            <p:cNvSpPr/>
            <p:nvPr/>
          </p:nvSpPr>
          <p:spPr>
            <a:xfrm>
              <a:off x="0" y="1234015"/>
              <a:ext cx="22224466" cy="0"/>
            </a:xfrm>
            <a:prstGeom prst="line">
              <a:avLst/>
            </a:prstGeom>
            <a:ln cap="flat" w="25400">
              <a:solidFill>
                <a:srgbClr val="3087B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24204" y="1028700"/>
            <a:ext cx="231287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03 핵심 분석 내용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73415" y="8559566"/>
            <a:ext cx="13741171" cy="49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31356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AV</a:t>
            </a:r>
            <a:r>
              <a:rPr lang="en-US" sz="2799">
                <a:solidFill>
                  <a:srgbClr val="31356E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(무단) &gt; M(수동) &gt; AM(전자식 수동) ≈ AS(자동선택) &gt; A(자동) 순으로 좋다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703302" y="3013168"/>
            <a:ext cx="12881396" cy="5079673"/>
            <a:chOff x="0" y="0"/>
            <a:chExt cx="17175194" cy="67728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91201" cy="6772898"/>
            </a:xfrm>
            <a:custGeom>
              <a:avLst/>
              <a:gdLst/>
              <a:ahLst/>
              <a:cxnLst/>
              <a:rect r="r" b="b" t="t" l="l"/>
              <a:pathLst>
                <a:path h="6772898" w="8391201">
                  <a:moveTo>
                    <a:pt x="0" y="0"/>
                  </a:moveTo>
                  <a:lnTo>
                    <a:pt x="8391201" y="0"/>
                  </a:lnTo>
                  <a:lnTo>
                    <a:pt x="8391201" y="6772898"/>
                  </a:lnTo>
                  <a:lnTo>
                    <a:pt x="0" y="6772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649135" y="0"/>
              <a:ext cx="8526059" cy="6772898"/>
            </a:xfrm>
            <a:custGeom>
              <a:avLst/>
              <a:gdLst/>
              <a:ahLst/>
              <a:cxnLst/>
              <a:rect r="r" b="b" t="t" l="l"/>
              <a:pathLst>
                <a:path h="6772898" w="8526059">
                  <a:moveTo>
                    <a:pt x="0" y="0"/>
                  </a:moveTo>
                  <a:lnTo>
                    <a:pt x="8526059" y="0"/>
                  </a:lnTo>
                  <a:lnTo>
                    <a:pt x="8526059" y="6772898"/>
                  </a:lnTo>
                  <a:lnTo>
                    <a:pt x="0" y="6772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36020" y="1890600"/>
            <a:ext cx="10001818" cy="541892"/>
            <a:chOff x="0" y="0"/>
            <a:chExt cx="13335757" cy="72252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4848267" y="-57150"/>
              <a:ext cx="8487490" cy="666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13"/>
                </a:lnSpc>
                <a:spcBef>
                  <a:spcPct val="0"/>
                </a:spcBef>
              </a:pPr>
              <a:r>
                <a:rPr lang="en-US" sz="3009">
                  <a:solidFill>
                    <a:srgbClr val="31356E"/>
                  </a:solidFill>
                  <a:latin typeface="Tlab 돋움 미디움"/>
                  <a:ea typeface="Tlab 돋움 미디움"/>
                  <a:cs typeface="Tlab 돋움 미디움"/>
                  <a:sym typeface="Tlab 돋움 미디움"/>
                </a:rPr>
                <a:t>변속기 종류에 따른 연비, 배출량 분석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28575"/>
              <a:ext cx="4873667" cy="751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32"/>
                </a:lnSpc>
                <a:spcBef>
                  <a:spcPct val="0"/>
                </a:spcBef>
              </a:pPr>
              <a:r>
                <a:rPr lang="en-US" sz="3380">
                  <a:solidFill>
                    <a:srgbClr val="31356E"/>
                  </a:solidFill>
                  <a:latin typeface="210 밀레니얼"/>
                  <a:ea typeface="210 밀레니얼"/>
                  <a:cs typeface="210 밀레니얼"/>
                  <a:sym typeface="210 밀레니얼"/>
                </a:rPr>
                <a:t>핵심 분석 내용 4 :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22224466" cy="1191644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224466" cy="11916444"/>
              <a:chOff x="0" y="0"/>
              <a:chExt cx="4390018" cy="235386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390018" cy="2353865"/>
              </a:xfrm>
              <a:custGeom>
                <a:avLst/>
                <a:gdLst/>
                <a:ahLst/>
                <a:cxnLst/>
                <a:rect r="r" b="b" t="t" l="l"/>
                <a:pathLst>
                  <a:path h="2353865" w="4390018">
                    <a:moveTo>
                      <a:pt x="0" y="0"/>
                    </a:moveTo>
                    <a:lnTo>
                      <a:pt x="4390018" y="0"/>
                    </a:lnTo>
                    <a:lnTo>
                      <a:pt x="4390018" y="2353865"/>
                    </a:lnTo>
                    <a:lnTo>
                      <a:pt x="0" y="235386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087BB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390018" cy="24014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6" id="6"/>
            <p:cNvSpPr/>
            <p:nvPr/>
          </p:nvSpPr>
          <p:spPr>
            <a:xfrm>
              <a:off x="0" y="1234015"/>
              <a:ext cx="22224466" cy="0"/>
            </a:xfrm>
            <a:prstGeom prst="line">
              <a:avLst/>
            </a:prstGeom>
            <a:ln cap="flat" w="25400">
              <a:solidFill>
                <a:srgbClr val="3087B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988702" y="2968918"/>
            <a:ext cx="14310596" cy="5510019"/>
            <a:chOff x="0" y="0"/>
            <a:chExt cx="19080795" cy="73466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02096" cy="7346692"/>
            </a:xfrm>
            <a:custGeom>
              <a:avLst/>
              <a:gdLst/>
              <a:ahLst/>
              <a:cxnLst/>
              <a:rect r="r" b="b" t="t" l="l"/>
              <a:pathLst>
                <a:path h="7346692" w="9102096">
                  <a:moveTo>
                    <a:pt x="0" y="0"/>
                  </a:moveTo>
                  <a:lnTo>
                    <a:pt x="9102096" y="0"/>
                  </a:lnTo>
                  <a:lnTo>
                    <a:pt x="9102096" y="7346692"/>
                  </a:lnTo>
                  <a:lnTo>
                    <a:pt x="0" y="7346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832415" y="0"/>
              <a:ext cx="9248380" cy="7346692"/>
            </a:xfrm>
            <a:custGeom>
              <a:avLst/>
              <a:gdLst/>
              <a:ahLst/>
              <a:cxnLst/>
              <a:rect r="r" b="b" t="t" l="l"/>
              <a:pathLst>
                <a:path h="7346692" w="9248380">
                  <a:moveTo>
                    <a:pt x="0" y="0"/>
                  </a:moveTo>
                  <a:lnTo>
                    <a:pt x="9248380" y="0"/>
                  </a:lnTo>
                  <a:lnTo>
                    <a:pt x="9248380" y="7346692"/>
                  </a:lnTo>
                  <a:lnTo>
                    <a:pt x="0" y="7346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817840" y="7863722"/>
            <a:ext cx="818121" cy="324467"/>
            <a:chOff x="0" y="0"/>
            <a:chExt cx="215472" cy="854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472" cy="85456"/>
            </a:xfrm>
            <a:custGeom>
              <a:avLst/>
              <a:gdLst/>
              <a:ahLst/>
              <a:cxnLst/>
              <a:rect r="r" b="b" t="t" l="l"/>
              <a:pathLst>
                <a:path h="85456" w="215472">
                  <a:moveTo>
                    <a:pt x="0" y="0"/>
                  </a:moveTo>
                  <a:lnTo>
                    <a:pt x="215472" y="0"/>
                  </a:lnTo>
                  <a:lnTo>
                    <a:pt x="215472" y="85456"/>
                  </a:lnTo>
                  <a:lnTo>
                    <a:pt x="0" y="85456"/>
                  </a:lnTo>
                  <a:close/>
                </a:path>
              </a:pathLst>
            </a:custGeom>
            <a:solidFill>
              <a:srgbClr val="FFD21F">
                <a:alpha val="27843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15472" cy="133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24204" y="1028700"/>
            <a:ext cx="231287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03 핵심 분석 내용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421787"/>
            <a:ext cx="16280183" cy="94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699">
                <a:solidFill>
                  <a:srgbClr val="31356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디젤</a:t>
            </a:r>
            <a:r>
              <a:rPr lang="en-US" sz="2699">
                <a:solidFill>
                  <a:srgbClr val="31356E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 연비가 좋고, 배출량이 낮아서 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31356E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연료 중 가장 친환경적이고 효율적이라 가정 후 분석 진행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340349" y="7863722"/>
            <a:ext cx="818121" cy="324467"/>
            <a:chOff x="0" y="0"/>
            <a:chExt cx="215472" cy="854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5472" cy="85456"/>
            </a:xfrm>
            <a:custGeom>
              <a:avLst/>
              <a:gdLst/>
              <a:ahLst/>
              <a:cxnLst/>
              <a:rect r="r" b="b" t="t" l="l"/>
              <a:pathLst>
                <a:path h="85456" w="215472">
                  <a:moveTo>
                    <a:pt x="0" y="0"/>
                  </a:moveTo>
                  <a:lnTo>
                    <a:pt x="215472" y="0"/>
                  </a:lnTo>
                  <a:lnTo>
                    <a:pt x="215472" y="85456"/>
                  </a:lnTo>
                  <a:lnTo>
                    <a:pt x="0" y="85456"/>
                  </a:lnTo>
                  <a:close/>
                </a:path>
              </a:pathLst>
            </a:custGeom>
            <a:solidFill>
              <a:srgbClr val="FFD21F">
                <a:alpha val="27843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15472" cy="133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36020" y="1890600"/>
            <a:ext cx="9432714" cy="541892"/>
            <a:chOff x="0" y="0"/>
            <a:chExt cx="12576952" cy="722523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4848267" y="-57150"/>
              <a:ext cx="7728685" cy="666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13"/>
                </a:lnSpc>
                <a:spcBef>
                  <a:spcPct val="0"/>
                </a:spcBef>
              </a:pPr>
              <a:r>
                <a:rPr lang="en-US" sz="3009">
                  <a:solidFill>
                    <a:srgbClr val="31356E"/>
                  </a:solidFill>
                  <a:latin typeface="Tlab 돋움 미디움"/>
                  <a:ea typeface="Tlab 돋움 미디움"/>
                  <a:cs typeface="Tlab 돋움 미디움"/>
                  <a:sym typeface="Tlab 돋움 미디움"/>
                </a:rPr>
                <a:t>연료 종류별 평균 연비, 배출량 분석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-28575"/>
              <a:ext cx="4873667" cy="751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32"/>
                </a:lnSpc>
                <a:spcBef>
                  <a:spcPct val="0"/>
                </a:spcBef>
              </a:pPr>
              <a:r>
                <a:rPr lang="en-US" sz="3380">
                  <a:solidFill>
                    <a:srgbClr val="31356E"/>
                  </a:solidFill>
                  <a:latin typeface="210 밀레니얼"/>
                  <a:ea typeface="210 밀레니얼"/>
                  <a:cs typeface="210 밀레니얼"/>
                  <a:sym typeface="210 밀레니얼"/>
                </a:rPr>
                <a:t>핵심 분석 내용 5 :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22224466" cy="1191644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224466" cy="11916444"/>
              <a:chOff x="0" y="0"/>
              <a:chExt cx="4390018" cy="235386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390018" cy="2353865"/>
              </a:xfrm>
              <a:custGeom>
                <a:avLst/>
                <a:gdLst/>
                <a:ahLst/>
                <a:cxnLst/>
                <a:rect r="r" b="b" t="t" l="l"/>
                <a:pathLst>
                  <a:path h="2353865" w="4390018">
                    <a:moveTo>
                      <a:pt x="0" y="0"/>
                    </a:moveTo>
                    <a:lnTo>
                      <a:pt x="4390018" y="0"/>
                    </a:lnTo>
                    <a:lnTo>
                      <a:pt x="4390018" y="2353865"/>
                    </a:lnTo>
                    <a:lnTo>
                      <a:pt x="0" y="235386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087BB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390018" cy="24014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6" id="6"/>
            <p:cNvSpPr/>
            <p:nvPr/>
          </p:nvSpPr>
          <p:spPr>
            <a:xfrm>
              <a:off x="0" y="1234015"/>
              <a:ext cx="22224466" cy="0"/>
            </a:xfrm>
            <a:prstGeom prst="line">
              <a:avLst/>
            </a:prstGeom>
            <a:ln cap="flat" w="25400">
              <a:solidFill>
                <a:srgbClr val="3087B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567721" y="2908659"/>
            <a:ext cx="6385694" cy="5154168"/>
          </a:xfrm>
          <a:custGeom>
            <a:avLst/>
            <a:gdLst/>
            <a:ahLst/>
            <a:cxnLst/>
            <a:rect r="r" b="b" t="t" l="l"/>
            <a:pathLst>
              <a:path h="5154168" w="6385694">
                <a:moveTo>
                  <a:pt x="0" y="0"/>
                </a:moveTo>
                <a:lnTo>
                  <a:pt x="6385694" y="0"/>
                </a:lnTo>
                <a:lnTo>
                  <a:pt x="6385694" y="5154167"/>
                </a:lnTo>
                <a:lnTo>
                  <a:pt x="0" y="5154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26393" y="2908659"/>
            <a:ext cx="6488322" cy="5154168"/>
          </a:xfrm>
          <a:custGeom>
            <a:avLst/>
            <a:gdLst/>
            <a:ahLst/>
            <a:cxnLst/>
            <a:rect r="r" b="b" t="t" l="l"/>
            <a:pathLst>
              <a:path h="5154168" w="6488322">
                <a:moveTo>
                  <a:pt x="0" y="0"/>
                </a:moveTo>
                <a:lnTo>
                  <a:pt x="6488321" y="0"/>
                </a:lnTo>
                <a:lnTo>
                  <a:pt x="6488321" y="5154167"/>
                </a:lnTo>
                <a:lnTo>
                  <a:pt x="0" y="51541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279957" y="3379551"/>
            <a:ext cx="1471087" cy="2762442"/>
            <a:chOff x="0" y="0"/>
            <a:chExt cx="387447" cy="7275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7447" cy="727557"/>
            </a:xfrm>
            <a:custGeom>
              <a:avLst/>
              <a:gdLst/>
              <a:ahLst/>
              <a:cxnLst/>
              <a:rect r="r" b="b" t="t" l="l"/>
              <a:pathLst>
                <a:path h="727557" w="387447">
                  <a:moveTo>
                    <a:pt x="193723" y="0"/>
                  </a:moveTo>
                  <a:cubicBezTo>
                    <a:pt x="86733" y="0"/>
                    <a:pt x="0" y="162869"/>
                    <a:pt x="0" y="363778"/>
                  </a:cubicBezTo>
                  <a:cubicBezTo>
                    <a:pt x="0" y="564688"/>
                    <a:pt x="86733" y="727557"/>
                    <a:pt x="193723" y="727557"/>
                  </a:cubicBezTo>
                  <a:cubicBezTo>
                    <a:pt x="300714" y="727557"/>
                    <a:pt x="387447" y="564688"/>
                    <a:pt x="387447" y="363778"/>
                  </a:cubicBezTo>
                  <a:cubicBezTo>
                    <a:pt x="387447" y="162869"/>
                    <a:pt x="300714" y="0"/>
                    <a:pt x="1937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2512C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36323" y="20583"/>
              <a:ext cx="314800" cy="63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24204" y="1028700"/>
            <a:ext cx="231287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03 핵심 분석 내용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04825" y="8272144"/>
            <a:ext cx="12897182" cy="9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1356E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디젤의 과거 연비 너무 높고 배출량 너무 낮음, </a:t>
            </a:r>
            <a:r>
              <a:rPr lang="en-US" sz="2799">
                <a:solidFill>
                  <a:srgbClr val="31356E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그러다 2007년 급격한 하락, 상승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1356E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→ </a:t>
            </a:r>
            <a:r>
              <a:rPr lang="en-US" b="true" sz="2799">
                <a:solidFill>
                  <a:srgbClr val="31356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2006년까지 디젤은 왜 연비는 높고 배출량은 낮았을까?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099467" y="4525273"/>
            <a:ext cx="1471087" cy="2762442"/>
            <a:chOff x="0" y="0"/>
            <a:chExt cx="387447" cy="7275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7447" cy="727557"/>
            </a:xfrm>
            <a:custGeom>
              <a:avLst/>
              <a:gdLst/>
              <a:ahLst/>
              <a:cxnLst/>
              <a:rect r="r" b="b" t="t" l="l"/>
              <a:pathLst>
                <a:path h="727557" w="387447">
                  <a:moveTo>
                    <a:pt x="193723" y="0"/>
                  </a:moveTo>
                  <a:cubicBezTo>
                    <a:pt x="86733" y="0"/>
                    <a:pt x="0" y="162869"/>
                    <a:pt x="0" y="363778"/>
                  </a:cubicBezTo>
                  <a:cubicBezTo>
                    <a:pt x="0" y="564688"/>
                    <a:pt x="86733" y="727557"/>
                    <a:pt x="193723" y="727557"/>
                  </a:cubicBezTo>
                  <a:cubicBezTo>
                    <a:pt x="300714" y="727557"/>
                    <a:pt x="387447" y="564688"/>
                    <a:pt x="387447" y="363778"/>
                  </a:cubicBezTo>
                  <a:cubicBezTo>
                    <a:pt x="387447" y="162869"/>
                    <a:pt x="300714" y="0"/>
                    <a:pt x="1937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2512C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36323" y="20583"/>
              <a:ext cx="314800" cy="63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36020" y="1890600"/>
            <a:ext cx="9432714" cy="541892"/>
            <a:chOff x="0" y="0"/>
            <a:chExt cx="12576952" cy="72252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4848267" y="-57150"/>
              <a:ext cx="7728685" cy="666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13"/>
                </a:lnSpc>
                <a:spcBef>
                  <a:spcPct val="0"/>
                </a:spcBef>
              </a:pPr>
              <a:r>
                <a:rPr lang="en-US" sz="3009">
                  <a:solidFill>
                    <a:srgbClr val="31356E"/>
                  </a:solidFill>
                  <a:latin typeface="Tlab 돋움 미디움"/>
                  <a:ea typeface="Tlab 돋움 미디움"/>
                  <a:cs typeface="Tlab 돋움 미디움"/>
                  <a:sym typeface="Tlab 돋움 미디움"/>
                </a:rPr>
                <a:t>연료 종류별 평균 연비, 배출량 분석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28575"/>
              <a:ext cx="4873667" cy="751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32"/>
                </a:lnSpc>
                <a:spcBef>
                  <a:spcPct val="0"/>
                </a:spcBef>
              </a:pPr>
              <a:r>
                <a:rPr lang="en-US" sz="3380">
                  <a:solidFill>
                    <a:srgbClr val="31356E"/>
                  </a:solidFill>
                  <a:latin typeface="210 밀레니얼"/>
                  <a:ea typeface="210 밀레니얼"/>
                  <a:cs typeface="210 밀레니얼"/>
                  <a:sym typeface="210 밀레니얼"/>
                </a:rPr>
                <a:t>핵심 분석 내용 5 :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22224466" cy="1191644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224466" cy="11916444"/>
              <a:chOff x="0" y="0"/>
              <a:chExt cx="4390018" cy="235386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390018" cy="2353865"/>
              </a:xfrm>
              <a:custGeom>
                <a:avLst/>
                <a:gdLst/>
                <a:ahLst/>
                <a:cxnLst/>
                <a:rect r="r" b="b" t="t" l="l"/>
                <a:pathLst>
                  <a:path h="2353865" w="4390018">
                    <a:moveTo>
                      <a:pt x="0" y="0"/>
                    </a:moveTo>
                    <a:lnTo>
                      <a:pt x="4390018" y="0"/>
                    </a:lnTo>
                    <a:lnTo>
                      <a:pt x="4390018" y="2353865"/>
                    </a:lnTo>
                    <a:lnTo>
                      <a:pt x="0" y="235386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087BB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390018" cy="24014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6" id="6"/>
            <p:cNvSpPr/>
            <p:nvPr/>
          </p:nvSpPr>
          <p:spPr>
            <a:xfrm>
              <a:off x="0" y="1234015"/>
              <a:ext cx="22224466" cy="0"/>
            </a:xfrm>
            <a:prstGeom prst="line">
              <a:avLst/>
            </a:prstGeom>
            <a:ln cap="flat" w="25400">
              <a:solidFill>
                <a:srgbClr val="3087B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4381899" y="2672243"/>
            <a:ext cx="9524203" cy="53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93"/>
              </a:lnSpc>
              <a:spcBef>
                <a:spcPct val="0"/>
              </a:spcBef>
            </a:pPr>
            <a:r>
              <a:rPr lang="en-US" sz="3209">
                <a:solidFill>
                  <a:srgbClr val="31356E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2006년까지 디젤은 왜 연비는 높고 배출량은 낮았을까?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24204" y="1028700"/>
            <a:ext cx="231287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03 핵심 분석 내용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64508" y="4066301"/>
            <a:ext cx="6131180" cy="4453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2F5F98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엔진사이즈의 비율이</a:t>
            </a:r>
            <a:r>
              <a:rPr lang="en-US" sz="2799">
                <a:solidFill>
                  <a:srgbClr val="2F5F98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2F5F98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2006년까지는 소형 엔진 위주</a:t>
            </a:r>
            <a:r>
              <a:rPr lang="en-US" sz="2799">
                <a:solidFill>
                  <a:srgbClr val="2F5F98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이다가</a:t>
            </a:r>
          </a:p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2F5F98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2007년부터 대형 엔진 위주</a:t>
            </a:r>
            <a:r>
              <a:rPr lang="en-US" sz="2799">
                <a:solidFill>
                  <a:srgbClr val="2F5F98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로</a:t>
            </a:r>
            <a:r>
              <a:rPr lang="en-US" sz="2799">
                <a:solidFill>
                  <a:srgbClr val="2F5F98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  <a:r>
              <a:rPr lang="en-US" sz="2799">
                <a:solidFill>
                  <a:srgbClr val="2F5F98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바뀜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1356E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↓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1356E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2006년까지 디젤의 연비가 좋고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1356E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배출량이 낮았던 이유는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31356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엔진 크기가 작았기 때문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412381" y="3886477"/>
            <a:ext cx="6579219" cy="5134014"/>
          </a:xfrm>
          <a:custGeom>
            <a:avLst/>
            <a:gdLst/>
            <a:ahLst/>
            <a:cxnLst/>
            <a:rect r="r" b="b" t="t" l="l"/>
            <a:pathLst>
              <a:path h="5134014" w="6579219">
                <a:moveTo>
                  <a:pt x="0" y="0"/>
                </a:moveTo>
                <a:lnTo>
                  <a:pt x="6579219" y="0"/>
                </a:lnTo>
                <a:lnTo>
                  <a:pt x="6579219" y="5134014"/>
                </a:lnTo>
                <a:lnTo>
                  <a:pt x="0" y="5134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11" r="0" b="-811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36020" y="1890600"/>
            <a:ext cx="9432714" cy="541892"/>
            <a:chOff x="0" y="0"/>
            <a:chExt cx="12576952" cy="72252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4848267" y="-57150"/>
              <a:ext cx="7728685" cy="666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13"/>
                </a:lnSpc>
                <a:spcBef>
                  <a:spcPct val="0"/>
                </a:spcBef>
              </a:pPr>
              <a:r>
                <a:rPr lang="en-US" sz="3009">
                  <a:solidFill>
                    <a:srgbClr val="31356E"/>
                  </a:solidFill>
                  <a:latin typeface="Tlab 돋움 미디움"/>
                  <a:ea typeface="Tlab 돋움 미디움"/>
                  <a:cs typeface="Tlab 돋움 미디움"/>
                  <a:sym typeface="Tlab 돋움 미디움"/>
                </a:rPr>
                <a:t>연료 종류별 평균 연비, 배출량 분석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28575"/>
              <a:ext cx="4873667" cy="751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32"/>
                </a:lnSpc>
                <a:spcBef>
                  <a:spcPct val="0"/>
                </a:spcBef>
              </a:pPr>
              <a:r>
                <a:rPr lang="en-US" sz="3380">
                  <a:solidFill>
                    <a:srgbClr val="31356E"/>
                  </a:solidFill>
                  <a:latin typeface="210 밀레니얼"/>
                  <a:ea typeface="210 밀레니얼"/>
                  <a:cs typeface="210 밀레니얼"/>
                  <a:sym typeface="210 밀레니얼"/>
                </a:rPr>
                <a:t>핵심 분석 내용 5 :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22224466" cy="1191644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224466" cy="11916444"/>
              <a:chOff x="0" y="0"/>
              <a:chExt cx="4390018" cy="235386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390018" cy="2353865"/>
              </a:xfrm>
              <a:custGeom>
                <a:avLst/>
                <a:gdLst/>
                <a:ahLst/>
                <a:cxnLst/>
                <a:rect r="r" b="b" t="t" l="l"/>
                <a:pathLst>
                  <a:path h="2353865" w="4390018">
                    <a:moveTo>
                      <a:pt x="0" y="0"/>
                    </a:moveTo>
                    <a:lnTo>
                      <a:pt x="4390018" y="0"/>
                    </a:lnTo>
                    <a:lnTo>
                      <a:pt x="4390018" y="2353865"/>
                    </a:lnTo>
                    <a:lnTo>
                      <a:pt x="0" y="235386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087BB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390018" cy="24014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6" id="6"/>
            <p:cNvSpPr/>
            <p:nvPr/>
          </p:nvSpPr>
          <p:spPr>
            <a:xfrm>
              <a:off x="0" y="1234015"/>
              <a:ext cx="22224466" cy="0"/>
            </a:xfrm>
            <a:prstGeom prst="line">
              <a:avLst/>
            </a:prstGeom>
            <a:ln cap="flat" w="25400">
              <a:solidFill>
                <a:srgbClr val="3087B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5873586" y="2680745"/>
            <a:ext cx="654082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31356E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그래서 </a:t>
            </a:r>
            <a:r>
              <a:rPr lang="en-US" b="true" sz="3200">
                <a:solidFill>
                  <a:srgbClr val="31356E"/>
                </a:solidFill>
                <a:latin typeface="Tlab 돋움 미디움 Bold"/>
                <a:ea typeface="Tlab 돋움 미디움 Bold"/>
                <a:cs typeface="Tlab 돋움 미디움 Bold"/>
                <a:sym typeface="Tlab 돋움 미디움 Bold"/>
              </a:rPr>
              <a:t>최고의 연료</a:t>
            </a:r>
            <a:r>
              <a:rPr lang="en-US" sz="3200">
                <a:solidFill>
                  <a:srgbClr val="31356E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는 무엇?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24204" y="1028700"/>
            <a:ext cx="231287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03 핵심 분석 내용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168196" y="3523994"/>
            <a:ext cx="11951607" cy="4687972"/>
            <a:chOff x="0" y="0"/>
            <a:chExt cx="15935476" cy="62506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887099" y="0"/>
              <a:ext cx="8048377" cy="6250629"/>
            </a:xfrm>
            <a:custGeom>
              <a:avLst/>
              <a:gdLst/>
              <a:ahLst/>
              <a:cxnLst/>
              <a:rect r="r" b="b" t="t" l="l"/>
              <a:pathLst>
                <a:path h="6250629" w="8048377">
                  <a:moveTo>
                    <a:pt x="0" y="0"/>
                  </a:moveTo>
                  <a:lnTo>
                    <a:pt x="8048377" y="0"/>
                  </a:lnTo>
                  <a:lnTo>
                    <a:pt x="8048377" y="6250629"/>
                  </a:lnTo>
                  <a:lnTo>
                    <a:pt x="0" y="6250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23917" cy="6250629"/>
            </a:xfrm>
            <a:custGeom>
              <a:avLst/>
              <a:gdLst/>
              <a:ahLst/>
              <a:cxnLst/>
              <a:rect r="r" b="b" t="t" l="l"/>
              <a:pathLst>
                <a:path h="6250629" w="7923917">
                  <a:moveTo>
                    <a:pt x="0" y="0"/>
                  </a:moveTo>
                  <a:lnTo>
                    <a:pt x="7923917" y="0"/>
                  </a:lnTo>
                  <a:lnTo>
                    <a:pt x="7923917" y="6250629"/>
                  </a:lnTo>
                  <a:lnTo>
                    <a:pt x="0" y="6250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385844" y="8213172"/>
            <a:ext cx="13516311" cy="1045128"/>
            <a:chOff x="0" y="0"/>
            <a:chExt cx="3559852" cy="2752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59852" cy="275260"/>
            </a:xfrm>
            <a:custGeom>
              <a:avLst/>
              <a:gdLst/>
              <a:ahLst/>
              <a:cxnLst/>
              <a:rect r="r" b="b" t="t" l="l"/>
              <a:pathLst>
                <a:path h="275260" w="3559852">
                  <a:moveTo>
                    <a:pt x="18329" y="0"/>
                  </a:moveTo>
                  <a:lnTo>
                    <a:pt x="3541523" y="0"/>
                  </a:lnTo>
                  <a:cubicBezTo>
                    <a:pt x="3551646" y="0"/>
                    <a:pt x="3559852" y="8206"/>
                    <a:pt x="3559852" y="18329"/>
                  </a:cubicBezTo>
                  <a:lnTo>
                    <a:pt x="3559852" y="256931"/>
                  </a:lnTo>
                  <a:cubicBezTo>
                    <a:pt x="3559852" y="261792"/>
                    <a:pt x="3557921" y="266454"/>
                    <a:pt x="3554483" y="269892"/>
                  </a:cubicBezTo>
                  <a:cubicBezTo>
                    <a:pt x="3551046" y="273329"/>
                    <a:pt x="3546384" y="275260"/>
                    <a:pt x="3541523" y="275260"/>
                  </a:cubicBezTo>
                  <a:lnTo>
                    <a:pt x="18329" y="275260"/>
                  </a:lnTo>
                  <a:cubicBezTo>
                    <a:pt x="8206" y="275260"/>
                    <a:pt x="0" y="267054"/>
                    <a:pt x="0" y="256931"/>
                  </a:cubicBezTo>
                  <a:lnTo>
                    <a:pt x="0" y="18329"/>
                  </a:lnTo>
                  <a:cubicBezTo>
                    <a:pt x="0" y="8206"/>
                    <a:pt x="8206" y="0"/>
                    <a:pt x="18329" y="0"/>
                  </a:cubicBezTo>
                  <a:close/>
                </a:path>
              </a:pathLst>
            </a:custGeom>
            <a:solidFill>
              <a:srgbClr val="F1FA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3559852" cy="322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3087B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최근 기준으로는 디젤보다 연비가 좋고 배출량도 낮은 </a:t>
              </a:r>
              <a:r>
                <a:rPr lang="en-US" b="true" sz="2599">
                  <a:solidFill>
                    <a:srgbClr val="31356E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가솔린</a:t>
              </a:r>
              <a:r>
                <a:rPr lang="en-US" b="true" sz="2599">
                  <a:solidFill>
                    <a:srgbClr val="3087B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이 </a:t>
              </a:r>
              <a:r>
                <a:rPr lang="en-US" b="true" sz="2599">
                  <a:solidFill>
                    <a:srgbClr val="31356E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가장 효율적인 연료</a:t>
              </a:r>
              <a:r>
                <a:rPr lang="en-US" b="true" sz="2599">
                  <a:solidFill>
                    <a:srgbClr val="3087B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라고 판단됨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36020" y="1890600"/>
            <a:ext cx="9432714" cy="541892"/>
            <a:chOff x="0" y="0"/>
            <a:chExt cx="12576952" cy="722523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4848267" y="-57150"/>
              <a:ext cx="7728685" cy="666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13"/>
                </a:lnSpc>
                <a:spcBef>
                  <a:spcPct val="0"/>
                </a:spcBef>
              </a:pPr>
              <a:r>
                <a:rPr lang="en-US" sz="3009">
                  <a:solidFill>
                    <a:srgbClr val="31356E"/>
                  </a:solidFill>
                  <a:latin typeface="Tlab 돋움 미디움"/>
                  <a:ea typeface="Tlab 돋움 미디움"/>
                  <a:cs typeface="Tlab 돋움 미디움"/>
                  <a:sym typeface="Tlab 돋움 미디움"/>
                </a:rPr>
                <a:t>연료 종류별 평균 연비, 배출량 분석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-28575"/>
              <a:ext cx="4873667" cy="751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32"/>
                </a:lnSpc>
                <a:spcBef>
                  <a:spcPct val="0"/>
                </a:spcBef>
              </a:pPr>
              <a:r>
                <a:rPr lang="en-US" sz="3380">
                  <a:solidFill>
                    <a:srgbClr val="31356E"/>
                  </a:solidFill>
                  <a:latin typeface="210 밀레니얼"/>
                  <a:ea typeface="210 밀레니얼"/>
                  <a:cs typeface="210 밀레니얼"/>
                  <a:sym typeface="210 밀레니얼"/>
                </a:rPr>
                <a:t>핵심 분석 내용 5 :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-540080">
            <a:off x="3845805" y="6064945"/>
            <a:ext cx="2535390" cy="223282"/>
            <a:chOff x="0" y="0"/>
            <a:chExt cx="3380519" cy="2977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-6036" y="27064"/>
              <a:ext cx="3345622" cy="383560"/>
            </a:xfrm>
            <a:custGeom>
              <a:avLst/>
              <a:gdLst/>
              <a:ahLst/>
              <a:cxnLst/>
              <a:rect r="r" b="b" t="t" l="l"/>
              <a:pathLst>
                <a:path h="383560" w="3345622">
                  <a:moveTo>
                    <a:pt x="45971" y="0"/>
                  </a:moveTo>
                  <a:cubicBezTo>
                    <a:pt x="3179890" y="677"/>
                    <a:pt x="3180889" y="1354"/>
                    <a:pt x="3188876" y="2030"/>
                  </a:cubicBezTo>
                  <a:cubicBezTo>
                    <a:pt x="3195865" y="2707"/>
                    <a:pt x="3209842" y="4060"/>
                    <a:pt x="3209842" y="4060"/>
                  </a:cubicBezTo>
                  <a:cubicBezTo>
                    <a:pt x="3209842" y="4060"/>
                    <a:pt x="3223819" y="7443"/>
                    <a:pt x="3229809" y="8796"/>
                  </a:cubicBezTo>
                  <a:cubicBezTo>
                    <a:pt x="3236798" y="10826"/>
                    <a:pt x="3249777" y="14209"/>
                    <a:pt x="3250776" y="14209"/>
                  </a:cubicBezTo>
                  <a:cubicBezTo>
                    <a:pt x="3250776" y="14209"/>
                    <a:pt x="3262756" y="19622"/>
                    <a:pt x="3267748" y="22329"/>
                  </a:cubicBezTo>
                  <a:cubicBezTo>
                    <a:pt x="3273738" y="25035"/>
                    <a:pt x="3285719" y="30448"/>
                    <a:pt x="3285719" y="31125"/>
                  </a:cubicBezTo>
                  <a:cubicBezTo>
                    <a:pt x="3286717" y="31125"/>
                    <a:pt x="3295703" y="37891"/>
                    <a:pt x="3300695" y="41950"/>
                  </a:cubicBezTo>
                  <a:cubicBezTo>
                    <a:pt x="3305687" y="45333"/>
                    <a:pt x="3314672" y="52776"/>
                    <a:pt x="3314672" y="52776"/>
                  </a:cubicBezTo>
                  <a:cubicBezTo>
                    <a:pt x="3314672" y="52776"/>
                    <a:pt x="3321660" y="61572"/>
                    <a:pt x="3324656" y="65632"/>
                  </a:cubicBezTo>
                  <a:cubicBezTo>
                    <a:pt x="3328649" y="70368"/>
                    <a:pt x="3334639" y="78487"/>
                    <a:pt x="3334639" y="79164"/>
                  </a:cubicBezTo>
                  <a:cubicBezTo>
                    <a:pt x="3334639" y="79164"/>
                    <a:pt x="3338633" y="88637"/>
                    <a:pt x="3339631" y="93373"/>
                  </a:cubicBezTo>
                  <a:cubicBezTo>
                    <a:pt x="3341628" y="98109"/>
                    <a:pt x="3345622" y="106905"/>
                    <a:pt x="3345622" y="107582"/>
                  </a:cubicBezTo>
                  <a:cubicBezTo>
                    <a:pt x="3345622" y="107582"/>
                    <a:pt x="3345622" y="117054"/>
                    <a:pt x="3345622" y="121791"/>
                  </a:cubicBezTo>
                  <a:cubicBezTo>
                    <a:pt x="3345622" y="127204"/>
                    <a:pt x="3345622" y="136676"/>
                    <a:pt x="3345622" y="136676"/>
                  </a:cubicBezTo>
                  <a:cubicBezTo>
                    <a:pt x="3345622" y="136676"/>
                    <a:pt x="3341628" y="146149"/>
                    <a:pt x="3339631" y="150885"/>
                  </a:cubicBezTo>
                  <a:cubicBezTo>
                    <a:pt x="3338633" y="155621"/>
                    <a:pt x="3334639" y="165094"/>
                    <a:pt x="3334639" y="165094"/>
                  </a:cubicBezTo>
                  <a:cubicBezTo>
                    <a:pt x="3334639" y="165770"/>
                    <a:pt x="3328649" y="173890"/>
                    <a:pt x="3324656" y="177949"/>
                  </a:cubicBezTo>
                  <a:cubicBezTo>
                    <a:pt x="3321660" y="182686"/>
                    <a:pt x="3314672" y="190805"/>
                    <a:pt x="3314672" y="191482"/>
                  </a:cubicBezTo>
                  <a:cubicBezTo>
                    <a:pt x="3314672" y="191482"/>
                    <a:pt x="3305687" y="198248"/>
                    <a:pt x="3300695" y="202308"/>
                  </a:cubicBezTo>
                  <a:cubicBezTo>
                    <a:pt x="3295703" y="205691"/>
                    <a:pt x="3286717" y="213133"/>
                    <a:pt x="3285719" y="213133"/>
                  </a:cubicBezTo>
                  <a:cubicBezTo>
                    <a:pt x="3285719" y="213133"/>
                    <a:pt x="3273738" y="218546"/>
                    <a:pt x="3267748" y="221253"/>
                  </a:cubicBezTo>
                  <a:cubicBezTo>
                    <a:pt x="3262756" y="224636"/>
                    <a:pt x="3250776" y="230049"/>
                    <a:pt x="3250776" y="230049"/>
                  </a:cubicBezTo>
                  <a:cubicBezTo>
                    <a:pt x="3249777" y="230049"/>
                    <a:pt x="3236798" y="233432"/>
                    <a:pt x="3229809" y="234785"/>
                  </a:cubicBezTo>
                  <a:cubicBezTo>
                    <a:pt x="3223819" y="236815"/>
                    <a:pt x="3209842" y="240198"/>
                    <a:pt x="3209842" y="240198"/>
                  </a:cubicBezTo>
                  <a:cubicBezTo>
                    <a:pt x="3209842" y="240198"/>
                    <a:pt x="3195865" y="241551"/>
                    <a:pt x="3188876" y="242228"/>
                  </a:cubicBezTo>
                  <a:cubicBezTo>
                    <a:pt x="3180889" y="242904"/>
                    <a:pt x="3179890" y="243581"/>
                    <a:pt x="3166911" y="243581"/>
                  </a:cubicBezTo>
                  <a:cubicBezTo>
                    <a:pt x="3007170" y="250347"/>
                    <a:pt x="309544" y="555125"/>
                    <a:pt x="45971" y="243581"/>
                  </a:cubicBezTo>
                  <a:cubicBezTo>
                    <a:pt x="-57464" y="183362"/>
                    <a:pt x="45971" y="0"/>
                    <a:pt x="45971" y="0"/>
                  </a:cubicBezTo>
                </a:path>
              </a:pathLst>
            </a:custGeom>
            <a:solidFill>
              <a:srgbClr val="42CDEF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152377" y="5901740"/>
            <a:ext cx="2644848" cy="198583"/>
            <a:chOff x="0" y="0"/>
            <a:chExt cx="3526464" cy="2647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-5078" y="24071"/>
              <a:ext cx="3488842" cy="355116"/>
            </a:xfrm>
            <a:custGeom>
              <a:avLst/>
              <a:gdLst/>
              <a:ahLst/>
              <a:cxnLst/>
              <a:rect r="r" b="b" t="t" l="l"/>
              <a:pathLst>
                <a:path h="355116" w="3488842">
                  <a:moveTo>
                    <a:pt x="46737" y="0"/>
                  </a:moveTo>
                  <a:cubicBezTo>
                    <a:pt x="3315955" y="601"/>
                    <a:pt x="3316996" y="1203"/>
                    <a:pt x="3325328" y="1805"/>
                  </a:cubicBezTo>
                  <a:cubicBezTo>
                    <a:pt x="3332619" y="2407"/>
                    <a:pt x="3347200" y="3610"/>
                    <a:pt x="3347200" y="3610"/>
                  </a:cubicBezTo>
                  <a:cubicBezTo>
                    <a:pt x="3347200" y="3610"/>
                    <a:pt x="3361780" y="6619"/>
                    <a:pt x="3368029" y="7823"/>
                  </a:cubicBezTo>
                  <a:cubicBezTo>
                    <a:pt x="3375320" y="9628"/>
                    <a:pt x="3388859" y="12637"/>
                    <a:pt x="3389900" y="12637"/>
                  </a:cubicBezTo>
                  <a:cubicBezTo>
                    <a:pt x="3389900" y="12637"/>
                    <a:pt x="3402398" y="17451"/>
                    <a:pt x="3407606" y="19858"/>
                  </a:cubicBezTo>
                  <a:cubicBezTo>
                    <a:pt x="3413854" y="22265"/>
                    <a:pt x="3426353" y="27079"/>
                    <a:pt x="3426353" y="27681"/>
                  </a:cubicBezTo>
                  <a:cubicBezTo>
                    <a:pt x="3427394" y="27681"/>
                    <a:pt x="3436767" y="33698"/>
                    <a:pt x="3441975" y="37309"/>
                  </a:cubicBezTo>
                  <a:cubicBezTo>
                    <a:pt x="3447182" y="40318"/>
                    <a:pt x="3456555" y="46937"/>
                    <a:pt x="3456555" y="46937"/>
                  </a:cubicBezTo>
                  <a:cubicBezTo>
                    <a:pt x="3456555" y="46937"/>
                    <a:pt x="3463846" y="54760"/>
                    <a:pt x="3466970" y="58371"/>
                  </a:cubicBezTo>
                  <a:cubicBezTo>
                    <a:pt x="3471136" y="62583"/>
                    <a:pt x="3477385" y="69804"/>
                    <a:pt x="3477385" y="70406"/>
                  </a:cubicBezTo>
                  <a:cubicBezTo>
                    <a:pt x="3477385" y="70406"/>
                    <a:pt x="3481551" y="78831"/>
                    <a:pt x="3482592" y="83043"/>
                  </a:cubicBezTo>
                  <a:cubicBezTo>
                    <a:pt x="3484675" y="87256"/>
                    <a:pt x="3488841" y="95079"/>
                    <a:pt x="3488841" y="95680"/>
                  </a:cubicBezTo>
                  <a:cubicBezTo>
                    <a:pt x="3488841" y="95680"/>
                    <a:pt x="3488841" y="104105"/>
                    <a:pt x="3488841" y="108317"/>
                  </a:cubicBezTo>
                  <a:cubicBezTo>
                    <a:pt x="3488841" y="113132"/>
                    <a:pt x="3488841" y="121556"/>
                    <a:pt x="3488841" y="121556"/>
                  </a:cubicBezTo>
                  <a:cubicBezTo>
                    <a:pt x="3488841" y="121556"/>
                    <a:pt x="3484675" y="129981"/>
                    <a:pt x="3482592" y="134193"/>
                  </a:cubicBezTo>
                  <a:cubicBezTo>
                    <a:pt x="3481551" y="138406"/>
                    <a:pt x="3477385" y="146830"/>
                    <a:pt x="3477385" y="146830"/>
                  </a:cubicBezTo>
                  <a:cubicBezTo>
                    <a:pt x="3477385" y="147432"/>
                    <a:pt x="3471136" y="154653"/>
                    <a:pt x="3466970" y="158264"/>
                  </a:cubicBezTo>
                  <a:cubicBezTo>
                    <a:pt x="3463846" y="162476"/>
                    <a:pt x="3456555" y="169698"/>
                    <a:pt x="3456555" y="170299"/>
                  </a:cubicBezTo>
                  <a:cubicBezTo>
                    <a:pt x="3456555" y="170299"/>
                    <a:pt x="3447182" y="176317"/>
                    <a:pt x="3441975" y="179928"/>
                  </a:cubicBezTo>
                  <a:cubicBezTo>
                    <a:pt x="3436767" y="182936"/>
                    <a:pt x="3427394" y="189556"/>
                    <a:pt x="3426353" y="189556"/>
                  </a:cubicBezTo>
                  <a:cubicBezTo>
                    <a:pt x="3426353" y="189556"/>
                    <a:pt x="3413854" y="194370"/>
                    <a:pt x="3407606" y="196777"/>
                  </a:cubicBezTo>
                  <a:cubicBezTo>
                    <a:pt x="3402398" y="199786"/>
                    <a:pt x="3389900" y="204600"/>
                    <a:pt x="3389900" y="204600"/>
                  </a:cubicBezTo>
                  <a:cubicBezTo>
                    <a:pt x="3388859" y="204600"/>
                    <a:pt x="3375320" y="207609"/>
                    <a:pt x="3368029" y="208812"/>
                  </a:cubicBezTo>
                  <a:cubicBezTo>
                    <a:pt x="3361780" y="210618"/>
                    <a:pt x="3347200" y="213626"/>
                    <a:pt x="3347200" y="213626"/>
                  </a:cubicBezTo>
                  <a:cubicBezTo>
                    <a:pt x="3347200" y="213626"/>
                    <a:pt x="3332619" y="214830"/>
                    <a:pt x="3325328" y="215432"/>
                  </a:cubicBezTo>
                  <a:cubicBezTo>
                    <a:pt x="3316996" y="216033"/>
                    <a:pt x="3315955" y="216635"/>
                    <a:pt x="3302415" y="216635"/>
                  </a:cubicBezTo>
                  <a:cubicBezTo>
                    <a:pt x="3135778" y="222653"/>
                    <a:pt x="321689" y="525186"/>
                    <a:pt x="46737" y="216635"/>
                  </a:cubicBezTo>
                  <a:cubicBezTo>
                    <a:pt x="-58422" y="163078"/>
                    <a:pt x="46737" y="0"/>
                    <a:pt x="46737" y="0"/>
                  </a:cubicBezTo>
                </a:path>
              </a:pathLst>
            </a:custGeom>
            <a:solidFill>
              <a:srgbClr val="42CDEF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-223255">
            <a:off x="12209699" y="5788741"/>
            <a:ext cx="2644848" cy="225999"/>
            <a:chOff x="0" y="0"/>
            <a:chExt cx="3526464" cy="3013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-5078" y="27394"/>
              <a:ext cx="3488842" cy="386690"/>
            </a:xfrm>
            <a:custGeom>
              <a:avLst/>
              <a:gdLst/>
              <a:ahLst/>
              <a:cxnLst/>
              <a:rect r="r" b="b" t="t" l="l"/>
              <a:pathLst>
                <a:path h="386690" w="3488842">
                  <a:moveTo>
                    <a:pt x="46737" y="0"/>
                  </a:moveTo>
                  <a:cubicBezTo>
                    <a:pt x="3315955" y="685"/>
                    <a:pt x="3316996" y="1370"/>
                    <a:pt x="3325328" y="2054"/>
                  </a:cubicBezTo>
                  <a:cubicBezTo>
                    <a:pt x="3332619" y="2739"/>
                    <a:pt x="3347200" y="4109"/>
                    <a:pt x="3347200" y="4109"/>
                  </a:cubicBezTo>
                  <a:cubicBezTo>
                    <a:pt x="3347200" y="4109"/>
                    <a:pt x="3361780" y="7533"/>
                    <a:pt x="3368029" y="8903"/>
                  </a:cubicBezTo>
                  <a:cubicBezTo>
                    <a:pt x="3375320" y="10957"/>
                    <a:pt x="3388859" y="14382"/>
                    <a:pt x="3389900" y="14382"/>
                  </a:cubicBezTo>
                  <a:cubicBezTo>
                    <a:pt x="3389900" y="14382"/>
                    <a:pt x="3402398" y="19860"/>
                    <a:pt x="3407606" y="22600"/>
                  </a:cubicBezTo>
                  <a:cubicBezTo>
                    <a:pt x="3413854" y="25339"/>
                    <a:pt x="3426353" y="30818"/>
                    <a:pt x="3426353" y="31503"/>
                  </a:cubicBezTo>
                  <a:cubicBezTo>
                    <a:pt x="3427394" y="31503"/>
                    <a:pt x="3436767" y="38351"/>
                    <a:pt x="3441975" y="42460"/>
                  </a:cubicBezTo>
                  <a:cubicBezTo>
                    <a:pt x="3447182" y="45885"/>
                    <a:pt x="3456555" y="53418"/>
                    <a:pt x="3456555" y="53418"/>
                  </a:cubicBezTo>
                  <a:cubicBezTo>
                    <a:pt x="3456555" y="53418"/>
                    <a:pt x="3463846" y="62321"/>
                    <a:pt x="3466970" y="66430"/>
                  </a:cubicBezTo>
                  <a:cubicBezTo>
                    <a:pt x="3471136" y="71224"/>
                    <a:pt x="3477385" y="79442"/>
                    <a:pt x="3477385" y="80127"/>
                  </a:cubicBezTo>
                  <a:cubicBezTo>
                    <a:pt x="3477385" y="80127"/>
                    <a:pt x="3481551" y="89715"/>
                    <a:pt x="3482592" y="94509"/>
                  </a:cubicBezTo>
                  <a:cubicBezTo>
                    <a:pt x="3484675" y="99303"/>
                    <a:pt x="3488841" y="108206"/>
                    <a:pt x="3488841" y="108890"/>
                  </a:cubicBezTo>
                  <a:cubicBezTo>
                    <a:pt x="3488841" y="108890"/>
                    <a:pt x="3488841" y="118478"/>
                    <a:pt x="3488841" y="123272"/>
                  </a:cubicBezTo>
                  <a:cubicBezTo>
                    <a:pt x="3488841" y="128751"/>
                    <a:pt x="3488841" y="138339"/>
                    <a:pt x="3488841" y="138339"/>
                  </a:cubicBezTo>
                  <a:cubicBezTo>
                    <a:pt x="3488841" y="138339"/>
                    <a:pt x="3484675" y="147927"/>
                    <a:pt x="3482592" y="152721"/>
                  </a:cubicBezTo>
                  <a:cubicBezTo>
                    <a:pt x="3481551" y="157515"/>
                    <a:pt x="3477385" y="167102"/>
                    <a:pt x="3477385" y="167102"/>
                  </a:cubicBezTo>
                  <a:cubicBezTo>
                    <a:pt x="3477385" y="167787"/>
                    <a:pt x="3471136" y="176005"/>
                    <a:pt x="3466970" y="180114"/>
                  </a:cubicBezTo>
                  <a:cubicBezTo>
                    <a:pt x="3463846" y="184908"/>
                    <a:pt x="3456555" y="193127"/>
                    <a:pt x="3456555" y="193811"/>
                  </a:cubicBezTo>
                  <a:cubicBezTo>
                    <a:pt x="3456555" y="193811"/>
                    <a:pt x="3447182" y="200660"/>
                    <a:pt x="3441975" y="204769"/>
                  </a:cubicBezTo>
                  <a:cubicBezTo>
                    <a:pt x="3436767" y="208193"/>
                    <a:pt x="3427394" y="215726"/>
                    <a:pt x="3426353" y="215726"/>
                  </a:cubicBezTo>
                  <a:cubicBezTo>
                    <a:pt x="3426353" y="215726"/>
                    <a:pt x="3413854" y="221205"/>
                    <a:pt x="3407606" y="223945"/>
                  </a:cubicBezTo>
                  <a:cubicBezTo>
                    <a:pt x="3402398" y="227369"/>
                    <a:pt x="3389900" y="232848"/>
                    <a:pt x="3389900" y="232848"/>
                  </a:cubicBezTo>
                  <a:cubicBezTo>
                    <a:pt x="3388859" y="232848"/>
                    <a:pt x="3375320" y="236272"/>
                    <a:pt x="3368029" y="237642"/>
                  </a:cubicBezTo>
                  <a:cubicBezTo>
                    <a:pt x="3361780" y="239696"/>
                    <a:pt x="3347200" y="243120"/>
                    <a:pt x="3347200" y="243120"/>
                  </a:cubicBezTo>
                  <a:cubicBezTo>
                    <a:pt x="3347200" y="243120"/>
                    <a:pt x="3332619" y="244490"/>
                    <a:pt x="3325328" y="245175"/>
                  </a:cubicBezTo>
                  <a:cubicBezTo>
                    <a:pt x="3316996" y="245860"/>
                    <a:pt x="3315955" y="246545"/>
                    <a:pt x="3302415" y="246545"/>
                  </a:cubicBezTo>
                  <a:cubicBezTo>
                    <a:pt x="3135778" y="253393"/>
                    <a:pt x="321689" y="558418"/>
                    <a:pt x="46737" y="246545"/>
                  </a:cubicBezTo>
                  <a:cubicBezTo>
                    <a:pt x="-58422" y="185593"/>
                    <a:pt x="46737" y="0"/>
                    <a:pt x="46737" y="0"/>
                  </a:cubicBezTo>
                </a:path>
              </a:pathLst>
            </a:custGeom>
            <a:solidFill>
              <a:srgbClr val="42CDEF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1005663">
            <a:off x="9796519" y="5520556"/>
            <a:ext cx="2644848" cy="202711"/>
            <a:chOff x="0" y="0"/>
            <a:chExt cx="3526464" cy="27028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-5078" y="24571"/>
              <a:ext cx="3488842" cy="359871"/>
            </a:xfrm>
            <a:custGeom>
              <a:avLst/>
              <a:gdLst/>
              <a:ahLst/>
              <a:cxnLst/>
              <a:rect r="r" b="b" t="t" l="l"/>
              <a:pathLst>
                <a:path h="359871" w="3488842">
                  <a:moveTo>
                    <a:pt x="46737" y="0"/>
                  </a:moveTo>
                  <a:cubicBezTo>
                    <a:pt x="3315955" y="614"/>
                    <a:pt x="3316996" y="1229"/>
                    <a:pt x="3325328" y="1843"/>
                  </a:cubicBezTo>
                  <a:cubicBezTo>
                    <a:pt x="3332619" y="2457"/>
                    <a:pt x="3347200" y="3686"/>
                    <a:pt x="3347200" y="3686"/>
                  </a:cubicBezTo>
                  <a:cubicBezTo>
                    <a:pt x="3347200" y="3686"/>
                    <a:pt x="3361780" y="6757"/>
                    <a:pt x="3368029" y="7986"/>
                  </a:cubicBezTo>
                  <a:cubicBezTo>
                    <a:pt x="3375320" y="9828"/>
                    <a:pt x="3388859" y="12900"/>
                    <a:pt x="3389900" y="12900"/>
                  </a:cubicBezTo>
                  <a:cubicBezTo>
                    <a:pt x="3389900" y="12900"/>
                    <a:pt x="3402398" y="17814"/>
                    <a:pt x="3407606" y="20271"/>
                  </a:cubicBezTo>
                  <a:cubicBezTo>
                    <a:pt x="3413854" y="22728"/>
                    <a:pt x="3426353" y="27642"/>
                    <a:pt x="3426353" y="28257"/>
                  </a:cubicBezTo>
                  <a:cubicBezTo>
                    <a:pt x="3427394" y="28257"/>
                    <a:pt x="3436767" y="34400"/>
                    <a:pt x="3441975" y="38085"/>
                  </a:cubicBezTo>
                  <a:cubicBezTo>
                    <a:pt x="3447182" y="41157"/>
                    <a:pt x="3456555" y="47914"/>
                    <a:pt x="3456555" y="47914"/>
                  </a:cubicBezTo>
                  <a:cubicBezTo>
                    <a:pt x="3456555" y="47914"/>
                    <a:pt x="3463846" y="55899"/>
                    <a:pt x="3466970" y="59585"/>
                  </a:cubicBezTo>
                  <a:cubicBezTo>
                    <a:pt x="3471136" y="63885"/>
                    <a:pt x="3477385" y="71256"/>
                    <a:pt x="3477385" y="71870"/>
                  </a:cubicBezTo>
                  <a:cubicBezTo>
                    <a:pt x="3477385" y="71870"/>
                    <a:pt x="3481551" y="80470"/>
                    <a:pt x="3482592" y="84770"/>
                  </a:cubicBezTo>
                  <a:cubicBezTo>
                    <a:pt x="3484675" y="89070"/>
                    <a:pt x="3488841" y="97056"/>
                    <a:pt x="3488841" y="97670"/>
                  </a:cubicBezTo>
                  <a:cubicBezTo>
                    <a:pt x="3488841" y="97670"/>
                    <a:pt x="3488841" y="106270"/>
                    <a:pt x="3488841" y="110570"/>
                  </a:cubicBezTo>
                  <a:cubicBezTo>
                    <a:pt x="3488841" y="115484"/>
                    <a:pt x="3488841" y="124084"/>
                    <a:pt x="3488841" y="124084"/>
                  </a:cubicBezTo>
                  <a:cubicBezTo>
                    <a:pt x="3488841" y="124084"/>
                    <a:pt x="3484675" y="132684"/>
                    <a:pt x="3482592" y="136984"/>
                  </a:cubicBezTo>
                  <a:cubicBezTo>
                    <a:pt x="3481551" y="141284"/>
                    <a:pt x="3477385" y="149883"/>
                    <a:pt x="3477385" y="149883"/>
                  </a:cubicBezTo>
                  <a:cubicBezTo>
                    <a:pt x="3477385" y="150498"/>
                    <a:pt x="3471136" y="157869"/>
                    <a:pt x="3466970" y="161555"/>
                  </a:cubicBezTo>
                  <a:cubicBezTo>
                    <a:pt x="3463846" y="165855"/>
                    <a:pt x="3456555" y="173226"/>
                    <a:pt x="3456555" y="173840"/>
                  </a:cubicBezTo>
                  <a:cubicBezTo>
                    <a:pt x="3456555" y="173840"/>
                    <a:pt x="3447182" y="179983"/>
                    <a:pt x="3441975" y="183669"/>
                  </a:cubicBezTo>
                  <a:cubicBezTo>
                    <a:pt x="3436767" y="186740"/>
                    <a:pt x="3427394" y="193497"/>
                    <a:pt x="3426353" y="193497"/>
                  </a:cubicBezTo>
                  <a:cubicBezTo>
                    <a:pt x="3426353" y="193497"/>
                    <a:pt x="3413854" y="198411"/>
                    <a:pt x="3407606" y="200868"/>
                  </a:cubicBezTo>
                  <a:cubicBezTo>
                    <a:pt x="3402398" y="203940"/>
                    <a:pt x="3389900" y="208854"/>
                    <a:pt x="3389900" y="208854"/>
                  </a:cubicBezTo>
                  <a:cubicBezTo>
                    <a:pt x="3388859" y="208854"/>
                    <a:pt x="3375320" y="211925"/>
                    <a:pt x="3368029" y="213154"/>
                  </a:cubicBezTo>
                  <a:cubicBezTo>
                    <a:pt x="3361780" y="214997"/>
                    <a:pt x="3347200" y="218068"/>
                    <a:pt x="3347200" y="218068"/>
                  </a:cubicBezTo>
                  <a:cubicBezTo>
                    <a:pt x="3347200" y="218068"/>
                    <a:pt x="3332619" y="219297"/>
                    <a:pt x="3325328" y="219911"/>
                  </a:cubicBezTo>
                  <a:cubicBezTo>
                    <a:pt x="3316996" y="220525"/>
                    <a:pt x="3315955" y="221139"/>
                    <a:pt x="3302415" y="221139"/>
                  </a:cubicBezTo>
                  <a:cubicBezTo>
                    <a:pt x="3135778" y="227282"/>
                    <a:pt x="321689" y="530191"/>
                    <a:pt x="46737" y="221139"/>
                  </a:cubicBezTo>
                  <a:cubicBezTo>
                    <a:pt x="-58422" y="166469"/>
                    <a:pt x="46737" y="0"/>
                    <a:pt x="46737" y="0"/>
                  </a:cubicBezTo>
                </a:path>
              </a:pathLst>
            </a:custGeom>
            <a:solidFill>
              <a:srgbClr val="42CDEF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8100490" y="5554290"/>
            <a:ext cx="642144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F5F98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가솔린</a:t>
            </a:r>
          </a:p>
        </p:txBody>
      </p:sp>
      <p:grpSp>
        <p:nvGrpSpPr>
          <p:cNvPr name="Group 28" id="28"/>
          <p:cNvGrpSpPr/>
          <p:nvPr/>
        </p:nvGrpSpPr>
        <p:grpSpPr>
          <a:xfrm rot="2081351">
            <a:off x="3634140" y="4730819"/>
            <a:ext cx="2996590" cy="198583"/>
            <a:chOff x="0" y="0"/>
            <a:chExt cx="3995454" cy="26477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-2000" y="24071"/>
              <a:ext cx="3949074" cy="355116"/>
            </a:xfrm>
            <a:custGeom>
              <a:avLst/>
              <a:gdLst/>
              <a:ahLst/>
              <a:cxnLst/>
              <a:rect r="r" b="b" t="t" l="l"/>
              <a:pathLst>
                <a:path h="355116" w="3949074">
                  <a:moveTo>
                    <a:pt x="49200" y="0"/>
                  </a:moveTo>
                  <a:cubicBezTo>
                    <a:pt x="3753195" y="601"/>
                    <a:pt x="3754375" y="1203"/>
                    <a:pt x="3763815" y="1805"/>
                  </a:cubicBezTo>
                  <a:cubicBezTo>
                    <a:pt x="3772075" y="2407"/>
                    <a:pt x="3788595" y="3610"/>
                    <a:pt x="3788595" y="3610"/>
                  </a:cubicBezTo>
                  <a:cubicBezTo>
                    <a:pt x="3788595" y="3610"/>
                    <a:pt x="3805115" y="6619"/>
                    <a:pt x="3812195" y="7823"/>
                  </a:cubicBezTo>
                  <a:cubicBezTo>
                    <a:pt x="3820455" y="9628"/>
                    <a:pt x="3835795" y="12637"/>
                    <a:pt x="3836975" y="12637"/>
                  </a:cubicBezTo>
                  <a:cubicBezTo>
                    <a:pt x="3836975" y="12637"/>
                    <a:pt x="3851134" y="17451"/>
                    <a:pt x="3857034" y="19858"/>
                  </a:cubicBezTo>
                  <a:cubicBezTo>
                    <a:pt x="3864114" y="22265"/>
                    <a:pt x="3878274" y="27079"/>
                    <a:pt x="3878274" y="27681"/>
                  </a:cubicBezTo>
                  <a:cubicBezTo>
                    <a:pt x="3879454" y="27681"/>
                    <a:pt x="3890074" y="33698"/>
                    <a:pt x="3895974" y="37309"/>
                  </a:cubicBezTo>
                  <a:cubicBezTo>
                    <a:pt x="3901874" y="40318"/>
                    <a:pt x="3912494" y="46937"/>
                    <a:pt x="3912494" y="46937"/>
                  </a:cubicBezTo>
                  <a:cubicBezTo>
                    <a:pt x="3912494" y="46937"/>
                    <a:pt x="3920754" y="54760"/>
                    <a:pt x="3924294" y="58371"/>
                  </a:cubicBezTo>
                  <a:cubicBezTo>
                    <a:pt x="3929014" y="62583"/>
                    <a:pt x="3936094" y="69804"/>
                    <a:pt x="3936094" y="70406"/>
                  </a:cubicBezTo>
                  <a:cubicBezTo>
                    <a:pt x="3936094" y="70406"/>
                    <a:pt x="3940814" y="78831"/>
                    <a:pt x="3941994" y="83043"/>
                  </a:cubicBezTo>
                  <a:cubicBezTo>
                    <a:pt x="3944354" y="87256"/>
                    <a:pt x="3949074" y="95079"/>
                    <a:pt x="3949074" y="95680"/>
                  </a:cubicBezTo>
                  <a:cubicBezTo>
                    <a:pt x="3949074" y="95680"/>
                    <a:pt x="3949074" y="104105"/>
                    <a:pt x="3949074" y="108317"/>
                  </a:cubicBezTo>
                  <a:cubicBezTo>
                    <a:pt x="3949074" y="113132"/>
                    <a:pt x="3949074" y="121556"/>
                    <a:pt x="3949074" y="121556"/>
                  </a:cubicBezTo>
                  <a:cubicBezTo>
                    <a:pt x="3949074" y="121556"/>
                    <a:pt x="3944354" y="129981"/>
                    <a:pt x="3941994" y="134193"/>
                  </a:cubicBezTo>
                  <a:cubicBezTo>
                    <a:pt x="3940814" y="138406"/>
                    <a:pt x="3936094" y="146830"/>
                    <a:pt x="3936094" y="146830"/>
                  </a:cubicBezTo>
                  <a:cubicBezTo>
                    <a:pt x="3936094" y="147432"/>
                    <a:pt x="3929014" y="154653"/>
                    <a:pt x="3924294" y="158264"/>
                  </a:cubicBezTo>
                  <a:cubicBezTo>
                    <a:pt x="3920754" y="162476"/>
                    <a:pt x="3912494" y="169698"/>
                    <a:pt x="3912494" y="170299"/>
                  </a:cubicBezTo>
                  <a:cubicBezTo>
                    <a:pt x="3912494" y="170299"/>
                    <a:pt x="3901874" y="176317"/>
                    <a:pt x="3895974" y="179928"/>
                  </a:cubicBezTo>
                  <a:cubicBezTo>
                    <a:pt x="3890074" y="182936"/>
                    <a:pt x="3879454" y="189556"/>
                    <a:pt x="3878274" y="189556"/>
                  </a:cubicBezTo>
                  <a:cubicBezTo>
                    <a:pt x="3878274" y="189556"/>
                    <a:pt x="3864114" y="194370"/>
                    <a:pt x="3857034" y="196777"/>
                  </a:cubicBezTo>
                  <a:cubicBezTo>
                    <a:pt x="3851134" y="199786"/>
                    <a:pt x="3836975" y="204600"/>
                    <a:pt x="3836975" y="204600"/>
                  </a:cubicBezTo>
                  <a:cubicBezTo>
                    <a:pt x="3835795" y="204600"/>
                    <a:pt x="3820455" y="207609"/>
                    <a:pt x="3812195" y="208812"/>
                  </a:cubicBezTo>
                  <a:cubicBezTo>
                    <a:pt x="3805115" y="210618"/>
                    <a:pt x="3788595" y="213626"/>
                    <a:pt x="3788595" y="213626"/>
                  </a:cubicBezTo>
                  <a:cubicBezTo>
                    <a:pt x="3788595" y="213626"/>
                    <a:pt x="3772075" y="214830"/>
                    <a:pt x="3763815" y="215432"/>
                  </a:cubicBezTo>
                  <a:cubicBezTo>
                    <a:pt x="3754375" y="216033"/>
                    <a:pt x="3753195" y="216635"/>
                    <a:pt x="3737855" y="216635"/>
                  </a:cubicBezTo>
                  <a:cubicBezTo>
                    <a:pt x="3549056" y="222653"/>
                    <a:pt x="360717" y="525186"/>
                    <a:pt x="49199" y="216635"/>
                  </a:cubicBezTo>
                  <a:cubicBezTo>
                    <a:pt x="-61500" y="163078"/>
                    <a:pt x="49199" y="0"/>
                    <a:pt x="49199" y="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742226">
            <a:off x="6208053" y="5817293"/>
            <a:ext cx="2542828" cy="198583"/>
            <a:chOff x="0" y="0"/>
            <a:chExt cx="3390437" cy="26477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-5971" y="24071"/>
              <a:ext cx="3355355" cy="355116"/>
            </a:xfrm>
            <a:custGeom>
              <a:avLst/>
              <a:gdLst/>
              <a:ahLst/>
              <a:cxnLst/>
              <a:rect r="r" b="b" t="t" l="l"/>
              <a:pathLst>
                <a:path h="355116" w="3355355">
                  <a:moveTo>
                    <a:pt x="46023" y="0"/>
                  </a:moveTo>
                  <a:cubicBezTo>
                    <a:pt x="3189137" y="601"/>
                    <a:pt x="3190138" y="1203"/>
                    <a:pt x="3198149" y="1805"/>
                  </a:cubicBezTo>
                  <a:cubicBezTo>
                    <a:pt x="3205158" y="2407"/>
                    <a:pt x="3219176" y="3610"/>
                    <a:pt x="3219176" y="3610"/>
                  </a:cubicBezTo>
                  <a:cubicBezTo>
                    <a:pt x="3219176" y="3610"/>
                    <a:pt x="3233195" y="6619"/>
                    <a:pt x="3239203" y="7823"/>
                  </a:cubicBezTo>
                  <a:cubicBezTo>
                    <a:pt x="3246211" y="9628"/>
                    <a:pt x="3259229" y="12637"/>
                    <a:pt x="3260230" y="12637"/>
                  </a:cubicBezTo>
                  <a:cubicBezTo>
                    <a:pt x="3260230" y="12637"/>
                    <a:pt x="3272246" y="17451"/>
                    <a:pt x="3277252" y="19858"/>
                  </a:cubicBezTo>
                  <a:cubicBezTo>
                    <a:pt x="3283260" y="22265"/>
                    <a:pt x="3295276" y="27079"/>
                    <a:pt x="3295276" y="27681"/>
                  </a:cubicBezTo>
                  <a:cubicBezTo>
                    <a:pt x="3296277" y="27681"/>
                    <a:pt x="3305289" y="33698"/>
                    <a:pt x="3310296" y="37309"/>
                  </a:cubicBezTo>
                  <a:cubicBezTo>
                    <a:pt x="3315302" y="40318"/>
                    <a:pt x="3324314" y="46937"/>
                    <a:pt x="3324314" y="46937"/>
                  </a:cubicBezTo>
                  <a:cubicBezTo>
                    <a:pt x="3324314" y="46937"/>
                    <a:pt x="3331323" y="54760"/>
                    <a:pt x="3334327" y="58371"/>
                  </a:cubicBezTo>
                  <a:cubicBezTo>
                    <a:pt x="3338332" y="62583"/>
                    <a:pt x="3344340" y="69804"/>
                    <a:pt x="3344340" y="70406"/>
                  </a:cubicBezTo>
                  <a:cubicBezTo>
                    <a:pt x="3344340" y="70406"/>
                    <a:pt x="3348345" y="78831"/>
                    <a:pt x="3349347" y="83043"/>
                  </a:cubicBezTo>
                  <a:cubicBezTo>
                    <a:pt x="3351349" y="87256"/>
                    <a:pt x="3355355" y="95079"/>
                    <a:pt x="3355355" y="95680"/>
                  </a:cubicBezTo>
                  <a:cubicBezTo>
                    <a:pt x="3355355" y="95680"/>
                    <a:pt x="3355355" y="104105"/>
                    <a:pt x="3355355" y="108317"/>
                  </a:cubicBezTo>
                  <a:cubicBezTo>
                    <a:pt x="3355355" y="113132"/>
                    <a:pt x="3355355" y="121556"/>
                    <a:pt x="3355355" y="121556"/>
                  </a:cubicBezTo>
                  <a:cubicBezTo>
                    <a:pt x="3355355" y="121556"/>
                    <a:pt x="3351349" y="129981"/>
                    <a:pt x="3349347" y="134193"/>
                  </a:cubicBezTo>
                  <a:cubicBezTo>
                    <a:pt x="3348345" y="138406"/>
                    <a:pt x="3344340" y="146830"/>
                    <a:pt x="3344340" y="146830"/>
                  </a:cubicBezTo>
                  <a:cubicBezTo>
                    <a:pt x="3344340" y="147432"/>
                    <a:pt x="3338332" y="154653"/>
                    <a:pt x="3334327" y="158264"/>
                  </a:cubicBezTo>
                  <a:cubicBezTo>
                    <a:pt x="3331323" y="162476"/>
                    <a:pt x="3324314" y="169698"/>
                    <a:pt x="3324314" y="170299"/>
                  </a:cubicBezTo>
                  <a:cubicBezTo>
                    <a:pt x="3324314" y="170299"/>
                    <a:pt x="3315302" y="176317"/>
                    <a:pt x="3310296" y="179928"/>
                  </a:cubicBezTo>
                  <a:cubicBezTo>
                    <a:pt x="3305289" y="182936"/>
                    <a:pt x="3296277" y="189556"/>
                    <a:pt x="3295276" y="189556"/>
                  </a:cubicBezTo>
                  <a:cubicBezTo>
                    <a:pt x="3295276" y="189556"/>
                    <a:pt x="3283260" y="194370"/>
                    <a:pt x="3277252" y="196777"/>
                  </a:cubicBezTo>
                  <a:cubicBezTo>
                    <a:pt x="3272246" y="199786"/>
                    <a:pt x="3260230" y="204600"/>
                    <a:pt x="3260230" y="204600"/>
                  </a:cubicBezTo>
                  <a:cubicBezTo>
                    <a:pt x="3259229" y="204600"/>
                    <a:pt x="3246211" y="207609"/>
                    <a:pt x="3239203" y="208812"/>
                  </a:cubicBezTo>
                  <a:cubicBezTo>
                    <a:pt x="3233195" y="210618"/>
                    <a:pt x="3219176" y="213626"/>
                    <a:pt x="3219176" y="213626"/>
                  </a:cubicBezTo>
                  <a:cubicBezTo>
                    <a:pt x="3219176" y="213626"/>
                    <a:pt x="3205158" y="214830"/>
                    <a:pt x="3198149" y="215432"/>
                  </a:cubicBezTo>
                  <a:cubicBezTo>
                    <a:pt x="3190138" y="216033"/>
                    <a:pt x="3189137" y="216635"/>
                    <a:pt x="3176120" y="216635"/>
                  </a:cubicBezTo>
                  <a:cubicBezTo>
                    <a:pt x="3015910" y="222653"/>
                    <a:pt x="310369" y="525186"/>
                    <a:pt x="46023" y="216635"/>
                  </a:cubicBezTo>
                  <a:cubicBezTo>
                    <a:pt x="-57529" y="163078"/>
                    <a:pt x="46023" y="0"/>
                    <a:pt x="46023" y="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8610014">
            <a:off x="9600585" y="6592063"/>
            <a:ext cx="3054305" cy="198583"/>
            <a:chOff x="0" y="0"/>
            <a:chExt cx="4072407" cy="26477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-1495" y="24071"/>
              <a:ext cx="4024590" cy="355116"/>
            </a:xfrm>
            <a:custGeom>
              <a:avLst/>
              <a:gdLst/>
              <a:ahLst/>
              <a:cxnLst/>
              <a:rect r="r" b="b" t="t" l="l"/>
              <a:pathLst>
                <a:path h="355116" w="4024590">
                  <a:moveTo>
                    <a:pt x="49604" y="0"/>
                  </a:moveTo>
                  <a:cubicBezTo>
                    <a:pt x="3824939" y="601"/>
                    <a:pt x="3826141" y="1203"/>
                    <a:pt x="3835763" y="1805"/>
                  </a:cubicBezTo>
                  <a:cubicBezTo>
                    <a:pt x="3844182" y="2407"/>
                    <a:pt x="3861020" y="3610"/>
                    <a:pt x="3861020" y="3610"/>
                  </a:cubicBezTo>
                  <a:cubicBezTo>
                    <a:pt x="3861020" y="3610"/>
                    <a:pt x="3877858" y="6619"/>
                    <a:pt x="3885075" y="7823"/>
                  </a:cubicBezTo>
                  <a:cubicBezTo>
                    <a:pt x="3893493" y="9628"/>
                    <a:pt x="3909129" y="12637"/>
                    <a:pt x="3910332" y="12637"/>
                  </a:cubicBezTo>
                  <a:cubicBezTo>
                    <a:pt x="3910332" y="12637"/>
                    <a:pt x="3924764" y="17451"/>
                    <a:pt x="3930778" y="19858"/>
                  </a:cubicBezTo>
                  <a:cubicBezTo>
                    <a:pt x="3937994" y="22265"/>
                    <a:pt x="3952427" y="27079"/>
                    <a:pt x="3952427" y="27681"/>
                  </a:cubicBezTo>
                  <a:cubicBezTo>
                    <a:pt x="3953629" y="27681"/>
                    <a:pt x="3964454" y="33698"/>
                    <a:pt x="3970468" y="37309"/>
                  </a:cubicBezTo>
                  <a:cubicBezTo>
                    <a:pt x="3976481" y="40318"/>
                    <a:pt x="3987306" y="46937"/>
                    <a:pt x="3987306" y="46937"/>
                  </a:cubicBezTo>
                  <a:cubicBezTo>
                    <a:pt x="3987306" y="46937"/>
                    <a:pt x="3995724" y="54760"/>
                    <a:pt x="3999333" y="58371"/>
                  </a:cubicBezTo>
                  <a:cubicBezTo>
                    <a:pt x="4004144" y="62583"/>
                    <a:pt x="4011360" y="69804"/>
                    <a:pt x="4011360" y="70406"/>
                  </a:cubicBezTo>
                  <a:cubicBezTo>
                    <a:pt x="4011360" y="70406"/>
                    <a:pt x="4016171" y="78831"/>
                    <a:pt x="4017374" y="83043"/>
                  </a:cubicBezTo>
                  <a:cubicBezTo>
                    <a:pt x="4019779" y="87256"/>
                    <a:pt x="4024590" y="95079"/>
                    <a:pt x="4024590" y="95680"/>
                  </a:cubicBezTo>
                  <a:cubicBezTo>
                    <a:pt x="4024590" y="95680"/>
                    <a:pt x="4024590" y="104105"/>
                    <a:pt x="4024590" y="108317"/>
                  </a:cubicBezTo>
                  <a:cubicBezTo>
                    <a:pt x="4024590" y="113132"/>
                    <a:pt x="4024590" y="121556"/>
                    <a:pt x="4024590" y="121556"/>
                  </a:cubicBezTo>
                  <a:cubicBezTo>
                    <a:pt x="4024590" y="121556"/>
                    <a:pt x="4019779" y="129981"/>
                    <a:pt x="4017374" y="134193"/>
                  </a:cubicBezTo>
                  <a:cubicBezTo>
                    <a:pt x="4016171" y="138406"/>
                    <a:pt x="4011360" y="146830"/>
                    <a:pt x="4011360" y="146830"/>
                  </a:cubicBezTo>
                  <a:cubicBezTo>
                    <a:pt x="4011360" y="147432"/>
                    <a:pt x="4004144" y="154653"/>
                    <a:pt x="3999333" y="158264"/>
                  </a:cubicBezTo>
                  <a:cubicBezTo>
                    <a:pt x="3995724" y="162476"/>
                    <a:pt x="3987306" y="169698"/>
                    <a:pt x="3987306" y="170299"/>
                  </a:cubicBezTo>
                  <a:cubicBezTo>
                    <a:pt x="3987306" y="170299"/>
                    <a:pt x="3976481" y="176317"/>
                    <a:pt x="3970468" y="179928"/>
                  </a:cubicBezTo>
                  <a:cubicBezTo>
                    <a:pt x="3964454" y="182936"/>
                    <a:pt x="3953629" y="189556"/>
                    <a:pt x="3952427" y="189556"/>
                  </a:cubicBezTo>
                  <a:cubicBezTo>
                    <a:pt x="3952427" y="189556"/>
                    <a:pt x="3937994" y="194370"/>
                    <a:pt x="3930778" y="196777"/>
                  </a:cubicBezTo>
                  <a:cubicBezTo>
                    <a:pt x="3924764" y="199786"/>
                    <a:pt x="3910332" y="204600"/>
                    <a:pt x="3910332" y="204600"/>
                  </a:cubicBezTo>
                  <a:cubicBezTo>
                    <a:pt x="3909129" y="204600"/>
                    <a:pt x="3893493" y="207609"/>
                    <a:pt x="3885075" y="208812"/>
                  </a:cubicBezTo>
                  <a:cubicBezTo>
                    <a:pt x="3877858" y="210618"/>
                    <a:pt x="3861020" y="213626"/>
                    <a:pt x="3861020" y="213626"/>
                  </a:cubicBezTo>
                  <a:cubicBezTo>
                    <a:pt x="3861020" y="213626"/>
                    <a:pt x="3844182" y="214830"/>
                    <a:pt x="3835763" y="215432"/>
                  </a:cubicBezTo>
                  <a:cubicBezTo>
                    <a:pt x="3826141" y="216033"/>
                    <a:pt x="3824939" y="216635"/>
                    <a:pt x="3809303" y="216635"/>
                  </a:cubicBezTo>
                  <a:cubicBezTo>
                    <a:pt x="3616868" y="222653"/>
                    <a:pt x="367121" y="525186"/>
                    <a:pt x="49604" y="216635"/>
                  </a:cubicBezTo>
                  <a:cubicBezTo>
                    <a:pt x="-62005" y="163078"/>
                    <a:pt x="49604" y="0"/>
                    <a:pt x="49604" y="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-1115901">
            <a:off x="12237902" y="5310419"/>
            <a:ext cx="2588442" cy="198583"/>
            <a:chOff x="0" y="0"/>
            <a:chExt cx="3451256" cy="26477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-5572" y="24071"/>
              <a:ext cx="3415037" cy="355116"/>
            </a:xfrm>
            <a:custGeom>
              <a:avLst/>
              <a:gdLst/>
              <a:ahLst/>
              <a:cxnLst/>
              <a:rect r="r" b="b" t="t" l="l"/>
              <a:pathLst>
                <a:path h="355116" w="3415037">
                  <a:moveTo>
                    <a:pt x="46343" y="0"/>
                  </a:moveTo>
                  <a:cubicBezTo>
                    <a:pt x="3245838" y="601"/>
                    <a:pt x="3246857" y="1203"/>
                    <a:pt x="3255011" y="1805"/>
                  </a:cubicBezTo>
                  <a:cubicBezTo>
                    <a:pt x="3262146" y="2407"/>
                    <a:pt x="3276416" y="3610"/>
                    <a:pt x="3276416" y="3610"/>
                  </a:cubicBezTo>
                  <a:cubicBezTo>
                    <a:pt x="3276416" y="3610"/>
                    <a:pt x="3290686" y="6619"/>
                    <a:pt x="3296802" y="7823"/>
                  </a:cubicBezTo>
                  <a:cubicBezTo>
                    <a:pt x="3303937" y="9628"/>
                    <a:pt x="3317187" y="12637"/>
                    <a:pt x="3318207" y="12637"/>
                  </a:cubicBezTo>
                  <a:cubicBezTo>
                    <a:pt x="3318207" y="12637"/>
                    <a:pt x="3330438" y="17451"/>
                    <a:pt x="3335534" y="19858"/>
                  </a:cubicBezTo>
                  <a:cubicBezTo>
                    <a:pt x="3341650" y="22265"/>
                    <a:pt x="3353881" y="27079"/>
                    <a:pt x="3353881" y="27681"/>
                  </a:cubicBezTo>
                  <a:cubicBezTo>
                    <a:pt x="3354900" y="27681"/>
                    <a:pt x="3364074" y="33698"/>
                    <a:pt x="3369170" y="37309"/>
                  </a:cubicBezTo>
                  <a:cubicBezTo>
                    <a:pt x="3374266" y="40318"/>
                    <a:pt x="3383440" y="46937"/>
                    <a:pt x="3383440" y="46937"/>
                  </a:cubicBezTo>
                  <a:cubicBezTo>
                    <a:pt x="3383440" y="46937"/>
                    <a:pt x="3390575" y="54760"/>
                    <a:pt x="3393633" y="58371"/>
                  </a:cubicBezTo>
                  <a:cubicBezTo>
                    <a:pt x="3397710" y="62583"/>
                    <a:pt x="3403825" y="69804"/>
                    <a:pt x="3403825" y="70406"/>
                  </a:cubicBezTo>
                  <a:cubicBezTo>
                    <a:pt x="3403825" y="70406"/>
                    <a:pt x="3407902" y="78831"/>
                    <a:pt x="3408922" y="83043"/>
                  </a:cubicBezTo>
                  <a:cubicBezTo>
                    <a:pt x="3410960" y="87256"/>
                    <a:pt x="3415038" y="95079"/>
                    <a:pt x="3415038" y="95680"/>
                  </a:cubicBezTo>
                  <a:cubicBezTo>
                    <a:pt x="3415038" y="95680"/>
                    <a:pt x="3415038" y="104105"/>
                    <a:pt x="3415038" y="108317"/>
                  </a:cubicBezTo>
                  <a:cubicBezTo>
                    <a:pt x="3415038" y="113132"/>
                    <a:pt x="3415038" y="121556"/>
                    <a:pt x="3415038" y="121556"/>
                  </a:cubicBezTo>
                  <a:cubicBezTo>
                    <a:pt x="3415038" y="121556"/>
                    <a:pt x="3410960" y="129981"/>
                    <a:pt x="3408922" y="134193"/>
                  </a:cubicBezTo>
                  <a:cubicBezTo>
                    <a:pt x="3407902" y="138406"/>
                    <a:pt x="3403825" y="146830"/>
                    <a:pt x="3403825" y="146830"/>
                  </a:cubicBezTo>
                  <a:cubicBezTo>
                    <a:pt x="3403825" y="147432"/>
                    <a:pt x="3397710" y="154653"/>
                    <a:pt x="3393633" y="158264"/>
                  </a:cubicBezTo>
                  <a:cubicBezTo>
                    <a:pt x="3390575" y="162476"/>
                    <a:pt x="3383440" y="169698"/>
                    <a:pt x="3383440" y="170299"/>
                  </a:cubicBezTo>
                  <a:cubicBezTo>
                    <a:pt x="3383440" y="170299"/>
                    <a:pt x="3374266" y="176317"/>
                    <a:pt x="3369170" y="179928"/>
                  </a:cubicBezTo>
                  <a:cubicBezTo>
                    <a:pt x="3364074" y="182936"/>
                    <a:pt x="3354900" y="189556"/>
                    <a:pt x="3353881" y="189556"/>
                  </a:cubicBezTo>
                  <a:cubicBezTo>
                    <a:pt x="3353881" y="189556"/>
                    <a:pt x="3341650" y="194370"/>
                    <a:pt x="3335534" y="196777"/>
                  </a:cubicBezTo>
                  <a:cubicBezTo>
                    <a:pt x="3330438" y="199786"/>
                    <a:pt x="3318207" y="204600"/>
                    <a:pt x="3318207" y="204600"/>
                  </a:cubicBezTo>
                  <a:cubicBezTo>
                    <a:pt x="3317187" y="204600"/>
                    <a:pt x="3303937" y="207609"/>
                    <a:pt x="3296802" y="208812"/>
                  </a:cubicBezTo>
                  <a:cubicBezTo>
                    <a:pt x="3290686" y="210618"/>
                    <a:pt x="3276416" y="213626"/>
                    <a:pt x="3276416" y="213626"/>
                  </a:cubicBezTo>
                  <a:cubicBezTo>
                    <a:pt x="3276416" y="213626"/>
                    <a:pt x="3262146" y="214830"/>
                    <a:pt x="3255011" y="215432"/>
                  </a:cubicBezTo>
                  <a:cubicBezTo>
                    <a:pt x="3246857" y="216033"/>
                    <a:pt x="3245838" y="216635"/>
                    <a:pt x="3232587" y="216635"/>
                  </a:cubicBezTo>
                  <a:cubicBezTo>
                    <a:pt x="3069504" y="222653"/>
                    <a:pt x="315430" y="525186"/>
                    <a:pt x="46343" y="216635"/>
                  </a:cubicBezTo>
                  <a:cubicBezTo>
                    <a:pt x="-57928" y="163078"/>
                    <a:pt x="46343" y="0"/>
                    <a:pt x="46343" y="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4148280" y="5929191"/>
            <a:ext cx="642144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F5F98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가솔린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271801" y="5204957"/>
            <a:ext cx="518623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A057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디젤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02939" y="6171503"/>
            <a:ext cx="518623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A057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디젤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560190" y="4162891"/>
            <a:ext cx="352274" cy="142875"/>
            <a:chOff x="0" y="0"/>
            <a:chExt cx="3995454" cy="162047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-2000" y="147316"/>
              <a:ext cx="3949074" cy="1526200"/>
            </a:xfrm>
            <a:custGeom>
              <a:avLst/>
              <a:gdLst/>
              <a:ahLst/>
              <a:cxnLst/>
              <a:rect r="r" b="b" t="t" l="l"/>
              <a:pathLst>
                <a:path h="1526200" w="3949074">
                  <a:moveTo>
                    <a:pt x="49200" y="0"/>
                  </a:moveTo>
                  <a:cubicBezTo>
                    <a:pt x="3753195" y="3683"/>
                    <a:pt x="3754375" y="7365"/>
                    <a:pt x="3763815" y="11048"/>
                  </a:cubicBezTo>
                  <a:cubicBezTo>
                    <a:pt x="3772075" y="14731"/>
                    <a:pt x="3788595" y="22097"/>
                    <a:pt x="3788595" y="22097"/>
                  </a:cubicBezTo>
                  <a:cubicBezTo>
                    <a:pt x="3788595" y="22097"/>
                    <a:pt x="3805115" y="40512"/>
                    <a:pt x="3812195" y="47877"/>
                  </a:cubicBezTo>
                  <a:cubicBezTo>
                    <a:pt x="3820455" y="58926"/>
                    <a:pt x="3835795" y="77340"/>
                    <a:pt x="3836975" y="77340"/>
                  </a:cubicBezTo>
                  <a:cubicBezTo>
                    <a:pt x="3836975" y="77340"/>
                    <a:pt x="3851134" y="106804"/>
                    <a:pt x="3857034" y="121535"/>
                  </a:cubicBezTo>
                  <a:cubicBezTo>
                    <a:pt x="3864114" y="136267"/>
                    <a:pt x="3878274" y="165730"/>
                    <a:pt x="3878274" y="169413"/>
                  </a:cubicBezTo>
                  <a:cubicBezTo>
                    <a:pt x="3879454" y="169413"/>
                    <a:pt x="3890074" y="206242"/>
                    <a:pt x="3895974" y="228339"/>
                  </a:cubicBezTo>
                  <a:cubicBezTo>
                    <a:pt x="3901874" y="246753"/>
                    <a:pt x="3912494" y="287265"/>
                    <a:pt x="3912494" y="287265"/>
                  </a:cubicBezTo>
                  <a:cubicBezTo>
                    <a:pt x="3912494" y="287265"/>
                    <a:pt x="3920754" y="335143"/>
                    <a:pt x="3924294" y="357240"/>
                  </a:cubicBezTo>
                  <a:cubicBezTo>
                    <a:pt x="3929014" y="383020"/>
                    <a:pt x="3936094" y="427215"/>
                    <a:pt x="3936094" y="430898"/>
                  </a:cubicBezTo>
                  <a:cubicBezTo>
                    <a:pt x="3936094" y="430898"/>
                    <a:pt x="3940814" y="482459"/>
                    <a:pt x="3941994" y="508239"/>
                  </a:cubicBezTo>
                  <a:cubicBezTo>
                    <a:pt x="3944354" y="534019"/>
                    <a:pt x="3949074" y="581897"/>
                    <a:pt x="3949074" y="585580"/>
                  </a:cubicBezTo>
                  <a:cubicBezTo>
                    <a:pt x="3949074" y="585580"/>
                    <a:pt x="3949074" y="637140"/>
                    <a:pt x="3949074" y="662920"/>
                  </a:cubicBezTo>
                  <a:cubicBezTo>
                    <a:pt x="3949074" y="692383"/>
                    <a:pt x="3949074" y="743944"/>
                    <a:pt x="3949074" y="743944"/>
                  </a:cubicBezTo>
                  <a:cubicBezTo>
                    <a:pt x="3949074" y="743944"/>
                    <a:pt x="3944354" y="795504"/>
                    <a:pt x="3941994" y="821285"/>
                  </a:cubicBezTo>
                  <a:cubicBezTo>
                    <a:pt x="3940814" y="847065"/>
                    <a:pt x="3936094" y="898625"/>
                    <a:pt x="3936094" y="898625"/>
                  </a:cubicBezTo>
                  <a:cubicBezTo>
                    <a:pt x="3936094" y="902308"/>
                    <a:pt x="3929014" y="946503"/>
                    <a:pt x="3924294" y="968600"/>
                  </a:cubicBezTo>
                  <a:cubicBezTo>
                    <a:pt x="3920754" y="994381"/>
                    <a:pt x="3912494" y="1038575"/>
                    <a:pt x="3912494" y="1042258"/>
                  </a:cubicBezTo>
                  <a:cubicBezTo>
                    <a:pt x="3912494" y="1042258"/>
                    <a:pt x="3901874" y="1079087"/>
                    <a:pt x="3895974" y="1101185"/>
                  </a:cubicBezTo>
                  <a:cubicBezTo>
                    <a:pt x="3890074" y="1119599"/>
                    <a:pt x="3879454" y="1160111"/>
                    <a:pt x="3878274" y="1160111"/>
                  </a:cubicBezTo>
                  <a:cubicBezTo>
                    <a:pt x="3878274" y="1160111"/>
                    <a:pt x="3864114" y="1189574"/>
                    <a:pt x="3857034" y="1204305"/>
                  </a:cubicBezTo>
                  <a:cubicBezTo>
                    <a:pt x="3851134" y="1222720"/>
                    <a:pt x="3836975" y="1252183"/>
                    <a:pt x="3836975" y="1252183"/>
                  </a:cubicBezTo>
                  <a:cubicBezTo>
                    <a:pt x="3835795" y="1252183"/>
                    <a:pt x="3820455" y="1270597"/>
                    <a:pt x="3812195" y="1277963"/>
                  </a:cubicBezTo>
                  <a:cubicBezTo>
                    <a:pt x="3805115" y="1289012"/>
                    <a:pt x="3788595" y="1307426"/>
                    <a:pt x="3788595" y="1307426"/>
                  </a:cubicBezTo>
                  <a:cubicBezTo>
                    <a:pt x="3788595" y="1307426"/>
                    <a:pt x="3772075" y="1314792"/>
                    <a:pt x="3763815" y="1318475"/>
                  </a:cubicBezTo>
                  <a:cubicBezTo>
                    <a:pt x="3754375" y="1322158"/>
                    <a:pt x="3753195" y="1325841"/>
                    <a:pt x="3737855" y="1325841"/>
                  </a:cubicBezTo>
                  <a:cubicBezTo>
                    <a:pt x="3549056" y="1362670"/>
                    <a:pt x="360717" y="1757637"/>
                    <a:pt x="49199" y="1325841"/>
                  </a:cubicBezTo>
                  <a:cubicBezTo>
                    <a:pt x="-61500" y="998064"/>
                    <a:pt x="49199" y="0"/>
                    <a:pt x="49199" y="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7550665" y="4572466"/>
            <a:ext cx="352274" cy="142875"/>
            <a:chOff x="0" y="0"/>
            <a:chExt cx="3995454" cy="162047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-2000" y="147316"/>
              <a:ext cx="3949074" cy="1526200"/>
            </a:xfrm>
            <a:custGeom>
              <a:avLst/>
              <a:gdLst/>
              <a:ahLst/>
              <a:cxnLst/>
              <a:rect r="r" b="b" t="t" l="l"/>
              <a:pathLst>
                <a:path h="1526200" w="3949074">
                  <a:moveTo>
                    <a:pt x="49200" y="0"/>
                  </a:moveTo>
                  <a:cubicBezTo>
                    <a:pt x="3753195" y="3683"/>
                    <a:pt x="3754375" y="7365"/>
                    <a:pt x="3763815" y="11048"/>
                  </a:cubicBezTo>
                  <a:cubicBezTo>
                    <a:pt x="3772075" y="14731"/>
                    <a:pt x="3788595" y="22097"/>
                    <a:pt x="3788595" y="22097"/>
                  </a:cubicBezTo>
                  <a:cubicBezTo>
                    <a:pt x="3788595" y="22097"/>
                    <a:pt x="3805115" y="40512"/>
                    <a:pt x="3812195" y="47877"/>
                  </a:cubicBezTo>
                  <a:cubicBezTo>
                    <a:pt x="3820455" y="58926"/>
                    <a:pt x="3835795" y="77340"/>
                    <a:pt x="3836975" y="77340"/>
                  </a:cubicBezTo>
                  <a:cubicBezTo>
                    <a:pt x="3836975" y="77340"/>
                    <a:pt x="3851134" y="106804"/>
                    <a:pt x="3857034" y="121535"/>
                  </a:cubicBezTo>
                  <a:cubicBezTo>
                    <a:pt x="3864114" y="136267"/>
                    <a:pt x="3878274" y="165730"/>
                    <a:pt x="3878274" y="169413"/>
                  </a:cubicBezTo>
                  <a:cubicBezTo>
                    <a:pt x="3879454" y="169413"/>
                    <a:pt x="3890074" y="206242"/>
                    <a:pt x="3895974" y="228339"/>
                  </a:cubicBezTo>
                  <a:cubicBezTo>
                    <a:pt x="3901874" y="246753"/>
                    <a:pt x="3912494" y="287265"/>
                    <a:pt x="3912494" y="287265"/>
                  </a:cubicBezTo>
                  <a:cubicBezTo>
                    <a:pt x="3912494" y="287265"/>
                    <a:pt x="3920754" y="335143"/>
                    <a:pt x="3924294" y="357240"/>
                  </a:cubicBezTo>
                  <a:cubicBezTo>
                    <a:pt x="3929014" y="383020"/>
                    <a:pt x="3936094" y="427215"/>
                    <a:pt x="3936094" y="430898"/>
                  </a:cubicBezTo>
                  <a:cubicBezTo>
                    <a:pt x="3936094" y="430898"/>
                    <a:pt x="3940814" y="482459"/>
                    <a:pt x="3941994" y="508239"/>
                  </a:cubicBezTo>
                  <a:cubicBezTo>
                    <a:pt x="3944354" y="534019"/>
                    <a:pt x="3949074" y="581897"/>
                    <a:pt x="3949074" y="585580"/>
                  </a:cubicBezTo>
                  <a:cubicBezTo>
                    <a:pt x="3949074" y="585580"/>
                    <a:pt x="3949074" y="637140"/>
                    <a:pt x="3949074" y="662920"/>
                  </a:cubicBezTo>
                  <a:cubicBezTo>
                    <a:pt x="3949074" y="692383"/>
                    <a:pt x="3949074" y="743944"/>
                    <a:pt x="3949074" y="743944"/>
                  </a:cubicBezTo>
                  <a:cubicBezTo>
                    <a:pt x="3949074" y="743944"/>
                    <a:pt x="3944354" y="795504"/>
                    <a:pt x="3941994" y="821285"/>
                  </a:cubicBezTo>
                  <a:cubicBezTo>
                    <a:pt x="3940814" y="847065"/>
                    <a:pt x="3936094" y="898625"/>
                    <a:pt x="3936094" y="898625"/>
                  </a:cubicBezTo>
                  <a:cubicBezTo>
                    <a:pt x="3936094" y="902308"/>
                    <a:pt x="3929014" y="946503"/>
                    <a:pt x="3924294" y="968600"/>
                  </a:cubicBezTo>
                  <a:cubicBezTo>
                    <a:pt x="3920754" y="994381"/>
                    <a:pt x="3912494" y="1038575"/>
                    <a:pt x="3912494" y="1042258"/>
                  </a:cubicBezTo>
                  <a:cubicBezTo>
                    <a:pt x="3912494" y="1042258"/>
                    <a:pt x="3901874" y="1079087"/>
                    <a:pt x="3895974" y="1101185"/>
                  </a:cubicBezTo>
                  <a:cubicBezTo>
                    <a:pt x="3890074" y="1119599"/>
                    <a:pt x="3879454" y="1160111"/>
                    <a:pt x="3878274" y="1160111"/>
                  </a:cubicBezTo>
                  <a:cubicBezTo>
                    <a:pt x="3878274" y="1160111"/>
                    <a:pt x="3864114" y="1189574"/>
                    <a:pt x="3857034" y="1204305"/>
                  </a:cubicBezTo>
                  <a:cubicBezTo>
                    <a:pt x="3851134" y="1222720"/>
                    <a:pt x="3836975" y="1252183"/>
                    <a:pt x="3836975" y="1252183"/>
                  </a:cubicBezTo>
                  <a:cubicBezTo>
                    <a:pt x="3835795" y="1252183"/>
                    <a:pt x="3820455" y="1270597"/>
                    <a:pt x="3812195" y="1277963"/>
                  </a:cubicBezTo>
                  <a:cubicBezTo>
                    <a:pt x="3805115" y="1289012"/>
                    <a:pt x="3788595" y="1307426"/>
                    <a:pt x="3788595" y="1307426"/>
                  </a:cubicBezTo>
                  <a:cubicBezTo>
                    <a:pt x="3788595" y="1307426"/>
                    <a:pt x="3772075" y="1314792"/>
                    <a:pt x="3763815" y="1318475"/>
                  </a:cubicBezTo>
                  <a:cubicBezTo>
                    <a:pt x="3754375" y="1322158"/>
                    <a:pt x="3753195" y="1325841"/>
                    <a:pt x="3737855" y="1325841"/>
                  </a:cubicBezTo>
                  <a:cubicBezTo>
                    <a:pt x="3549056" y="1362670"/>
                    <a:pt x="360717" y="1757637"/>
                    <a:pt x="49199" y="1325841"/>
                  </a:cubicBezTo>
                  <a:cubicBezTo>
                    <a:pt x="-61500" y="998064"/>
                    <a:pt x="49199" y="0"/>
                    <a:pt x="49199" y="0"/>
                  </a:cubicBezTo>
                </a:path>
              </a:pathLst>
            </a:custGeom>
            <a:solidFill>
              <a:srgbClr val="42CDEF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3551173" y="6975894"/>
            <a:ext cx="352274" cy="177969"/>
            <a:chOff x="0" y="0"/>
            <a:chExt cx="3995454" cy="201850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-2000" y="183501"/>
              <a:ext cx="3949074" cy="1870073"/>
            </a:xfrm>
            <a:custGeom>
              <a:avLst/>
              <a:gdLst/>
              <a:ahLst/>
              <a:cxnLst/>
              <a:rect r="r" b="b" t="t" l="l"/>
              <a:pathLst>
                <a:path h="1870073" w="3949074">
                  <a:moveTo>
                    <a:pt x="49200" y="0"/>
                  </a:moveTo>
                  <a:cubicBezTo>
                    <a:pt x="3753195" y="4587"/>
                    <a:pt x="3754375" y="9175"/>
                    <a:pt x="3763815" y="13762"/>
                  </a:cubicBezTo>
                  <a:cubicBezTo>
                    <a:pt x="3772075" y="18350"/>
                    <a:pt x="3788595" y="27525"/>
                    <a:pt x="3788595" y="27525"/>
                  </a:cubicBezTo>
                  <a:cubicBezTo>
                    <a:pt x="3788595" y="27525"/>
                    <a:pt x="3805115" y="50462"/>
                    <a:pt x="3812195" y="59637"/>
                  </a:cubicBezTo>
                  <a:cubicBezTo>
                    <a:pt x="3820455" y="73400"/>
                    <a:pt x="3835795" y="96338"/>
                    <a:pt x="3836975" y="96338"/>
                  </a:cubicBezTo>
                  <a:cubicBezTo>
                    <a:pt x="3836975" y="96338"/>
                    <a:pt x="3851134" y="133038"/>
                    <a:pt x="3857034" y="151388"/>
                  </a:cubicBezTo>
                  <a:cubicBezTo>
                    <a:pt x="3864114" y="169738"/>
                    <a:pt x="3878274" y="206438"/>
                    <a:pt x="3878274" y="211026"/>
                  </a:cubicBezTo>
                  <a:cubicBezTo>
                    <a:pt x="3879454" y="211026"/>
                    <a:pt x="3890074" y="256901"/>
                    <a:pt x="3895974" y="284426"/>
                  </a:cubicBezTo>
                  <a:cubicBezTo>
                    <a:pt x="3901874" y="307363"/>
                    <a:pt x="3912494" y="357826"/>
                    <a:pt x="3912494" y="357826"/>
                  </a:cubicBezTo>
                  <a:cubicBezTo>
                    <a:pt x="3912494" y="357826"/>
                    <a:pt x="3920754" y="417464"/>
                    <a:pt x="3924294" y="444989"/>
                  </a:cubicBezTo>
                  <a:cubicBezTo>
                    <a:pt x="3929014" y="477102"/>
                    <a:pt x="3936094" y="532152"/>
                    <a:pt x="3936094" y="536739"/>
                  </a:cubicBezTo>
                  <a:cubicBezTo>
                    <a:pt x="3936094" y="536739"/>
                    <a:pt x="3940814" y="600965"/>
                    <a:pt x="3941994" y="633077"/>
                  </a:cubicBezTo>
                  <a:cubicBezTo>
                    <a:pt x="3944354" y="665190"/>
                    <a:pt x="3949074" y="724827"/>
                    <a:pt x="3949074" y="729415"/>
                  </a:cubicBezTo>
                  <a:cubicBezTo>
                    <a:pt x="3949074" y="729415"/>
                    <a:pt x="3949074" y="793640"/>
                    <a:pt x="3949074" y="825753"/>
                  </a:cubicBezTo>
                  <a:cubicBezTo>
                    <a:pt x="3949074" y="862453"/>
                    <a:pt x="3949074" y="926678"/>
                    <a:pt x="3949074" y="926678"/>
                  </a:cubicBezTo>
                  <a:cubicBezTo>
                    <a:pt x="3949074" y="926678"/>
                    <a:pt x="3944354" y="990904"/>
                    <a:pt x="3941994" y="1023016"/>
                  </a:cubicBezTo>
                  <a:cubicBezTo>
                    <a:pt x="3940814" y="1055129"/>
                    <a:pt x="3936094" y="1119354"/>
                    <a:pt x="3936094" y="1119354"/>
                  </a:cubicBezTo>
                  <a:cubicBezTo>
                    <a:pt x="3936094" y="1123942"/>
                    <a:pt x="3929014" y="1178992"/>
                    <a:pt x="3924294" y="1206517"/>
                  </a:cubicBezTo>
                  <a:cubicBezTo>
                    <a:pt x="3920754" y="1238630"/>
                    <a:pt x="3912494" y="1293680"/>
                    <a:pt x="3912494" y="1298267"/>
                  </a:cubicBezTo>
                  <a:cubicBezTo>
                    <a:pt x="3912494" y="1298267"/>
                    <a:pt x="3901874" y="1344142"/>
                    <a:pt x="3895974" y="1371668"/>
                  </a:cubicBezTo>
                  <a:cubicBezTo>
                    <a:pt x="3890074" y="1394605"/>
                    <a:pt x="3879454" y="1445068"/>
                    <a:pt x="3878274" y="1445068"/>
                  </a:cubicBezTo>
                  <a:cubicBezTo>
                    <a:pt x="3878274" y="1445068"/>
                    <a:pt x="3864114" y="1481768"/>
                    <a:pt x="3857034" y="1500118"/>
                  </a:cubicBezTo>
                  <a:cubicBezTo>
                    <a:pt x="3851134" y="1523056"/>
                    <a:pt x="3836975" y="1559756"/>
                    <a:pt x="3836975" y="1559756"/>
                  </a:cubicBezTo>
                  <a:cubicBezTo>
                    <a:pt x="3835795" y="1559756"/>
                    <a:pt x="3820455" y="1582693"/>
                    <a:pt x="3812195" y="1591868"/>
                  </a:cubicBezTo>
                  <a:cubicBezTo>
                    <a:pt x="3805115" y="1605631"/>
                    <a:pt x="3788595" y="1628568"/>
                    <a:pt x="3788595" y="1628568"/>
                  </a:cubicBezTo>
                  <a:cubicBezTo>
                    <a:pt x="3788595" y="1628568"/>
                    <a:pt x="3772075" y="1637744"/>
                    <a:pt x="3763815" y="1642331"/>
                  </a:cubicBezTo>
                  <a:cubicBezTo>
                    <a:pt x="3754375" y="1646919"/>
                    <a:pt x="3753195" y="1651506"/>
                    <a:pt x="3737855" y="1651506"/>
                  </a:cubicBezTo>
                  <a:cubicBezTo>
                    <a:pt x="3549056" y="1697381"/>
                    <a:pt x="360717" y="2119487"/>
                    <a:pt x="49199" y="1651506"/>
                  </a:cubicBezTo>
                  <a:cubicBezTo>
                    <a:pt x="-61500" y="1243217"/>
                    <a:pt x="49199" y="0"/>
                    <a:pt x="49199" y="0"/>
                  </a:cubicBezTo>
                </a:path>
              </a:pathLst>
            </a:custGeom>
            <a:solidFill>
              <a:srgbClr val="42CDEF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560698" y="6532435"/>
            <a:ext cx="352274" cy="177969"/>
            <a:chOff x="0" y="0"/>
            <a:chExt cx="3995454" cy="201850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-2000" y="183501"/>
              <a:ext cx="3949074" cy="1870073"/>
            </a:xfrm>
            <a:custGeom>
              <a:avLst/>
              <a:gdLst/>
              <a:ahLst/>
              <a:cxnLst/>
              <a:rect r="r" b="b" t="t" l="l"/>
              <a:pathLst>
                <a:path h="1870073" w="3949074">
                  <a:moveTo>
                    <a:pt x="49200" y="0"/>
                  </a:moveTo>
                  <a:cubicBezTo>
                    <a:pt x="3753195" y="4587"/>
                    <a:pt x="3754375" y="9175"/>
                    <a:pt x="3763815" y="13762"/>
                  </a:cubicBezTo>
                  <a:cubicBezTo>
                    <a:pt x="3772075" y="18350"/>
                    <a:pt x="3788595" y="27525"/>
                    <a:pt x="3788595" y="27525"/>
                  </a:cubicBezTo>
                  <a:cubicBezTo>
                    <a:pt x="3788595" y="27525"/>
                    <a:pt x="3805115" y="50462"/>
                    <a:pt x="3812195" y="59637"/>
                  </a:cubicBezTo>
                  <a:cubicBezTo>
                    <a:pt x="3820455" y="73400"/>
                    <a:pt x="3835795" y="96338"/>
                    <a:pt x="3836975" y="96338"/>
                  </a:cubicBezTo>
                  <a:cubicBezTo>
                    <a:pt x="3836975" y="96338"/>
                    <a:pt x="3851134" y="133038"/>
                    <a:pt x="3857034" y="151388"/>
                  </a:cubicBezTo>
                  <a:cubicBezTo>
                    <a:pt x="3864114" y="169738"/>
                    <a:pt x="3878274" y="206438"/>
                    <a:pt x="3878274" y="211026"/>
                  </a:cubicBezTo>
                  <a:cubicBezTo>
                    <a:pt x="3879454" y="211026"/>
                    <a:pt x="3890074" y="256901"/>
                    <a:pt x="3895974" y="284426"/>
                  </a:cubicBezTo>
                  <a:cubicBezTo>
                    <a:pt x="3901874" y="307363"/>
                    <a:pt x="3912494" y="357826"/>
                    <a:pt x="3912494" y="357826"/>
                  </a:cubicBezTo>
                  <a:cubicBezTo>
                    <a:pt x="3912494" y="357826"/>
                    <a:pt x="3920754" y="417464"/>
                    <a:pt x="3924294" y="444989"/>
                  </a:cubicBezTo>
                  <a:cubicBezTo>
                    <a:pt x="3929014" y="477102"/>
                    <a:pt x="3936094" y="532152"/>
                    <a:pt x="3936094" y="536739"/>
                  </a:cubicBezTo>
                  <a:cubicBezTo>
                    <a:pt x="3936094" y="536739"/>
                    <a:pt x="3940814" y="600965"/>
                    <a:pt x="3941994" y="633077"/>
                  </a:cubicBezTo>
                  <a:cubicBezTo>
                    <a:pt x="3944354" y="665190"/>
                    <a:pt x="3949074" y="724827"/>
                    <a:pt x="3949074" y="729415"/>
                  </a:cubicBezTo>
                  <a:cubicBezTo>
                    <a:pt x="3949074" y="729415"/>
                    <a:pt x="3949074" y="793640"/>
                    <a:pt x="3949074" y="825753"/>
                  </a:cubicBezTo>
                  <a:cubicBezTo>
                    <a:pt x="3949074" y="862453"/>
                    <a:pt x="3949074" y="926678"/>
                    <a:pt x="3949074" y="926678"/>
                  </a:cubicBezTo>
                  <a:cubicBezTo>
                    <a:pt x="3949074" y="926678"/>
                    <a:pt x="3944354" y="990904"/>
                    <a:pt x="3941994" y="1023016"/>
                  </a:cubicBezTo>
                  <a:cubicBezTo>
                    <a:pt x="3940814" y="1055129"/>
                    <a:pt x="3936094" y="1119354"/>
                    <a:pt x="3936094" y="1119354"/>
                  </a:cubicBezTo>
                  <a:cubicBezTo>
                    <a:pt x="3936094" y="1123942"/>
                    <a:pt x="3929014" y="1178992"/>
                    <a:pt x="3924294" y="1206517"/>
                  </a:cubicBezTo>
                  <a:cubicBezTo>
                    <a:pt x="3920754" y="1238630"/>
                    <a:pt x="3912494" y="1293680"/>
                    <a:pt x="3912494" y="1298267"/>
                  </a:cubicBezTo>
                  <a:cubicBezTo>
                    <a:pt x="3912494" y="1298267"/>
                    <a:pt x="3901874" y="1344142"/>
                    <a:pt x="3895974" y="1371668"/>
                  </a:cubicBezTo>
                  <a:cubicBezTo>
                    <a:pt x="3890074" y="1394605"/>
                    <a:pt x="3879454" y="1445068"/>
                    <a:pt x="3878274" y="1445068"/>
                  </a:cubicBezTo>
                  <a:cubicBezTo>
                    <a:pt x="3878274" y="1445068"/>
                    <a:pt x="3864114" y="1481768"/>
                    <a:pt x="3857034" y="1500118"/>
                  </a:cubicBezTo>
                  <a:cubicBezTo>
                    <a:pt x="3851134" y="1523056"/>
                    <a:pt x="3836975" y="1559756"/>
                    <a:pt x="3836975" y="1559756"/>
                  </a:cubicBezTo>
                  <a:cubicBezTo>
                    <a:pt x="3835795" y="1559756"/>
                    <a:pt x="3820455" y="1582693"/>
                    <a:pt x="3812195" y="1591868"/>
                  </a:cubicBezTo>
                  <a:cubicBezTo>
                    <a:pt x="3805115" y="1605631"/>
                    <a:pt x="3788595" y="1628568"/>
                    <a:pt x="3788595" y="1628568"/>
                  </a:cubicBezTo>
                  <a:cubicBezTo>
                    <a:pt x="3788595" y="1628568"/>
                    <a:pt x="3772075" y="1637744"/>
                    <a:pt x="3763815" y="1642331"/>
                  </a:cubicBezTo>
                  <a:cubicBezTo>
                    <a:pt x="3754375" y="1646919"/>
                    <a:pt x="3753195" y="1651506"/>
                    <a:pt x="3737855" y="1651506"/>
                  </a:cubicBezTo>
                  <a:cubicBezTo>
                    <a:pt x="3549056" y="1697381"/>
                    <a:pt x="360717" y="2119487"/>
                    <a:pt x="49199" y="1651506"/>
                  </a:cubicBezTo>
                  <a:cubicBezTo>
                    <a:pt x="-61500" y="1243217"/>
                    <a:pt x="49199" y="0"/>
                    <a:pt x="49199" y="0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22224466" cy="1191644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224466" cy="11916444"/>
              <a:chOff x="0" y="0"/>
              <a:chExt cx="4390018" cy="235386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390018" cy="2353865"/>
              </a:xfrm>
              <a:custGeom>
                <a:avLst/>
                <a:gdLst/>
                <a:ahLst/>
                <a:cxnLst/>
                <a:rect r="r" b="b" t="t" l="l"/>
                <a:pathLst>
                  <a:path h="2353865" w="4390018">
                    <a:moveTo>
                      <a:pt x="0" y="0"/>
                    </a:moveTo>
                    <a:lnTo>
                      <a:pt x="4390018" y="0"/>
                    </a:lnTo>
                    <a:lnTo>
                      <a:pt x="4390018" y="2353865"/>
                    </a:lnTo>
                    <a:lnTo>
                      <a:pt x="0" y="235386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087BB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390018" cy="24014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6" id="6"/>
            <p:cNvSpPr/>
            <p:nvPr/>
          </p:nvSpPr>
          <p:spPr>
            <a:xfrm>
              <a:off x="0" y="1234015"/>
              <a:ext cx="22224466" cy="0"/>
            </a:xfrm>
            <a:prstGeom prst="line">
              <a:avLst/>
            </a:prstGeom>
            <a:ln cap="flat" w="25400">
              <a:solidFill>
                <a:srgbClr val="3087B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658149" y="8310235"/>
            <a:ext cx="13516311" cy="1045128"/>
            <a:chOff x="0" y="0"/>
            <a:chExt cx="3559852" cy="2752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59852" cy="275260"/>
            </a:xfrm>
            <a:custGeom>
              <a:avLst/>
              <a:gdLst/>
              <a:ahLst/>
              <a:cxnLst/>
              <a:rect r="r" b="b" t="t" l="l"/>
              <a:pathLst>
                <a:path h="275260" w="3559852">
                  <a:moveTo>
                    <a:pt x="18329" y="0"/>
                  </a:moveTo>
                  <a:lnTo>
                    <a:pt x="3541523" y="0"/>
                  </a:lnTo>
                  <a:cubicBezTo>
                    <a:pt x="3551646" y="0"/>
                    <a:pt x="3559852" y="8206"/>
                    <a:pt x="3559852" y="18329"/>
                  </a:cubicBezTo>
                  <a:lnTo>
                    <a:pt x="3559852" y="256931"/>
                  </a:lnTo>
                  <a:cubicBezTo>
                    <a:pt x="3559852" y="261792"/>
                    <a:pt x="3557921" y="266454"/>
                    <a:pt x="3554483" y="269892"/>
                  </a:cubicBezTo>
                  <a:cubicBezTo>
                    <a:pt x="3551046" y="273329"/>
                    <a:pt x="3546384" y="275260"/>
                    <a:pt x="3541523" y="275260"/>
                  </a:cubicBezTo>
                  <a:lnTo>
                    <a:pt x="18329" y="275260"/>
                  </a:lnTo>
                  <a:cubicBezTo>
                    <a:pt x="8206" y="275260"/>
                    <a:pt x="0" y="267054"/>
                    <a:pt x="0" y="256931"/>
                  </a:cubicBezTo>
                  <a:lnTo>
                    <a:pt x="0" y="18329"/>
                  </a:lnTo>
                  <a:cubicBezTo>
                    <a:pt x="0" y="8206"/>
                    <a:pt x="8206" y="0"/>
                    <a:pt x="18329" y="0"/>
                  </a:cubicBezTo>
                  <a:close/>
                </a:path>
              </a:pathLst>
            </a:custGeom>
            <a:solidFill>
              <a:srgbClr val="F1FA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559852" cy="322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3087B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연도별 연비와 배출량을 봤을 때 </a:t>
              </a:r>
              <a:r>
                <a:rPr lang="en-US" b="true" sz="2599">
                  <a:solidFill>
                    <a:srgbClr val="31356E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왜건</a:t>
              </a:r>
              <a:r>
                <a:rPr lang="en-US" b="true" sz="2599">
                  <a:solidFill>
                    <a:srgbClr val="3087B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이 </a:t>
              </a:r>
              <a:r>
                <a:rPr lang="en-US" b="true" sz="2599">
                  <a:solidFill>
                    <a:srgbClr val="31356E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가장 친환경적이고 효율적인 차종</a:t>
              </a:r>
              <a:r>
                <a:rPr lang="en-US" b="true" sz="2599">
                  <a:solidFill>
                    <a:srgbClr val="3087B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임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291327" y="6465645"/>
            <a:ext cx="576478" cy="220905"/>
            <a:chOff x="0" y="0"/>
            <a:chExt cx="151830" cy="581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1830" cy="58181"/>
            </a:xfrm>
            <a:custGeom>
              <a:avLst/>
              <a:gdLst/>
              <a:ahLst/>
              <a:cxnLst/>
              <a:rect r="r" b="b" t="t" l="l"/>
              <a:pathLst>
                <a:path h="58181" w="151830">
                  <a:moveTo>
                    <a:pt x="0" y="0"/>
                  </a:moveTo>
                  <a:lnTo>
                    <a:pt x="151830" y="0"/>
                  </a:lnTo>
                  <a:lnTo>
                    <a:pt x="151830" y="58181"/>
                  </a:lnTo>
                  <a:lnTo>
                    <a:pt x="0" y="58181"/>
                  </a:lnTo>
                  <a:close/>
                </a:path>
              </a:pathLst>
            </a:custGeom>
            <a:solidFill>
              <a:srgbClr val="FFD21F">
                <a:alpha val="27843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51830" cy="1058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24204" y="1028700"/>
            <a:ext cx="231287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03 핵심 분석 내용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021037" y="3324621"/>
            <a:ext cx="5904920" cy="4766114"/>
            <a:chOff x="0" y="0"/>
            <a:chExt cx="7873227" cy="63548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73227" cy="6354819"/>
            </a:xfrm>
            <a:custGeom>
              <a:avLst/>
              <a:gdLst/>
              <a:ahLst/>
              <a:cxnLst/>
              <a:rect r="r" b="b" t="t" l="l"/>
              <a:pathLst>
                <a:path h="6354819" w="7873227">
                  <a:moveTo>
                    <a:pt x="0" y="0"/>
                  </a:moveTo>
                  <a:lnTo>
                    <a:pt x="7873227" y="0"/>
                  </a:lnTo>
                  <a:lnTo>
                    <a:pt x="7873227" y="6354819"/>
                  </a:lnTo>
                  <a:lnTo>
                    <a:pt x="0" y="635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17" id="17"/>
            <p:cNvGrpSpPr/>
            <p:nvPr/>
          </p:nvGrpSpPr>
          <p:grpSpPr>
            <a:xfrm rot="0">
              <a:off x="1419765" y="1675625"/>
              <a:ext cx="768638" cy="294541"/>
              <a:chOff x="0" y="0"/>
              <a:chExt cx="151830" cy="5818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51830" cy="58181"/>
              </a:xfrm>
              <a:custGeom>
                <a:avLst/>
                <a:gdLst/>
                <a:ahLst/>
                <a:cxnLst/>
                <a:rect r="r" b="b" t="t" l="l"/>
                <a:pathLst>
                  <a:path h="58181" w="151830">
                    <a:moveTo>
                      <a:pt x="0" y="0"/>
                    </a:moveTo>
                    <a:lnTo>
                      <a:pt x="151830" y="0"/>
                    </a:lnTo>
                    <a:lnTo>
                      <a:pt x="151830" y="58181"/>
                    </a:lnTo>
                    <a:lnTo>
                      <a:pt x="0" y="58181"/>
                    </a:lnTo>
                    <a:close/>
                  </a:path>
                </a:pathLst>
              </a:custGeom>
              <a:solidFill>
                <a:srgbClr val="FFD21F">
                  <a:alpha val="27843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151830" cy="1058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9238303" y="3458257"/>
            <a:ext cx="5831594" cy="4632479"/>
            <a:chOff x="0" y="0"/>
            <a:chExt cx="7775459" cy="61766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775459" cy="6176638"/>
            </a:xfrm>
            <a:custGeom>
              <a:avLst/>
              <a:gdLst/>
              <a:ahLst/>
              <a:cxnLst/>
              <a:rect r="r" b="b" t="t" l="l"/>
              <a:pathLst>
                <a:path h="6176638" w="7775459">
                  <a:moveTo>
                    <a:pt x="0" y="0"/>
                  </a:moveTo>
                  <a:lnTo>
                    <a:pt x="7775459" y="0"/>
                  </a:lnTo>
                  <a:lnTo>
                    <a:pt x="7775459" y="6176638"/>
                  </a:lnTo>
                  <a:lnTo>
                    <a:pt x="0" y="6176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1513750" y="4792927"/>
              <a:ext cx="768278" cy="278435"/>
              <a:chOff x="0" y="0"/>
              <a:chExt cx="128894" cy="4671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28894" cy="46713"/>
              </a:xfrm>
              <a:custGeom>
                <a:avLst/>
                <a:gdLst/>
                <a:ahLst/>
                <a:cxnLst/>
                <a:rect r="r" b="b" t="t" l="l"/>
                <a:pathLst>
                  <a:path h="46713" w="128894">
                    <a:moveTo>
                      <a:pt x="0" y="0"/>
                    </a:moveTo>
                    <a:lnTo>
                      <a:pt x="128894" y="0"/>
                    </a:lnTo>
                    <a:lnTo>
                      <a:pt x="128894" y="46713"/>
                    </a:lnTo>
                    <a:lnTo>
                      <a:pt x="0" y="46713"/>
                    </a:lnTo>
                    <a:close/>
                  </a:path>
                </a:pathLst>
              </a:custGeom>
              <a:solidFill>
                <a:srgbClr val="FFD21F">
                  <a:alpha val="27843"/>
                </a:srgbClr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128894" cy="943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1436020" y="1890600"/>
            <a:ext cx="9432714" cy="541892"/>
            <a:chOff x="0" y="0"/>
            <a:chExt cx="12576952" cy="722523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4848267" y="-57150"/>
              <a:ext cx="7728685" cy="666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13"/>
                </a:lnSpc>
                <a:spcBef>
                  <a:spcPct val="0"/>
                </a:spcBef>
              </a:pPr>
              <a:r>
                <a:rPr lang="en-US" sz="3009">
                  <a:solidFill>
                    <a:srgbClr val="31356E"/>
                  </a:solidFill>
                  <a:latin typeface="Tlab 돋움 미디움"/>
                  <a:ea typeface="Tlab 돋움 미디움"/>
                  <a:cs typeface="Tlab 돋움 미디움"/>
                  <a:sym typeface="Tlab 돋움 미디움"/>
                </a:rPr>
                <a:t>차종별 평균 연비, 배출량 분석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-28575"/>
              <a:ext cx="4873667" cy="751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32"/>
                </a:lnSpc>
                <a:spcBef>
                  <a:spcPct val="0"/>
                </a:spcBef>
              </a:pPr>
              <a:r>
                <a:rPr lang="en-US" sz="3380">
                  <a:solidFill>
                    <a:srgbClr val="31356E"/>
                  </a:solidFill>
                  <a:latin typeface="210 밀레니얼"/>
                  <a:ea typeface="210 밀레니얼"/>
                  <a:cs typeface="210 밀레니얼"/>
                  <a:sym typeface="210 밀레니얼"/>
                </a:rPr>
                <a:t>핵심 분석 내용 5 :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22224466" cy="1191644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224466" cy="11916444"/>
              <a:chOff x="0" y="0"/>
              <a:chExt cx="4390018" cy="235386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390018" cy="2353865"/>
              </a:xfrm>
              <a:custGeom>
                <a:avLst/>
                <a:gdLst/>
                <a:ahLst/>
                <a:cxnLst/>
                <a:rect r="r" b="b" t="t" l="l"/>
                <a:pathLst>
                  <a:path h="2353865" w="4390018">
                    <a:moveTo>
                      <a:pt x="0" y="0"/>
                    </a:moveTo>
                    <a:lnTo>
                      <a:pt x="4390018" y="0"/>
                    </a:lnTo>
                    <a:lnTo>
                      <a:pt x="4390018" y="2353865"/>
                    </a:lnTo>
                    <a:lnTo>
                      <a:pt x="0" y="235386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087BB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390018" cy="24014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6" id="6"/>
            <p:cNvSpPr/>
            <p:nvPr/>
          </p:nvSpPr>
          <p:spPr>
            <a:xfrm>
              <a:off x="0" y="1234015"/>
              <a:ext cx="22224466" cy="0"/>
            </a:xfrm>
            <a:prstGeom prst="line">
              <a:avLst/>
            </a:prstGeom>
            <a:ln cap="flat" w="25400">
              <a:solidFill>
                <a:srgbClr val="3087BB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632753" y="8310235"/>
            <a:ext cx="13022494" cy="1045128"/>
            <a:chOff x="0" y="0"/>
            <a:chExt cx="3429793" cy="2752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29793" cy="275260"/>
            </a:xfrm>
            <a:custGeom>
              <a:avLst/>
              <a:gdLst/>
              <a:ahLst/>
              <a:cxnLst/>
              <a:rect r="r" b="b" t="t" l="l"/>
              <a:pathLst>
                <a:path h="275260" w="3429793">
                  <a:moveTo>
                    <a:pt x="19024" y="0"/>
                  </a:moveTo>
                  <a:lnTo>
                    <a:pt x="3410769" y="0"/>
                  </a:lnTo>
                  <a:cubicBezTo>
                    <a:pt x="3415814" y="0"/>
                    <a:pt x="3420653" y="2004"/>
                    <a:pt x="3424220" y="5572"/>
                  </a:cubicBezTo>
                  <a:cubicBezTo>
                    <a:pt x="3427788" y="9140"/>
                    <a:pt x="3429793" y="13979"/>
                    <a:pt x="3429793" y="19024"/>
                  </a:cubicBezTo>
                  <a:lnTo>
                    <a:pt x="3429793" y="256236"/>
                  </a:lnTo>
                  <a:cubicBezTo>
                    <a:pt x="3429793" y="261281"/>
                    <a:pt x="3427788" y="266120"/>
                    <a:pt x="3424220" y="269688"/>
                  </a:cubicBezTo>
                  <a:cubicBezTo>
                    <a:pt x="3420653" y="273256"/>
                    <a:pt x="3415814" y="275260"/>
                    <a:pt x="3410769" y="275260"/>
                  </a:cubicBezTo>
                  <a:lnTo>
                    <a:pt x="19024" y="275260"/>
                  </a:lnTo>
                  <a:cubicBezTo>
                    <a:pt x="13979" y="275260"/>
                    <a:pt x="9140" y="273256"/>
                    <a:pt x="5572" y="269688"/>
                  </a:cubicBezTo>
                  <a:cubicBezTo>
                    <a:pt x="2004" y="266120"/>
                    <a:pt x="0" y="261281"/>
                    <a:pt x="0" y="256236"/>
                  </a:cubicBezTo>
                  <a:lnTo>
                    <a:pt x="0" y="19024"/>
                  </a:lnTo>
                  <a:cubicBezTo>
                    <a:pt x="0" y="13979"/>
                    <a:pt x="2004" y="9140"/>
                    <a:pt x="5572" y="5572"/>
                  </a:cubicBezTo>
                  <a:cubicBezTo>
                    <a:pt x="9140" y="2004"/>
                    <a:pt x="13979" y="0"/>
                    <a:pt x="19024" y="0"/>
                  </a:cubicBezTo>
                  <a:close/>
                </a:path>
              </a:pathLst>
            </a:custGeom>
            <a:solidFill>
              <a:srgbClr val="F1FA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429793" cy="322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3087B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왜건 중에서는 사이즈가 작은 </a:t>
              </a:r>
              <a:r>
                <a:rPr lang="en-US" b="true" sz="2599">
                  <a:solidFill>
                    <a:srgbClr val="31356E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스몰왜건</a:t>
              </a:r>
              <a:r>
                <a:rPr lang="en-US" b="true" sz="2599">
                  <a:solidFill>
                    <a:srgbClr val="3087B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이</a:t>
              </a:r>
              <a:r>
                <a:rPr lang="en-US" b="true" sz="2599">
                  <a:solidFill>
                    <a:srgbClr val="96C0D8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 </a:t>
              </a:r>
              <a:r>
                <a:rPr lang="en-US" b="true" sz="2599">
                  <a:solidFill>
                    <a:srgbClr val="3087B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가장 연비가 높고 배출량이 낮다!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482281" y="4031955"/>
            <a:ext cx="1338484" cy="164810"/>
            <a:chOff x="0" y="0"/>
            <a:chExt cx="352522" cy="434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2522" cy="43407"/>
            </a:xfrm>
            <a:custGeom>
              <a:avLst/>
              <a:gdLst/>
              <a:ahLst/>
              <a:cxnLst/>
              <a:rect r="r" b="b" t="t" l="l"/>
              <a:pathLst>
                <a:path h="43407" w="352522">
                  <a:moveTo>
                    <a:pt x="0" y="0"/>
                  </a:moveTo>
                  <a:lnTo>
                    <a:pt x="352522" y="0"/>
                  </a:lnTo>
                  <a:lnTo>
                    <a:pt x="352522" y="43407"/>
                  </a:lnTo>
                  <a:lnTo>
                    <a:pt x="0" y="43407"/>
                  </a:lnTo>
                  <a:close/>
                </a:path>
              </a:pathLst>
            </a:custGeom>
            <a:solidFill>
              <a:srgbClr val="FFD21F">
                <a:alpha val="27843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52522" cy="91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507342" y="3509391"/>
            <a:ext cx="8274020" cy="4800844"/>
          </a:xfrm>
          <a:custGeom>
            <a:avLst/>
            <a:gdLst/>
            <a:ahLst/>
            <a:cxnLst/>
            <a:rect r="r" b="b" t="t" l="l"/>
            <a:pathLst>
              <a:path h="4800844" w="8274020">
                <a:moveTo>
                  <a:pt x="0" y="0"/>
                </a:moveTo>
                <a:lnTo>
                  <a:pt x="8274020" y="0"/>
                </a:lnTo>
                <a:lnTo>
                  <a:pt x="8274020" y="4800844"/>
                </a:lnTo>
                <a:lnTo>
                  <a:pt x="0" y="48008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397940" y="3502830"/>
            <a:ext cx="8233768" cy="4722923"/>
          </a:xfrm>
          <a:custGeom>
            <a:avLst/>
            <a:gdLst/>
            <a:ahLst/>
            <a:cxnLst/>
            <a:rect r="r" b="b" t="t" l="l"/>
            <a:pathLst>
              <a:path h="4722923" w="8233768">
                <a:moveTo>
                  <a:pt x="0" y="0"/>
                </a:moveTo>
                <a:lnTo>
                  <a:pt x="8233768" y="0"/>
                </a:lnTo>
                <a:lnTo>
                  <a:pt x="8233768" y="4722923"/>
                </a:lnTo>
                <a:lnTo>
                  <a:pt x="0" y="4722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524204" y="1028700"/>
            <a:ext cx="231287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03 핵심 분석 내용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46720" y="2620985"/>
            <a:ext cx="6523018" cy="48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31356E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- 왜건 중에서 가장 좋은 사이즈는?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36020" y="1890600"/>
            <a:ext cx="9432714" cy="541892"/>
            <a:chOff x="0" y="0"/>
            <a:chExt cx="12576952" cy="72252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4848267" y="-57150"/>
              <a:ext cx="7728685" cy="666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13"/>
                </a:lnSpc>
                <a:spcBef>
                  <a:spcPct val="0"/>
                </a:spcBef>
              </a:pPr>
              <a:r>
                <a:rPr lang="en-US" sz="3009">
                  <a:solidFill>
                    <a:srgbClr val="31356E"/>
                  </a:solidFill>
                  <a:latin typeface="Tlab 돋움 미디움"/>
                  <a:ea typeface="Tlab 돋움 미디움"/>
                  <a:cs typeface="Tlab 돋움 미디움"/>
                  <a:sym typeface="Tlab 돋움 미디움"/>
                </a:rPr>
                <a:t>차종별 평균 연비, 배출량 분석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28575"/>
              <a:ext cx="4873667" cy="751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732"/>
                </a:lnSpc>
                <a:spcBef>
                  <a:spcPct val="0"/>
                </a:spcBef>
              </a:pPr>
              <a:r>
                <a:rPr lang="en-US" sz="3380">
                  <a:solidFill>
                    <a:srgbClr val="31356E"/>
                  </a:solidFill>
                  <a:latin typeface="210 밀레니얼"/>
                  <a:ea typeface="210 밀레니얼"/>
                  <a:cs typeface="210 밀레니얼"/>
                  <a:sym typeface="210 밀레니얼"/>
                </a:rPr>
                <a:t>핵심 분석 내용 5 :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09707" y="4225331"/>
            <a:ext cx="3649290" cy="2919432"/>
          </a:xfrm>
          <a:custGeom>
            <a:avLst/>
            <a:gdLst/>
            <a:ahLst/>
            <a:cxnLst/>
            <a:rect r="r" b="b" t="t" l="l"/>
            <a:pathLst>
              <a:path h="2919432" w="3649290">
                <a:moveTo>
                  <a:pt x="0" y="0"/>
                </a:moveTo>
                <a:lnTo>
                  <a:pt x="3649291" y="0"/>
                </a:lnTo>
                <a:lnTo>
                  <a:pt x="3649291" y="2919432"/>
                </a:lnTo>
                <a:lnTo>
                  <a:pt x="0" y="2919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499" r="0" b="-1249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20948" y="4217927"/>
            <a:ext cx="3658545" cy="2926836"/>
          </a:xfrm>
          <a:custGeom>
            <a:avLst/>
            <a:gdLst/>
            <a:ahLst/>
            <a:cxnLst/>
            <a:rect r="r" b="b" t="t" l="l"/>
            <a:pathLst>
              <a:path h="2926836" w="3658545">
                <a:moveTo>
                  <a:pt x="0" y="0"/>
                </a:moveTo>
                <a:lnTo>
                  <a:pt x="3658545" y="0"/>
                </a:lnTo>
                <a:lnTo>
                  <a:pt x="3658545" y="2926836"/>
                </a:lnTo>
                <a:lnTo>
                  <a:pt x="0" y="2926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037" t="0" r="-10037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55306" y="4225331"/>
            <a:ext cx="3649290" cy="2919432"/>
          </a:xfrm>
          <a:custGeom>
            <a:avLst/>
            <a:gdLst/>
            <a:ahLst/>
            <a:cxnLst/>
            <a:rect r="r" b="b" t="t" l="l"/>
            <a:pathLst>
              <a:path h="2919432" w="3649290">
                <a:moveTo>
                  <a:pt x="0" y="0"/>
                </a:moveTo>
                <a:lnTo>
                  <a:pt x="3649290" y="0"/>
                </a:lnTo>
                <a:lnTo>
                  <a:pt x="3649290" y="2919432"/>
                </a:lnTo>
                <a:lnTo>
                  <a:pt x="0" y="29194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037" t="0" r="-10037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41443" y="4225331"/>
            <a:ext cx="3649290" cy="2919432"/>
          </a:xfrm>
          <a:custGeom>
            <a:avLst/>
            <a:gdLst/>
            <a:ahLst/>
            <a:cxnLst/>
            <a:rect r="r" b="b" t="t" l="l"/>
            <a:pathLst>
              <a:path h="2919432" w="3649290">
                <a:moveTo>
                  <a:pt x="0" y="0"/>
                </a:moveTo>
                <a:lnTo>
                  <a:pt x="3649290" y="0"/>
                </a:lnTo>
                <a:lnTo>
                  <a:pt x="3649290" y="2919432"/>
                </a:lnTo>
                <a:lnTo>
                  <a:pt x="0" y="29194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333" t="0" r="-3333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28930" y="3354327"/>
            <a:ext cx="225004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1A6896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연료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07015" y="3354327"/>
            <a:ext cx="221194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1A6896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엔진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07653" y="3354327"/>
            <a:ext cx="191686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1A6896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실린더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18602" y="3354327"/>
            <a:ext cx="252269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1A6896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클래스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30672" y="1895878"/>
            <a:ext cx="14637724" cy="101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68"/>
              </a:lnSpc>
            </a:pPr>
            <a:r>
              <a:rPr lang="en-US" sz="5977">
                <a:solidFill>
                  <a:srgbClr val="31356E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최종 친환경 내연기관 차량 설계 제안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46198" y="4217927"/>
            <a:ext cx="3612800" cy="2919432"/>
            <a:chOff x="0" y="0"/>
            <a:chExt cx="951519" cy="7689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1519" cy="768904"/>
            </a:xfrm>
            <a:custGeom>
              <a:avLst/>
              <a:gdLst/>
              <a:ahLst/>
              <a:cxnLst/>
              <a:rect r="r" b="b" t="t" l="l"/>
              <a:pathLst>
                <a:path h="768904" w="951519">
                  <a:moveTo>
                    <a:pt x="0" y="0"/>
                  </a:moveTo>
                  <a:lnTo>
                    <a:pt x="951519" y="0"/>
                  </a:lnTo>
                  <a:lnTo>
                    <a:pt x="951519" y="768904"/>
                  </a:lnTo>
                  <a:lnTo>
                    <a:pt x="0" y="768904"/>
                  </a:lnTo>
                  <a:close/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51519" cy="816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482895" y="5335479"/>
            <a:ext cx="1302916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가솔린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328593" y="4225331"/>
            <a:ext cx="3650900" cy="2919432"/>
            <a:chOff x="0" y="0"/>
            <a:chExt cx="961554" cy="7689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1554" cy="768904"/>
            </a:xfrm>
            <a:custGeom>
              <a:avLst/>
              <a:gdLst/>
              <a:ahLst/>
              <a:cxnLst/>
              <a:rect r="r" b="b" t="t" l="l"/>
              <a:pathLst>
                <a:path h="768904" w="961554">
                  <a:moveTo>
                    <a:pt x="0" y="0"/>
                  </a:moveTo>
                  <a:lnTo>
                    <a:pt x="961554" y="0"/>
                  </a:lnTo>
                  <a:lnTo>
                    <a:pt x="961554" y="768904"/>
                  </a:lnTo>
                  <a:lnTo>
                    <a:pt x="0" y="768904"/>
                  </a:lnTo>
                  <a:close/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61554" cy="816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291456" y="5335479"/>
            <a:ext cx="1643062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3L 이하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41443" y="4225331"/>
            <a:ext cx="3649290" cy="2919432"/>
            <a:chOff x="0" y="0"/>
            <a:chExt cx="961130" cy="7689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1130" cy="768904"/>
            </a:xfrm>
            <a:custGeom>
              <a:avLst/>
              <a:gdLst/>
              <a:ahLst/>
              <a:cxnLst/>
              <a:rect r="r" b="b" t="t" l="l"/>
              <a:pathLst>
                <a:path h="768904" w="961130">
                  <a:moveTo>
                    <a:pt x="0" y="0"/>
                  </a:moveTo>
                  <a:lnTo>
                    <a:pt x="961130" y="0"/>
                  </a:lnTo>
                  <a:lnTo>
                    <a:pt x="961130" y="768904"/>
                  </a:lnTo>
                  <a:lnTo>
                    <a:pt x="0" y="768904"/>
                  </a:lnTo>
                  <a:close/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61130" cy="816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968155" y="5335479"/>
            <a:ext cx="2190676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5기통 이하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355306" y="4225331"/>
            <a:ext cx="3649290" cy="2919432"/>
            <a:chOff x="0" y="0"/>
            <a:chExt cx="961130" cy="7689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61130" cy="768904"/>
            </a:xfrm>
            <a:custGeom>
              <a:avLst/>
              <a:gdLst/>
              <a:ahLst/>
              <a:cxnLst/>
              <a:rect r="r" b="b" t="t" l="l"/>
              <a:pathLst>
                <a:path h="768904" w="961130">
                  <a:moveTo>
                    <a:pt x="0" y="0"/>
                  </a:moveTo>
                  <a:lnTo>
                    <a:pt x="961130" y="0"/>
                  </a:lnTo>
                  <a:lnTo>
                    <a:pt x="961130" y="768904"/>
                  </a:lnTo>
                  <a:lnTo>
                    <a:pt x="0" y="768904"/>
                  </a:lnTo>
                  <a:close/>
                </a:path>
              </a:pathLst>
            </a:custGeom>
            <a:solidFill>
              <a:srgbClr val="000000">
                <a:alpha val="58824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61130" cy="8165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4299930" y="5331777"/>
            <a:ext cx="1760041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스몰왜건</a:t>
            </a:r>
          </a:p>
        </p:txBody>
      </p:sp>
      <p:sp>
        <p:nvSpPr>
          <p:cNvPr name="AutoShape 30" id="30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586070" y="1028700"/>
            <a:ext cx="325101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04 자동차 설계 방안 모색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687567" y="7687688"/>
            <a:ext cx="14912865" cy="1100426"/>
            <a:chOff x="0" y="0"/>
            <a:chExt cx="3927668" cy="28982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927668" cy="289824"/>
            </a:xfrm>
            <a:custGeom>
              <a:avLst/>
              <a:gdLst/>
              <a:ahLst/>
              <a:cxnLst/>
              <a:rect r="r" b="b" t="t" l="l"/>
              <a:pathLst>
                <a:path h="289824" w="3927668">
                  <a:moveTo>
                    <a:pt x="16613" y="0"/>
                  </a:moveTo>
                  <a:lnTo>
                    <a:pt x="3911055" y="0"/>
                  </a:lnTo>
                  <a:cubicBezTo>
                    <a:pt x="3920230" y="0"/>
                    <a:pt x="3927668" y="7438"/>
                    <a:pt x="3927668" y="16613"/>
                  </a:cubicBezTo>
                  <a:lnTo>
                    <a:pt x="3927668" y="273212"/>
                  </a:lnTo>
                  <a:cubicBezTo>
                    <a:pt x="3927668" y="277618"/>
                    <a:pt x="3925918" y="281843"/>
                    <a:pt x="3922802" y="284959"/>
                  </a:cubicBezTo>
                  <a:cubicBezTo>
                    <a:pt x="3919687" y="288074"/>
                    <a:pt x="3915461" y="289824"/>
                    <a:pt x="3911055" y="289824"/>
                  </a:cubicBezTo>
                  <a:lnTo>
                    <a:pt x="16613" y="289824"/>
                  </a:lnTo>
                  <a:cubicBezTo>
                    <a:pt x="7438" y="289824"/>
                    <a:pt x="0" y="282386"/>
                    <a:pt x="0" y="273212"/>
                  </a:cubicBezTo>
                  <a:lnTo>
                    <a:pt x="0" y="16613"/>
                  </a:lnTo>
                  <a:cubicBezTo>
                    <a:pt x="0" y="7438"/>
                    <a:pt x="7438" y="0"/>
                    <a:pt x="16613" y="0"/>
                  </a:cubicBezTo>
                  <a:close/>
                </a:path>
              </a:pathLst>
            </a:custGeom>
            <a:solidFill>
              <a:srgbClr val="F1FA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3927668" cy="337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31356E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가솔린 연료</a:t>
              </a:r>
              <a:r>
                <a:rPr lang="en-US" b="true" sz="2599">
                  <a:solidFill>
                    <a:srgbClr val="3087B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에 </a:t>
              </a:r>
              <a:r>
                <a:rPr lang="en-US" b="true" sz="2599">
                  <a:solidFill>
                    <a:srgbClr val="31356E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3리터 이하 엔진</a:t>
              </a:r>
              <a:r>
                <a:rPr lang="en-US" b="true" sz="2599">
                  <a:solidFill>
                    <a:srgbClr val="3087B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과 </a:t>
              </a:r>
              <a:r>
                <a:rPr lang="en-US" b="true" sz="2599">
                  <a:solidFill>
                    <a:srgbClr val="31356E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5기통 이하 구조</a:t>
              </a:r>
              <a:r>
                <a:rPr lang="en-US" b="true" sz="2599">
                  <a:solidFill>
                    <a:srgbClr val="3087B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를 갖추고 </a:t>
              </a:r>
              <a:r>
                <a:rPr lang="en-US" b="true" sz="2599">
                  <a:solidFill>
                    <a:srgbClr val="31356E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무단변속기(AV)</a:t>
              </a:r>
              <a:r>
                <a:rPr lang="en-US" b="true" sz="2599">
                  <a:solidFill>
                    <a:srgbClr val="3087BB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를 단 </a:t>
              </a:r>
              <a:r>
                <a:rPr lang="en-US" b="true" sz="2599">
                  <a:solidFill>
                    <a:srgbClr val="31356E"/>
                  </a:solidFill>
                  <a:latin typeface="Tlab 돋움 레귤러 Bold"/>
                  <a:ea typeface="Tlab 돋움 레귤러 Bold"/>
                  <a:cs typeface="Tlab 돋움 레귤러 Bold"/>
                  <a:sym typeface="Tlab 돋움 레귤러 Bold"/>
                </a:rPr>
                <a:t>스몰왜건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90018" cy="238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194359" y="1521549"/>
            <a:ext cx="8338129" cy="8296692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70123" y="2061065"/>
            <a:ext cx="6601923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spc="-150">
                <a:solidFill>
                  <a:srgbClr val="31356E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글로벌 왜건 시장 파악</a:t>
            </a:r>
          </a:p>
        </p:txBody>
      </p:sp>
      <p:sp>
        <p:nvSpPr>
          <p:cNvPr name="AutoShape 7" id="7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355723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36693" y="1028700"/>
            <a:ext cx="342819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05 비즈니스 인사이트 제안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922350" y="7785744"/>
            <a:ext cx="688041" cy="688041"/>
          </a:xfrm>
          <a:custGeom>
            <a:avLst/>
            <a:gdLst/>
            <a:ahLst/>
            <a:cxnLst/>
            <a:rect r="r" b="b" t="t" l="l"/>
            <a:pathLst>
              <a:path h="688041" w="688041">
                <a:moveTo>
                  <a:pt x="0" y="0"/>
                </a:moveTo>
                <a:lnTo>
                  <a:pt x="688041" y="0"/>
                </a:lnTo>
                <a:lnTo>
                  <a:pt x="688041" y="688041"/>
                </a:lnTo>
                <a:lnTo>
                  <a:pt x="0" y="688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70123" y="5638800"/>
            <a:ext cx="777904" cy="795255"/>
          </a:xfrm>
          <a:custGeom>
            <a:avLst/>
            <a:gdLst/>
            <a:ahLst/>
            <a:cxnLst/>
            <a:rect r="r" b="b" t="t" l="l"/>
            <a:pathLst>
              <a:path h="795255" w="777904">
                <a:moveTo>
                  <a:pt x="0" y="0"/>
                </a:moveTo>
                <a:lnTo>
                  <a:pt x="777904" y="0"/>
                </a:lnTo>
                <a:lnTo>
                  <a:pt x="777904" y="795255"/>
                </a:lnTo>
                <a:lnTo>
                  <a:pt x="0" y="7952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903532" y="6748380"/>
            <a:ext cx="725677" cy="723039"/>
          </a:xfrm>
          <a:custGeom>
            <a:avLst/>
            <a:gdLst/>
            <a:ahLst/>
            <a:cxnLst/>
            <a:rect r="r" b="b" t="t" l="l"/>
            <a:pathLst>
              <a:path h="723039" w="725677">
                <a:moveTo>
                  <a:pt x="0" y="0"/>
                </a:moveTo>
                <a:lnTo>
                  <a:pt x="725677" y="0"/>
                </a:lnTo>
                <a:lnTo>
                  <a:pt x="725677" y="723039"/>
                </a:lnTo>
                <a:lnTo>
                  <a:pt x="0" y="7230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117692" y="5800424"/>
            <a:ext cx="6705200" cy="424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3"/>
              </a:lnSpc>
            </a:pPr>
            <a:r>
              <a:rPr lang="en-US" sz="2533">
                <a:solidFill>
                  <a:srgbClr val="6C84A1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유럽은 전 세계 왜건 시장의 40%를 차지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17692" y="6873896"/>
            <a:ext cx="6705200" cy="424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3"/>
              </a:lnSpc>
            </a:pPr>
            <a:r>
              <a:rPr lang="en-US" sz="2533">
                <a:solidFill>
                  <a:srgbClr val="6C84A1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유럽 소비자들의 높은 친환경 의식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17692" y="7891854"/>
            <a:ext cx="6705200" cy="424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3"/>
              </a:lnSpc>
            </a:pPr>
            <a:r>
              <a:rPr lang="en-US" sz="2533">
                <a:solidFill>
                  <a:srgbClr val="6C84A1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가족 단위 이동과 적재 공간을 중시하는 생활 패턴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83071" y="9583591"/>
            <a:ext cx="8397701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6C84A1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Station Wagon 2025 Trends and Forecasts 2033: Analyzing Growth Opportunities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81922" y="2092295"/>
            <a:ext cx="4077378" cy="424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3"/>
              </a:lnSpc>
            </a:pPr>
            <a:r>
              <a:rPr lang="en-US" sz="2533">
                <a:solidFill>
                  <a:srgbClr val="6C84A1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글로벌</a:t>
            </a:r>
            <a:r>
              <a:rPr lang="en-US" sz="2533">
                <a:solidFill>
                  <a:srgbClr val="6C84A1"/>
                </a:solidFill>
                <a:latin typeface="Tlab 돋움 미디움"/>
                <a:ea typeface="Tlab 돋움 미디움"/>
                <a:cs typeface="Tlab 돋움 미디움"/>
                <a:sym typeface="Tlab 돋움 미디움"/>
              </a:rPr>
              <a:t> 왜건 차량 시장 점유율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405881" y="3617705"/>
            <a:ext cx="11301259" cy="5226832"/>
          </a:xfrm>
          <a:custGeom>
            <a:avLst/>
            <a:gdLst/>
            <a:ahLst/>
            <a:cxnLst/>
            <a:rect r="r" b="b" t="t" l="l"/>
            <a:pathLst>
              <a:path h="5226832" w="11301259">
                <a:moveTo>
                  <a:pt x="0" y="0"/>
                </a:moveTo>
                <a:lnTo>
                  <a:pt x="11301259" y="0"/>
                </a:lnTo>
                <a:lnTo>
                  <a:pt x="11301259" y="5226832"/>
                </a:lnTo>
                <a:lnTo>
                  <a:pt x="0" y="52268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405881" y="6359017"/>
            <a:ext cx="11476238" cy="2423560"/>
            <a:chOff x="0" y="0"/>
            <a:chExt cx="15301651" cy="323141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5301651" cy="606980"/>
              <a:chOff x="0" y="0"/>
              <a:chExt cx="3022548" cy="11989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022548" cy="119897"/>
              </a:xfrm>
              <a:custGeom>
                <a:avLst/>
                <a:gdLst/>
                <a:ahLst/>
                <a:cxnLst/>
                <a:rect r="r" b="b" t="t" l="l"/>
                <a:pathLst>
                  <a:path h="119897" w="3022548">
                    <a:moveTo>
                      <a:pt x="0" y="0"/>
                    </a:moveTo>
                    <a:lnTo>
                      <a:pt x="3022548" y="0"/>
                    </a:lnTo>
                    <a:lnTo>
                      <a:pt x="3022548" y="119897"/>
                    </a:lnTo>
                    <a:lnTo>
                      <a:pt x="0" y="119897"/>
                    </a:lnTo>
                    <a:close/>
                  </a:path>
                </a:pathLst>
              </a:custGeom>
              <a:solidFill>
                <a:srgbClr val="F2512C">
                  <a:alpha val="23922"/>
                </a:srgbClr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3022548" cy="167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2624433"/>
              <a:ext cx="15301651" cy="606980"/>
              <a:chOff x="0" y="0"/>
              <a:chExt cx="3022548" cy="11989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22548" cy="119897"/>
              </a:xfrm>
              <a:custGeom>
                <a:avLst/>
                <a:gdLst/>
                <a:ahLst/>
                <a:cxnLst/>
                <a:rect r="r" b="b" t="t" l="l"/>
                <a:pathLst>
                  <a:path h="119897" w="3022548">
                    <a:moveTo>
                      <a:pt x="0" y="0"/>
                    </a:moveTo>
                    <a:lnTo>
                      <a:pt x="3022548" y="0"/>
                    </a:lnTo>
                    <a:lnTo>
                      <a:pt x="3022548" y="119897"/>
                    </a:lnTo>
                    <a:lnTo>
                      <a:pt x="0" y="119897"/>
                    </a:lnTo>
                    <a:close/>
                  </a:path>
                </a:pathLst>
              </a:custGeom>
              <a:solidFill>
                <a:srgbClr val="F2512C">
                  <a:alpha val="23922"/>
                </a:srgbClr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3022548" cy="167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4" id="14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36693" y="1028700"/>
            <a:ext cx="342819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05 비즈니스 인사이트 제안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60455" y="2137605"/>
            <a:ext cx="5302111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31356E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국내 왜건 시장 파악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786092" y="6317012"/>
            <a:ext cx="1096027" cy="2507570"/>
            <a:chOff x="0" y="0"/>
            <a:chExt cx="1461369" cy="3343427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461369" cy="719113"/>
              <a:chOff x="0" y="0"/>
              <a:chExt cx="666163" cy="32780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66163" cy="327807"/>
              </a:xfrm>
              <a:custGeom>
                <a:avLst/>
                <a:gdLst/>
                <a:ahLst/>
                <a:cxnLst/>
                <a:rect r="r" b="b" t="t" l="l"/>
                <a:pathLst>
                  <a:path h="327807" w="666163">
                    <a:moveTo>
                      <a:pt x="333081" y="0"/>
                    </a:moveTo>
                    <a:cubicBezTo>
                      <a:pt x="149126" y="0"/>
                      <a:pt x="0" y="73382"/>
                      <a:pt x="0" y="163903"/>
                    </a:cubicBezTo>
                    <a:cubicBezTo>
                      <a:pt x="0" y="254425"/>
                      <a:pt x="149126" y="327807"/>
                      <a:pt x="333081" y="327807"/>
                    </a:cubicBezTo>
                    <a:cubicBezTo>
                      <a:pt x="517037" y="327807"/>
                      <a:pt x="666163" y="254425"/>
                      <a:pt x="666163" y="163903"/>
                    </a:cubicBezTo>
                    <a:cubicBezTo>
                      <a:pt x="666163" y="73382"/>
                      <a:pt x="517037" y="0"/>
                      <a:pt x="33308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85725" cap="sq">
                <a:solidFill>
                  <a:srgbClr val="F2512C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62453" y="-16893"/>
                <a:ext cx="541257" cy="3139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2624314"/>
              <a:ext cx="1461369" cy="719113"/>
              <a:chOff x="0" y="0"/>
              <a:chExt cx="666163" cy="32780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66163" cy="327807"/>
              </a:xfrm>
              <a:custGeom>
                <a:avLst/>
                <a:gdLst/>
                <a:ahLst/>
                <a:cxnLst/>
                <a:rect r="r" b="b" t="t" l="l"/>
                <a:pathLst>
                  <a:path h="327807" w="666163">
                    <a:moveTo>
                      <a:pt x="333081" y="0"/>
                    </a:moveTo>
                    <a:cubicBezTo>
                      <a:pt x="149126" y="0"/>
                      <a:pt x="0" y="73382"/>
                      <a:pt x="0" y="163903"/>
                    </a:cubicBezTo>
                    <a:cubicBezTo>
                      <a:pt x="0" y="254425"/>
                      <a:pt x="149126" y="327807"/>
                      <a:pt x="333081" y="327807"/>
                    </a:cubicBezTo>
                    <a:cubicBezTo>
                      <a:pt x="517037" y="327807"/>
                      <a:pt x="666163" y="254425"/>
                      <a:pt x="666163" y="163903"/>
                    </a:cubicBezTo>
                    <a:cubicBezTo>
                      <a:pt x="666163" y="73382"/>
                      <a:pt x="517037" y="0"/>
                      <a:pt x="33308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85725" cap="sq">
                <a:solidFill>
                  <a:srgbClr val="F2512C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62453" y="-16893"/>
                <a:ext cx="541257" cy="3139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7199071" y="9583591"/>
            <a:ext cx="10283844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6C84A1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25년 7월, 신차 판매량 상승세 유지…기아 쏘렌토 2개월 연속 판매 1위 — IT동아·카이즈유데이터연구소, 2025/08/13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249261" y="3640057"/>
            <a:ext cx="11632858" cy="5182127"/>
            <a:chOff x="0" y="0"/>
            <a:chExt cx="15510478" cy="6909503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5510478" cy="6909503"/>
              <a:chOff x="0" y="0"/>
              <a:chExt cx="3063798" cy="136484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063798" cy="1364840"/>
              </a:xfrm>
              <a:custGeom>
                <a:avLst/>
                <a:gdLst/>
                <a:ahLst/>
                <a:cxnLst/>
                <a:rect r="r" b="b" t="t" l="l"/>
                <a:pathLst>
                  <a:path h="1364840" w="3063798">
                    <a:moveTo>
                      <a:pt x="0" y="0"/>
                    </a:moveTo>
                    <a:lnTo>
                      <a:pt x="3063798" y="0"/>
                    </a:lnTo>
                    <a:lnTo>
                      <a:pt x="3063798" y="1364840"/>
                    </a:lnTo>
                    <a:lnTo>
                      <a:pt x="0" y="1364840"/>
                    </a:lnTo>
                    <a:close/>
                  </a:path>
                </a:pathLst>
              </a:custGeom>
              <a:solidFill>
                <a:srgbClr val="3087BB">
                  <a:alpha val="50980"/>
                </a:srgbClr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3063798" cy="14124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4760803" y="2081015"/>
              <a:ext cx="6197699" cy="2537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098"/>
                </a:lnSpc>
                <a:spcBef>
                  <a:spcPct val="0"/>
                </a:spcBef>
              </a:pPr>
              <a:r>
                <a:rPr lang="en-US" b="true" sz="11498">
                  <a:solidFill>
                    <a:srgbClr val="FFFFFF"/>
                  </a:solidFill>
                  <a:latin typeface="Tlab 돋움 미디움 Bold"/>
                  <a:ea typeface="Tlab 돋움 미디움 Bold"/>
                  <a:cs typeface="Tlab 돋움 미디움 Bold"/>
                  <a:sym typeface="Tlab 돋움 미디움 Bold"/>
                </a:rPr>
                <a:t>0.14%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405881" y="3617705"/>
            <a:ext cx="11301259" cy="5226832"/>
          </a:xfrm>
          <a:custGeom>
            <a:avLst/>
            <a:gdLst/>
            <a:ahLst/>
            <a:cxnLst/>
            <a:rect r="r" b="b" t="t" l="l"/>
            <a:pathLst>
              <a:path h="5226832" w="11301259">
                <a:moveTo>
                  <a:pt x="0" y="0"/>
                </a:moveTo>
                <a:lnTo>
                  <a:pt x="11301259" y="0"/>
                </a:lnTo>
                <a:lnTo>
                  <a:pt x="11301259" y="5226832"/>
                </a:lnTo>
                <a:lnTo>
                  <a:pt x="0" y="52268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405881" y="6359017"/>
            <a:ext cx="11476238" cy="2423560"/>
            <a:chOff x="0" y="0"/>
            <a:chExt cx="15301651" cy="323141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5301651" cy="606980"/>
              <a:chOff x="0" y="0"/>
              <a:chExt cx="3022548" cy="11989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022548" cy="119897"/>
              </a:xfrm>
              <a:custGeom>
                <a:avLst/>
                <a:gdLst/>
                <a:ahLst/>
                <a:cxnLst/>
                <a:rect r="r" b="b" t="t" l="l"/>
                <a:pathLst>
                  <a:path h="119897" w="3022548">
                    <a:moveTo>
                      <a:pt x="0" y="0"/>
                    </a:moveTo>
                    <a:lnTo>
                      <a:pt x="3022548" y="0"/>
                    </a:lnTo>
                    <a:lnTo>
                      <a:pt x="3022548" y="119897"/>
                    </a:lnTo>
                    <a:lnTo>
                      <a:pt x="0" y="119897"/>
                    </a:lnTo>
                    <a:close/>
                  </a:path>
                </a:pathLst>
              </a:custGeom>
              <a:solidFill>
                <a:srgbClr val="F2512C">
                  <a:alpha val="23922"/>
                </a:srgbClr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3022548" cy="167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2624433"/>
              <a:ext cx="15301651" cy="606980"/>
              <a:chOff x="0" y="0"/>
              <a:chExt cx="3022548" cy="11989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22548" cy="119897"/>
              </a:xfrm>
              <a:custGeom>
                <a:avLst/>
                <a:gdLst/>
                <a:ahLst/>
                <a:cxnLst/>
                <a:rect r="r" b="b" t="t" l="l"/>
                <a:pathLst>
                  <a:path h="119897" w="3022548">
                    <a:moveTo>
                      <a:pt x="0" y="0"/>
                    </a:moveTo>
                    <a:lnTo>
                      <a:pt x="3022548" y="0"/>
                    </a:lnTo>
                    <a:lnTo>
                      <a:pt x="3022548" y="119897"/>
                    </a:lnTo>
                    <a:lnTo>
                      <a:pt x="0" y="119897"/>
                    </a:lnTo>
                    <a:close/>
                  </a:path>
                </a:pathLst>
              </a:custGeom>
              <a:solidFill>
                <a:srgbClr val="F2512C">
                  <a:alpha val="23922"/>
                </a:srgbClr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3022548" cy="1675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4" id="14"/>
          <p:cNvSpPr txBox="true"/>
          <p:nvPr/>
        </p:nvSpPr>
        <p:spPr>
          <a:xfrm rot="0">
            <a:off x="1346198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36693" y="1028700"/>
            <a:ext cx="342819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05 비즈니스 인사이트 제안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60455" y="2137605"/>
            <a:ext cx="5302111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31356E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국내 왜건 시장 파악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786092" y="6317012"/>
            <a:ext cx="1096027" cy="2507570"/>
            <a:chOff x="0" y="0"/>
            <a:chExt cx="1461369" cy="3343427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461369" cy="719113"/>
              <a:chOff x="0" y="0"/>
              <a:chExt cx="666163" cy="32780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66163" cy="327807"/>
              </a:xfrm>
              <a:custGeom>
                <a:avLst/>
                <a:gdLst/>
                <a:ahLst/>
                <a:cxnLst/>
                <a:rect r="r" b="b" t="t" l="l"/>
                <a:pathLst>
                  <a:path h="327807" w="666163">
                    <a:moveTo>
                      <a:pt x="333081" y="0"/>
                    </a:moveTo>
                    <a:cubicBezTo>
                      <a:pt x="149126" y="0"/>
                      <a:pt x="0" y="73382"/>
                      <a:pt x="0" y="163903"/>
                    </a:cubicBezTo>
                    <a:cubicBezTo>
                      <a:pt x="0" y="254425"/>
                      <a:pt x="149126" y="327807"/>
                      <a:pt x="333081" y="327807"/>
                    </a:cubicBezTo>
                    <a:cubicBezTo>
                      <a:pt x="517037" y="327807"/>
                      <a:pt x="666163" y="254425"/>
                      <a:pt x="666163" y="163903"/>
                    </a:cubicBezTo>
                    <a:cubicBezTo>
                      <a:pt x="666163" y="73382"/>
                      <a:pt x="517037" y="0"/>
                      <a:pt x="33308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85725" cap="sq">
                <a:solidFill>
                  <a:srgbClr val="F2512C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62453" y="-16893"/>
                <a:ext cx="541257" cy="3139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2624314"/>
              <a:ext cx="1461369" cy="719113"/>
              <a:chOff x="0" y="0"/>
              <a:chExt cx="666163" cy="32780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66163" cy="327807"/>
              </a:xfrm>
              <a:custGeom>
                <a:avLst/>
                <a:gdLst/>
                <a:ahLst/>
                <a:cxnLst/>
                <a:rect r="r" b="b" t="t" l="l"/>
                <a:pathLst>
                  <a:path h="327807" w="666163">
                    <a:moveTo>
                      <a:pt x="333081" y="0"/>
                    </a:moveTo>
                    <a:cubicBezTo>
                      <a:pt x="149126" y="0"/>
                      <a:pt x="0" y="73382"/>
                      <a:pt x="0" y="163903"/>
                    </a:cubicBezTo>
                    <a:cubicBezTo>
                      <a:pt x="0" y="254425"/>
                      <a:pt x="149126" y="327807"/>
                      <a:pt x="333081" y="327807"/>
                    </a:cubicBezTo>
                    <a:cubicBezTo>
                      <a:pt x="517037" y="327807"/>
                      <a:pt x="666163" y="254425"/>
                      <a:pt x="666163" y="163903"/>
                    </a:cubicBezTo>
                    <a:cubicBezTo>
                      <a:pt x="666163" y="73382"/>
                      <a:pt x="517037" y="0"/>
                      <a:pt x="33308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85725" cap="sq">
                <a:solidFill>
                  <a:srgbClr val="F2512C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62453" y="-16893"/>
                <a:ext cx="541257" cy="3139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7199071" y="9583591"/>
            <a:ext cx="10283844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6C84A1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25년 7월, 신차 판매량 상승세 유지…기아 쏘렌토 2개월 연속 판매 1위 — IT동아·카이즈유데이터연구소, 2025/08/13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249261" y="3640057"/>
            <a:ext cx="11632858" cy="5182127"/>
            <a:chOff x="0" y="0"/>
            <a:chExt cx="15510478" cy="6909503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5510478" cy="6909503"/>
              <a:chOff x="0" y="0"/>
              <a:chExt cx="3063798" cy="136484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063798" cy="1364840"/>
              </a:xfrm>
              <a:custGeom>
                <a:avLst/>
                <a:gdLst/>
                <a:ahLst/>
                <a:cxnLst/>
                <a:rect r="r" b="b" t="t" l="l"/>
                <a:pathLst>
                  <a:path h="1364840" w="3063798">
                    <a:moveTo>
                      <a:pt x="0" y="0"/>
                    </a:moveTo>
                    <a:lnTo>
                      <a:pt x="3063798" y="0"/>
                    </a:lnTo>
                    <a:lnTo>
                      <a:pt x="3063798" y="1364840"/>
                    </a:lnTo>
                    <a:lnTo>
                      <a:pt x="0" y="1364840"/>
                    </a:lnTo>
                    <a:close/>
                  </a:path>
                </a:pathLst>
              </a:custGeom>
              <a:solidFill>
                <a:srgbClr val="3087BB">
                  <a:alpha val="50980"/>
                </a:srgbClr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3063798" cy="14124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4760803" y="2081015"/>
              <a:ext cx="6197699" cy="2537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098"/>
                </a:lnSpc>
                <a:spcBef>
                  <a:spcPct val="0"/>
                </a:spcBef>
              </a:pPr>
              <a:r>
                <a:rPr lang="en-US" b="true" sz="11498">
                  <a:solidFill>
                    <a:srgbClr val="FFFFFF"/>
                  </a:solidFill>
                  <a:latin typeface="Tlab 돋움 미디움 Bold"/>
                  <a:ea typeface="Tlab 돋움 미디움 Bold"/>
                  <a:cs typeface="Tlab 돋움 미디움 Bold"/>
                  <a:sym typeface="Tlab 돋움 미디움 Bold"/>
                </a:rPr>
                <a:t>0.14%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-411453" y="-237283"/>
            <a:ext cx="19110906" cy="10761565"/>
            <a:chOff x="0" y="0"/>
            <a:chExt cx="25481208" cy="14348754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25481208" cy="14348754"/>
              <a:chOff x="0" y="0"/>
              <a:chExt cx="5033325" cy="283432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033325" cy="2834322"/>
              </a:xfrm>
              <a:custGeom>
                <a:avLst/>
                <a:gdLst/>
                <a:ahLst/>
                <a:cxnLst/>
                <a:rect r="r" b="b" t="t" l="l"/>
                <a:pathLst>
                  <a:path h="2834322" w="5033325">
                    <a:moveTo>
                      <a:pt x="0" y="0"/>
                    </a:moveTo>
                    <a:lnTo>
                      <a:pt x="5033325" y="0"/>
                    </a:lnTo>
                    <a:lnTo>
                      <a:pt x="5033325" y="2834322"/>
                    </a:lnTo>
                    <a:lnTo>
                      <a:pt x="0" y="2834322"/>
                    </a:lnTo>
                    <a:close/>
                  </a:path>
                </a:pathLst>
              </a:custGeom>
              <a:solidFill>
                <a:srgbClr val="6C84A1">
                  <a:alpha val="69804"/>
                </a:srgbClr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28575"/>
                <a:ext cx="5033325" cy="28628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3719718" y="6669734"/>
              <a:ext cx="18041772" cy="1826168"/>
              <a:chOff x="0" y="0"/>
              <a:chExt cx="3563807" cy="36072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563807" cy="360724"/>
              </a:xfrm>
              <a:custGeom>
                <a:avLst/>
                <a:gdLst/>
                <a:ahLst/>
                <a:cxnLst/>
                <a:rect r="r" b="b" t="t" l="l"/>
                <a:pathLst>
                  <a:path h="360724" w="3563807">
                    <a:moveTo>
                      <a:pt x="18309" y="0"/>
                    </a:moveTo>
                    <a:lnTo>
                      <a:pt x="3545498" y="0"/>
                    </a:lnTo>
                    <a:cubicBezTo>
                      <a:pt x="3550354" y="0"/>
                      <a:pt x="3555011" y="1929"/>
                      <a:pt x="3558444" y="5363"/>
                    </a:cubicBezTo>
                    <a:cubicBezTo>
                      <a:pt x="3561878" y="8796"/>
                      <a:pt x="3563807" y="13453"/>
                      <a:pt x="3563807" y="18309"/>
                    </a:cubicBezTo>
                    <a:lnTo>
                      <a:pt x="3563807" y="342416"/>
                    </a:lnTo>
                    <a:cubicBezTo>
                      <a:pt x="3563807" y="347272"/>
                      <a:pt x="3561878" y="351928"/>
                      <a:pt x="3558444" y="355362"/>
                    </a:cubicBezTo>
                    <a:cubicBezTo>
                      <a:pt x="3555011" y="358796"/>
                      <a:pt x="3550354" y="360724"/>
                      <a:pt x="3545498" y="360724"/>
                    </a:cubicBezTo>
                    <a:lnTo>
                      <a:pt x="18309" y="360724"/>
                    </a:lnTo>
                    <a:cubicBezTo>
                      <a:pt x="13453" y="360724"/>
                      <a:pt x="8796" y="358796"/>
                      <a:pt x="5363" y="355362"/>
                    </a:cubicBezTo>
                    <a:cubicBezTo>
                      <a:pt x="1929" y="351928"/>
                      <a:pt x="0" y="347272"/>
                      <a:pt x="0" y="342416"/>
                    </a:cubicBezTo>
                    <a:lnTo>
                      <a:pt x="0" y="18309"/>
                    </a:lnTo>
                    <a:cubicBezTo>
                      <a:pt x="0" y="13453"/>
                      <a:pt x="1929" y="8796"/>
                      <a:pt x="5363" y="5363"/>
                    </a:cubicBezTo>
                    <a:cubicBezTo>
                      <a:pt x="8796" y="1929"/>
                      <a:pt x="13453" y="0"/>
                      <a:pt x="18309" y="0"/>
                    </a:cubicBezTo>
                    <a:close/>
                  </a:path>
                </a:pathLst>
              </a:custGeom>
              <a:solidFill>
                <a:srgbClr val="F1FA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3563807" cy="4178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339"/>
                  </a:lnSpc>
                </a:pPr>
                <a:r>
                  <a:rPr lang="en-US" sz="3099">
                    <a:solidFill>
                      <a:srgbClr val="3087BB"/>
                    </a:solidFill>
                    <a:latin typeface="Tlab 돋움 미디움"/>
                    <a:ea typeface="Tlab 돋움 미디움"/>
                    <a:cs typeface="Tlab 돋움 미디움"/>
                    <a:sym typeface="Tlab 돋움 미디움"/>
                  </a:rPr>
                  <a:t>국내 소비자 인식 부족 </a:t>
                </a:r>
                <a:r>
                  <a:rPr lang="en-US" b="true" sz="3099">
                    <a:solidFill>
                      <a:srgbClr val="3087BB"/>
                    </a:solidFill>
                    <a:latin typeface="Tlab 돋움 미디움 Bold"/>
                    <a:ea typeface="Tlab 돋움 미디움 Bold"/>
                    <a:cs typeface="Tlab 돋움 미디움 Bold"/>
                    <a:sym typeface="Tlab 돋움 미디움 Bold"/>
                  </a:rPr>
                  <a:t>→</a:t>
                </a:r>
                <a:r>
                  <a:rPr lang="en-US" sz="3099">
                    <a:solidFill>
                      <a:srgbClr val="3087BB"/>
                    </a:solidFill>
                    <a:latin typeface="Tlab 돋움 미디움"/>
                    <a:ea typeface="Tlab 돋움 미디움"/>
                    <a:cs typeface="Tlab 돋움 미디움"/>
                    <a:sym typeface="Tlab 돋움 미디움"/>
                  </a:rPr>
                  <a:t> </a:t>
                </a:r>
                <a:r>
                  <a:rPr lang="en-US" sz="3099">
                    <a:solidFill>
                      <a:srgbClr val="1A6896"/>
                    </a:solidFill>
                    <a:latin typeface="Tlab 돋움 미디움"/>
                    <a:ea typeface="Tlab 돋움 미디움"/>
                    <a:cs typeface="Tlab 돋움 미디움"/>
                    <a:sym typeface="Tlab 돋움 미디움"/>
                  </a:rPr>
                  <a:t>“</a:t>
                </a:r>
                <a:r>
                  <a:rPr lang="en-US" b="true" sz="3099">
                    <a:solidFill>
                      <a:srgbClr val="1A6896"/>
                    </a:solidFill>
                    <a:latin typeface="Tlab 돋움 미디움 Bold"/>
                    <a:ea typeface="Tlab 돋움 미디움 Bold"/>
                    <a:cs typeface="Tlab 돋움 미디움 Bold"/>
                    <a:sym typeface="Tlab 돋움 미디움 Bold"/>
                  </a:rPr>
                  <a:t>새로운 세그먼트</a:t>
                </a:r>
                <a:r>
                  <a:rPr lang="en-US" sz="3099">
                    <a:solidFill>
                      <a:srgbClr val="1A6896"/>
                    </a:solidFill>
                    <a:latin typeface="Tlab 돋움 미디움"/>
                    <a:ea typeface="Tlab 돋움 미디움"/>
                    <a:cs typeface="Tlab 돋움 미디움"/>
                    <a:sym typeface="Tlab 돋움 미디움"/>
                  </a:rPr>
                  <a:t>로 성장 가능성”</a:t>
                </a:r>
              </a:p>
            </p:txBody>
          </p:sp>
        </p:grp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90018" cy="238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55723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15630" y="2114092"/>
            <a:ext cx="965674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spc="-179">
                <a:solidFill>
                  <a:srgbClr val="31356E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최종 비즈니스 인사이트 제안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36693" y="1028700"/>
            <a:ext cx="342819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05 비즈니스 인사이트 제안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399142" y="4304842"/>
            <a:ext cx="6557494" cy="3724485"/>
            <a:chOff x="0" y="0"/>
            <a:chExt cx="2030674" cy="11533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0674" cy="1153369"/>
            </a:xfrm>
            <a:custGeom>
              <a:avLst/>
              <a:gdLst/>
              <a:ahLst/>
              <a:cxnLst/>
              <a:rect r="r" b="b" t="t" l="l"/>
              <a:pathLst>
                <a:path h="1153369" w="2030674">
                  <a:moveTo>
                    <a:pt x="0" y="0"/>
                  </a:moveTo>
                  <a:lnTo>
                    <a:pt x="2030674" y="0"/>
                  </a:lnTo>
                  <a:lnTo>
                    <a:pt x="2030674" y="1153369"/>
                  </a:lnTo>
                  <a:lnTo>
                    <a:pt x="0" y="1153369"/>
                  </a:lnTo>
                  <a:close/>
                </a:path>
              </a:pathLst>
            </a:custGeom>
            <a:solidFill>
              <a:srgbClr val="3087B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030674" cy="1181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35658" y="4304842"/>
            <a:ext cx="6553200" cy="3724485"/>
            <a:chOff x="0" y="0"/>
            <a:chExt cx="2029344" cy="11533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29344" cy="1153369"/>
            </a:xfrm>
            <a:custGeom>
              <a:avLst/>
              <a:gdLst/>
              <a:ahLst/>
              <a:cxnLst/>
              <a:rect r="r" b="b" t="t" l="l"/>
              <a:pathLst>
                <a:path h="1153369" w="2029344">
                  <a:moveTo>
                    <a:pt x="0" y="0"/>
                  </a:moveTo>
                  <a:lnTo>
                    <a:pt x="2029344" y="0"/>
                  </a:lnTo>
                  <a:lnTo>
                    <a:pt x="2029344" y="1153369"/>
                  </a:lnTo>
                  <a:lnTo>
                    <a:pt x="0" y="1153369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34567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029344" cy="1181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3327859" y="5391969"/>
            <a:ext cx="470006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448653" y="5391969"/>
            <a:ext cx="4700060" cy="0"/>
          </a:xfrm>
          <a:prstGeom prst="line">
            <a:avLst/>
          </a:prstGeom>
          <a:ln cap="flat" w="28575">
            <a:solidFill>
              <a:srgbClr val="34567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2544907" y="6790011"/>
            <a:ext cx="469464" cy="363531"/>
            <a:chOff x="0" y="0"/>
            <a:chExt cx="812800" cy="6293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29394"/>
            </a:xfrm>
            <a:custGeom>
              <a:avLst/>
              <a:gdLst/>
              <a:ahLst/>
              <a:cxnLst/>
              <a:rect r="r" b="b" t="t" l="l"/>
              <a:pathLst>
                <a:path h="629394" w="812800">
                  <a:moveTo>
                    <a:pt x="812800" y="314697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426194"/>
                  </a:lnTo>
                  <a:lnTo>
                    <a:pt x="406400" y="426194"/>
                  </a:lnTo>
                  <a:lnTo>
                    <a:pt x="406400" y="629394"/>
                  </a:lnTo>
                  <a:lnTo>
                    <a:pt x="812800" y="314697"/>
                  </a:lnTo>
                  <a:close/>
                </a:path>
              </a:pathLst>
            </a:custGeom>
            <a:solidFill>
              <a:srgbClr val="2D8BB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55575"/>
              <a:ext cx="711200" cy="270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327859" y="4594335"/>
            <a:ext cx="4700060" cy="46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4"/>
              </a:lnSpc>
            </a:pPr>
            <a:r>
              <a:rPr lang="en-US" sz="2721" b="tru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메인 마케팅 시장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62228" y="4594335"/>
            <a:ext cx="4700060" cy="46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4"/>
              </a:lnSpc>
            </a:pPr>
            <a:r>
              <a:rPr lang="en-US" b="true" sz="2721">
                <a:solidFill>
                  <a:srgbClr val="1A689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서브 마케팅 시장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15526" y="6253793"/>
            <a:ext cx="2461256" cy="878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2"/>
              </a:lnSpc>
            </a:pPr>
            <a:r>
              <a:rPr lang="en-US" sz="2296" b="tru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가족 중심·적재 공간 소비자 Needs 반영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71372" y="6244268"/>
            <a:ext cx="2777341" cy="44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4"/>
              </a:lnSpc>
            </a:pPr>
            <a:r>
              <a:rPr lang="en-US" sz="2381" b="true">
                <a:solidFill>
                  <a:srgbClr val="1A689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친환경 내연기관 차량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677889" y="5917307"/>
            <a:ext cx="2526670" cy="142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54"/>
              </a:lnSpc>
            </a:pPr>
            <a:r>
              <a:rPr lang="en-US" sz="9538" b="tru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유럽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48014" y="5995964"/>
            <a:ext cx="2362111" cy="134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2"/>
              </a:lnSpc>
            </a:pPr>
            <a:r>
              <a:rPr lang="en-US" b="true" sz="8942">
                <a:solidFill>
                  <a:srgbClr val="1A689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국내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69755" y="6713811"/>
            <a:ext cx="1792533" cy="41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3"/>
              </a:lnSpc>
            </a:pPr>
            <a:r>
              <a:rPr lang="en-US" sz="2258" b="true">
                <a:solidFill>
                  <a:srgbClr val="1A689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블루오션 공략</a:t>
            </a:r>
          </a:p>
        </p:txBody>
      </p:sp>
      <p:sp>
        <p:nvSpPr>
          <p:cNvPr name="AutoShape 27" id="27"/>
          <p:cNvSpPr/>
          <p:nvPr/>
        </p:nvSpPr>
        <p:spPr>
          <a:xfrm>
            <a:off x="13105475" y="7179003"/>
            <a:ext cx="1776331" cy="0"/>
          </a:xfrm>
          <a:prstGeom prst="line">
            <a:avLst/>
          </a:prstGeom>
          <a:ln cap="flat" w="28575">
            <a:solidFill>
              <a:srgbClr val="34567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3042618" y="7164716"/>
            <a:ext cx="192734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>
              <a:hlinkClick r:id="rId3" tooltip="https://it.donga.com/107402/"/>
            </p:cNvPr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90018" cy="238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55723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05755" y="2473864"/>
            <a:ext cx="13276490" cy="6459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</a:p>
          <a:p>
            <a:pPr algn="ctr">
              <a:lnSpc>
                <a:spcPts val="2550"/>
              </a:lnSpc>
            </a:pPr>
          </a:p>
          <a:p>
            <a:pPr algn="ctr">
              <a:lnSpc>
                <a:spcPts val="2550"/>
              </a:lnSpc>
            </a:pPr>
          </a:p>
          <a:p>
            <a:pPr algn="ctr">
              <a:lnSpc>
                <a:spcPts val="2550"/>
              </a:lnSpc>
            </a:pPr>
          </a:p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전기차 1대 화재가 부른 날벼락...차 40여대 불타고, 아파트 5개동 단전 — 조선일보, 2024/08/02</a:t>
            </a:r>
          </a:p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https://www.chosun.com/national/incident/2024/08/02/USJ33MN5PBDBNPJF4ZVQWAYGAM/</a:t>
            </a:r>
          </a:p>
          <a:p>
            <a:pPr algn="ctr">
              <a:lnSpc>
                <a:spcPts val="2550"/>
              </a:lnSpc>
            </a:pPr>
          </a:p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인천 ‘벤츠 전기차’ 화재 배터리는 中 ‘파라시스’ 제품 — 서울신문, 2024/08/06</a:t>
            </a:r>
          </a:p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https://www.seoul.co.kr/news/economy/industry/2024/08/06/20240806500008</a:t>
            </a:r>
          </a:p>
          <a:p>
            <a:pPr algn="ctr">
              <a:lnSpc>
                <a:spcPts val="2550"/>
              </a:lnSpc>
            </a:pPr>
          </a:p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25년 7월, 신차 판매량 상승세 유지…기아 쏘렌토 2개월 연속 판매 1위 — IT동아·카이즈유데이터연구소, 2025/08/13</a:t>
            </a:r>
          </a:p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https://it.donga.com/107402/</a:t>
            </a:r>
          </a:p>
          <a:p>
            <a:pPr algn="ctr">
              <a:lnSpc>
                <a:spcPts val="2550"/>
              </a:lnSpc>
            </a:pPr>
          </a:p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Road to Sustainability 2021: Hyundai Motor Company Sustainability Report — 현대자동차, 2021</a:t>
            </a:r>
          </a:p>
          <a:p>
            <a:pPr algn="ctr">
              <a:lnSpc>
                <a:spcPts val="2550"/>
              </a:lnSpc>
            </a:pPr>
          </a:p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Station Wagon 2025 Trends and Forecasts 2033: Analyzing Growth Opportunities — Archive Market Research, 2025</a:t>
            </a:r>
          </a:p>
          <a:p>
            <a:pPr algn="ctr">
              <a:lnSpc>
                <a:spcPts val="2550"/>
              </a:lnSpc>
            </a:pPr>
          </a:p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1A6896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Dieselgate Report: Who, What, How — Transport &amp; Environment, 2016</a:t>
            </a:r>
          </a:p>
          <a:p>
            <a:pPr algn="ctr">
              <a:lnSpc>
                <a:spcPts val="2550"/>
              </a:lnSpc>
            </a:pPr>
          </a:p>
          <a:p>
            <a:pPr algn="ctr">
              <a:lnSpc>
                <a:spcPts val="255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142506" y="2202820"/>
            <a:ext cx="4002988" cy="90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>
                <a:solidFill>
                  <a:srgbClr val="31356E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참고 자료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90018" cy="238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530919" y="4142682"/>
            <a:ext cx="11226161" cy="1792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23"/>
              </a:lnSpc>
            </a:pPr>
            <a:r>
              <a:rPr lang="en-US" sz="10445">
                <a:solidFill>
                  <a:srgbClr val="31356E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감사합니다</a:t>
            </a:r>
          </a:p>
        </p:txBody>
      </p:sp>
      <p:sp>
        <p:nvSpPr>
          <p:cNvPr name="AutoShape 6" id="6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355723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CEE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825" y="674834"/>
            <a:ext cx="16668349" cy="8937333"/>
            <a:chOff x="0" y="0"/>
            <a:chExt cx="4390018" cy="23538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90018" cy="2353865"/>
            </a:xfrm>
            <a:custGeom>
              <a:avLst/>
              <a:gdLst/>
              <a:ahLst/>
              <a:cxnLst/>
              <a:rect r="r" b="b" t="t" l="l"/>
              <a:pathLst>
                <a:path h="2353865" w="4390018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90018" cy="238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530919" y="4142682"/>
            <a:ext cx="11226161" cy="1792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23"/>
              </a:lnSpc>
            </a:pPr>
            <a:r>
              <a:rPr lang="en-US" sz="10445">
                <a:solidFill>
                  <a:srgbClr val="31356E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Q &amp; A</a:t>
            </a:r>
          </a:p>
        </p:txBody>
      </p:sp>
      <p:sp>
        <p:nvSpPr>
          <p:cNvPr name="AutoShape 6" id="6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cap="flat" w="19050">
            <a:solidFill>
              <a:srgbClr val="3087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355723" y="981429"/>
            <a:ext cx="294328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4조 I’M POSSIBLE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DAG8yC8oX0M</dc:identifier>
  <dcterms:modified xsi:type="dcterms:W3CDTF">2011-08-01T06:04:30Z</dcterms:modified>
  <cp:revision>1</cp:revision>
  <dc:title>구사조의 사본</dc:title>
</cp:coreProperties>
</file>