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6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8288000" cy="10287000"/>
  <p:notesSz cx="6858000" cy="9144000"/>
  <p:embeddedFontLst>
    <p:embeddedFont>
      <p:font typeface="Tlab 돋움 레귤러 Bold" charset="1" panose="02060800000000000000"/>
      <p:regular r:id="rId70"/>
    </p:embeddedFont>
    <p:embeddedFont>
      <p:font typeface="Tlab 돋움 레귤러" charset="1" panose="02060500000000000000"/>
      <p:regular r:id="rId71"/>
    </p:embeddedFont>
    <p:embeddedFont>
      <p:font typeface="AdvaOpen" charset="1" panose="01000503000000020003"/>
      <p:regular r:id="rId73"/>
    </p:embeddedFont>
    <p:embeddedFont>
      <p:font typeface="TDTD순고딕 Bold" charset="1" panose="02000803000000000000"/>
      <p:regular r:id="rId7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notesSlides/notesSlide28.xml" Type="http://schemas.openxmlformats.org/officeDocument/2006/relationships/notesSlide"/><Relationship Id="rId101" Target="notesSlides/notesSlide29.xml" Type="http://schemas.openxmlformats.org/officeDocument/2006/relationships/notesSlide"/><Relationship Id="rId102" Target="notesSlides/notesSlide30.xml" Type="http://schemas.openxmlformats.org/officeDocument/2006/relationships/notesSlide"/><Relationship Id="rId103" Target="notesSlides/notesSlide31.xml" Type="http://schemas.openxmlformats.org/officeDocument/2006/relationships/notesSlide"/><Relationship Id="rId104" Target="notesSlides/notesSlide32.xml" Type="http://schemas.openxmlformats.org/officeDocument/2006/relationships/notesSlide"/><Relationship Id="rId105" Target="notesSlides/notesSlide33.xml" Type="http://schemas.openxmlformats.org/officeDocument/2006/relationships/notesSlide"/><Relationship Id="rId106" Target="notesSlides/notesSlide34.xml" Type="http://schemas.openxmlformats.org/officeDocument/2006/relationships/notesSlide"/><Relationship Id="rId107" Target="notesSlides/notesSlide35.xml" Type="http://schemas.openxmlformats.org/officeDocument/2006/relationships/notesSlide"/><Relationship Id="rId108" Target="notesSlides/notesSlide36.xml" Type="http://schemas.openxmlformats.org/officeDocument/2006/relationships/notesSlide"/><Relationship Id="rId109" Target="notesSlides/notesSlide37.xml" Type="http://schemas.openxmlformats.org/officeDocument/2006/relationships/notesSlide"/><Relationship Id="rId11" Target="slides/slide6.xml" Type="http://schemas.openxmlformats.org/officeDocument/2006/relationships/slide"/><Relationship Id="rId110" Target="notesSlides/notesSlide38.xml" Type="http://schemas.openxmlformats.org/officeDocument/2006/relationships/notesSlide"/><Relationship Id="rId111" Target="notesSlides/notesSlide39.xml" Type="http://schemas.openxmlformats.org/officeDocument/2006/relationships/notesSlide"/><Relationship Id="rId112" Target="notesSlides/notesSlide40.xml" Type="http://schemas.openxmlformats.org/officeDocument/2006/relationships/notesSlide"/><Relationship Id="rId113" Target="notesSlides/notesSlide41.xml" Type="http://schemas.openxmlformats.org/officeDocument/2006/relationships/notesSlide"/><Relationship Id="rId114" Target="notesSlides/notesSlide42.xml" Type="http://schemas.openxmlformats.org/officeDocument/2006/relationships/notesSlide"/><Relationship Id="rId115" Target="notesSlides/notesSlide43.xml" Type="http://schemas.openxmlformats.org/officeDocument/2006/relationships/notesSlide"/><Relationship Id="rId116" Target="notesSlides/notesSlide44.xml" Type="http://schemas.openxmlformats.org/officeDocument/2006/relationships/notesSlide"/><Relationship Id="rId117" Target="notesSlides/notesSlide45.xml" Type="http://schemas.openxmlformats.org/officeDocument/2006/relationships/notesSlide"/><Relationship Id="rId118" Target="notesSlides/notesSlide46.xml" Type="http://schemas.openxmlformats.org/officeDocument/2006/relationships/notesSlide"/><Relationship Id="rId119" Target="notesSlides/notesSlide47.xml" Type="http://schemas.openxmlformats.org/officeDocument/2006/relationships/notesSlide"/><Relationship Id="rId12" Target="slides/slide7.xml" Type="http://schemas.openxmlformats.org/officeDocument/2006/relationships/slide"/><Relationship Id="rId120" Target="notesSlides/notesSlide48.xml" Type="http://schemas.openxmlformats.org/officeDocument/2006/relationships/notesSlide"/><Relationship Id="rId121" Target="notesSlides/notesSlide49.xml" Type="http://schemas.openxmlformats.org/officeDocument/2006/relationships/notesSlide"/><Relationship Id="rId122" Target="notesSlides/notesSlide50.xml" Type="http://schemas.openxmlformats.org/officeDocument/2006/relationships/notesSlide"/><Relationship Id="rId123" Target="notesSlides/notesSlide51.xml" Type="http://schemas.openxmlformats.org/officeDocument/2006/relationships/notes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notesMasters/notesMaster1.xml" Type="http://schemas.openxmlformats.org/officeDocument/2006/relationships/notesMaster"/><Relationship Id="rId68" Target="theme/theme2.xml" Type="http://schemas.openxmlformats.org/officeDocument/2006/relationships/theme"/><Relationship Id="rId69" Target="notesSlides/notesSlide1.xml" Type="http://schemas.openxmlformats.org/officeDocument/2006/relationships/notes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notesSlides/notesSlide2.xml" Type="http://schemas.openxmlformats.org/officeDocument/2006/relationships/notesSlide"/><Relationship Id="rId73" Target="fonts/font73.fntdata" Type="http://schemas.openxmlformats.org/officeDocument/2006/relationships/font"/><Relationship Id="rId74" Target="notesSlides/notesSlide3.xml" Type="http://schemas.openxmlformats.org/officeDocument/2006/relationships/notesSlide"/><Relationship Id="rId75" Target="notesSlides/notesSlide4.xml" Type="http://schemas.openxmlformats.org/officeDocument/2006/relationships/notesSlide"/><Relationship Id="rId76" Target="notesSlides/notesSlide5.xml" Type="http://schemas.openxmlformats.org/officeDocument/2006/relationships/notesSlide"/><Relationship Id="rId77" Target="notesSlides/notesSlide6.xml" Type="http://schemas.openxmlformats.org/officeDocument/2006/relationships/notesSlide"/><Relationship Id="rId78" Target="notesSlides/notesSlide7.xml" Type="http://schemas.openxmlformats.org/officeDocument/2006/relationships/notesSlide"/><Relationship Id="rId79" Target="fonts/font79.fntdata" Type="http://schemas.openxmlformats.org/officeDocument/2006/relationships/font"/><Relationship Id="rId8" Target="slides/slide3.xml" Type="http://schemas.openxmlformats.org/officeDocument/2006/relationships/slide"/><Relationship Id="rId80" Target="notesSlides/notesSlide8.xml" Type="http://schemas.openxmlformats.org/officeDocument/2006/relationships/notesSlide"/><Relationship Id="rId81" Target="notesSlides/notesSlide9.xml" Type="http://schemas.openxmlformats.org/officeDocument/2006/relationships/notesSlide"/><Relationship Id="rId82" Target="notesSlides/notesSlide10.xml" Type="http://schemas.openxmlformats.org/officeDocument/2006/relationships/notesSlide"/><Relationship Id="rId83" Target="notesSlides/notesSlide11.xml" Type="http://schemas.openxmlformats.org/officeDocument/2006/relationships/notesSlide"/><Relationship Id="rId84" Target="notesSlides/notesSlide12.xml" Type="http://schemas.openxmlformats.org/officeDocument/2006/relationships/notesSlide"/><Relationship Id="rId85" Target="notesSlides/notesSlide13.xml" Type="http://schemas.openxmlformats.org/officeDocument/2006/relationships/notesSlide"/><Relationship Id="rId86" Target="notesSlides/notesSlide14.xml" Type="http://schemas.openxmlformats.org/officeDocument/2006/relationships/notesSlide"/><Relationship Id="rId87" Target="notesSlides/notesSlide15.xml" Type="http://schemas.openxmlformats.org/officeDocument/2006/relationships/notesSlide"/><Relationship Id="rId88" Target="notesSlides/notesSlide16.xml" Type="http://schemas.openxmlformats.org/officeDocument/2006/relationships/notesSlide"/><Relationship Id="rId89" Target="notesSlides/notesSlide17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18.xml" Type="http://schemas.openxmlformats.org/officeDocument/2006/relationships/notesSlide"/><Relationship Id="rId91" Target="notesSlides/notesSlide19.xml" Type="http://schemas.openxmlformats.org/officeDocument/2006/relationships/notesSlide"/><Relationship Id="rId92" Target="notesSlides/notesSlide20.xml" Type="http://schemas.openxmlformats.org/officeDocument/2006/relationships/notesSlide"/><Relationship Id="rId93" Target="notesSlides/notesSlide21.xml" Type="http://schemas.openxmlformats.org/officeDocument/2006/relationships/notesSlide"/><Relationship Id="rId94" Target="notesSlides/notesSlide22.xml" Type="http://schemas.openxmlformats.org/officeDocument/2006/relationships/notesSlide"/><Relationship Id="rId95" Target="notesSlides/notesSlide23.xml" Type="http://schemas.openxmlformats.org/officeDocument/2006/relationships/notesSlide"/><Relationship Id="rId96" Target="notesSlides/notesSlide24.xml" Type="http://schemas.openxmlformats.org/officeDocument/2006/relationships/notesSlide"/><Relationship Id="rId97" Target="notesSlides/notesSlide25.xml" Type="http://schemas.openxmlformats.org/officeDocument/2006/relationships/notesSlide"/><Relationship Id="rId98" Target="notesSlides/notesSlide26.xml" Type="http://schemas.openxmlformats.org/officeDocument/2006/relationships/notesSlide"/><Relationship Id="rId99" Target="notesSlides/notesSlide27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6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7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안녕하십니까, 4조 발표자 임혜윤입니다. 저희는 이번 프로젝트에서 '100대 명산 통합 분석을 통한 개인화 추천 플랫폼 구축'을 주제로, 데이터 기반의 등산 솔루션을 기획했습니다.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발표는 프로젝트 배경부터 인사이트 도출까지, 목차 순서대로 진행하겠습니다.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최근 등산에 대한 관심과 수요가 크게 증가하고 있습니다. Z세대 10명 중 7명이 산악 여행 계획이 있고, 우리나라 성인 78%가 한 달에 한 번 이상 산을 찾는다는 조사 결과가 있습니다.</a:t>
            </a:r>
          </a:p>
          <a:p>
            <a:r>
              <a:rPr lang="en-US"/>
              <a:t>하지만 정보가 여러 플랫폼에 파편화되어 있고, 명확한 기준 없이 개인 경험에 의존하다 보니 탐색 피로로 계획을 포기하는 경우가 많습니다.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저희는 이 문제를 해결하기 위해 세 가지 핵심 가치에 집중했습니다. 흩어진 정보를 모으는 '통합', 데이터를 한눈에 보여주는 '직관적 비교', 그리고 개인별 성향에 맞춘 '맞춤형 추천'입니다. 이를 통해 사용자에게 최적의 코스를 제안하는 의사결정 도구 개발을 목표로 설정했습니다.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전체 분석 파이프라인입니다. 산림청 등산로 데이터를 주축으로 버스정류장, 관광명소, 지도 API, 등산 후기 등 다방면으로 데이터를 수집하고 지수 산출과 군집 모델링, 통계 검증을 거쳐 맞춤 서비스를 구현했습니다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활용한 데이터는 다음과 같습니다. 산림청과 국토부, 한국문화정보원의  공공 데이터로 정확한 지리적 뼈대를 세우고, 카카오맵, 유튜브, 네이버에서 OpenAPI와 웹크롤링을 병행하여 인프라 및 이용자 후기 데이터를 수집했습니다.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분석 과정입니다. 기존 산림청 100대명산 등산로 데이터는 단순 '위치 좌표'만 제공하고 있어 거리, 시간, 난이도 같은 핵심 정보가 전무했습니다. 따라서 저희는 위치 좌표를 기반으로 자체 데이터셋을 구축해야 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이를 위해 수리적 모델링을 도입했습니다. </a:t>
            </a:r>
          </a:p>
          <a:p>
            <a:r>
              <a:rPr lang="en-US"/>
              <a:t>지구 곡률을 반영한 하버사인 공식으로 거리를 계산하고, XML 파싱으로 누적 고도를 집계했습니다. </a:t>
            </a:r>
          </a:p>
          <a:p>
            <a:r>
              <a:rPr lang="en-US"/>
              <a:t>소요 시간은 나이스미스 법칙을 변형해 경사도에 따라 가중치를 달리하여 실제 등산 소요 시간을 현실적으로 구현했습니다.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또한, GPS 오류로 인한 수직 점프 구간은 순간 경사도를 계산하여 해결했습니다. 물리적으로 사람이 오를 수 없는 기울기는 이상치로 판단해 제거했습니다.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난이도 역시 한국 지형에 맞춰 재설계했습니다. 기존 미국 국립공원 공식을 쓰되, 험준한 한국 산의 특성을 반영해 급경사 구간에 가중치를 주는 방식으로 보정했습니다.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등급 체계는 상대평가를 도입했습니다. 절대 점수로만 나누면 등급 쏠림 현상이 발생하기 때문에, 전체 데이터 분포에 따른 7단계 등급 시스템을 만들어 입문자부터 숙련자까지 아우르는 이상적인 분포 모델을 완성했습니다.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관광인프라 데이터 입니다. 카카오맵 API를 활용해 등산로 출·도착지 반경 5키로 내 관광 인프라를 수집했습니다. API 수집 건수 제한을 보완하기 위해 검색 반경을 그리드로 분할하여, 최대 135건에서 1,215건까지 수집량을 확대했습니다. </a:t>
            </a:r>
          </a:p>
          <a:p>
            <a:r>
              <a:rPr lang="en-US"/>
              <a:t>추가로 한국문화정보원 데이터를 활용해 5키로 이내 관광명소를 도출했습니다.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수집된 인프라는 거리 가중치를 적용해 지수화했습니다. 등산로 입구와 가까울수록 높은 점수를 부여하여, 사용자가 체감하는 실질적 편의성을 지수화했습니다.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접근성은 자차와 대중교통 이용자를 모두 고려했습니다. 등산로 반경 2키로 이내의 주차장 데이터와 최인접 버스 정류장 데이터를 매칭하여 분석했습니다.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수집한 주차장 정보 중 실제 등산객이 사용 불가능한 사유지가 다수 포함되어 있었습니다. </a:t>
            </a:r>
          </a:p>
          <a:p>
            <a:r>
              <a:rPr lang="en-US"/>
              <a:t>이를 해결하기 위해 LLM을 활용한 2단계 필터링을 적용했습니다. </a:t>
            </a:r>
          </a:p>
          <a:p>
            <a:r>
              <a:rPr lang="en-US"/>
              <a:t>1단계에서 텍스트 기반으로 사전 필터링하고, 2단계에서 좌표 기반 위성 이미지 분석을 통해 실제 사용 가능 여부를 검증했습니다.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접근성 지수화는 영국 교통도로협회의 보행 기준을 따랐습니다. 도보 5분 거리인 400m를 만점으로 두고 거리에 따라 차등 감점하여 객관성을 확보했습니다.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마지막으로 매력 지수의 데이터 입니다. </a:t>
            </a:r>
          </a:p>
          <a:p>
            <a:r>
              <a:rPr lang="en-US"/>
              <a:t>네이버 블로그, 유튜브, 카카오맵, 네이버 지도 4개 플랫폼에서 총 33,740건의 리뷰를 수집했습니다.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LLM을 활용한 자연어 처리 과정입니다. 1차 모델에서 실제 등산 경험이 담긴 후기만 선별했습니다. 다음 이어지는 2차 모델에서는 필터링된 후기에서 자연경관, 힐링, 성취감 등 매력 요소를 점수화하고 대표 키워드를 추출했습니다.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최종적으로 신뢰도가 높은 리뷰와 자주 언급된 키워드에 가중치를 부여하여, 등산객이 느끼는 실제 매력을 수치로 산정했습니다.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이렇게 구축한 최종 데이터입니다. 100대 명산 등산로 테이블을 중심으로 버스 정류장, 주차장, 관광인프라, 매력지수까지 총 5개의 테이블로 구성했습니다.</a:t>
            </a:r>
          </a:p>
          <a:p>
            <a:r>
              <a:rPr lang="en-US"/>
              <a:t>이 데이터를 바탕으로 유사한 특성의 등산로끼리 그룹화하여 테마별 맞춤 추천을 제공하기 위해 군집 분석을 수행했습니다.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피처는 주변 이용 여건을 의미하는 관광편의성, 시각적 만족을 의미하는 경관 감성, 신체적 체험을 의미하는 산행 경험, 시기에 따른 자연 매력을 의미하는 계절매력, 그리고 정서적 만족 가치를 나타내는 힐링까지 총 5개로 선정하여 군집화 진행했습니다.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다음으로 군집 분석에서</a:t>
            </a:r>
          </a:p>
          <a:p>
            <a:r>
              <a:rPr lang="en-US"/>
              <a:t>유클리드 거리와 코사인 유사도 두 가지 방식을 비교했습니다.</a:t>
            </a:r>
          </a:p>
          <a:p>
            <a:r>
              <a:rPr lang="en-US"/>
              <a:t/>
            </a:r>
          </a:p>
          <a:p>
            <a:r>
              <a:rPr lang="en-US"/>
              <a:t>유클리드 거리에서는</a:t>
            </a:r>
          </a:p>
          <a:p>
            <a:r>
              <a:rPr lang="en-US"/>
              <a:t>Standard Scaler를 적용해 점수의 절대적 차이를 반영하도록 했습니다.</a:t>
            </a:r>
          </a:p>
          <a:p>
            <a:r>
              <a:rPr lang="en-US"/>
              <a:t/>
            </a:r>
          </a:p>
          <a:p>
            <a:r>
              <a:rPr lang="en-US"/>
              <a:t>반면 코사인 유사도는</a:t>
            </a:r>
          </a:p>
          <a:p>
            <a:r>
              <a:rPr lang="en-US"/>
              <a:t>표준화 후 엘투 정규화를 추가해</a:t>
            </a:r>
          </a:p>
          <a:p>
            <a:r>
              <a:rPr lang="en-US"/>
              <a:t>점수 크기보다는 변수 간 패턴 유사성을 강조했습니다.</a:t>
            </a:r>
          </a:p>
          <a:p>
            <a:r>
              <a:rPr lang="en-US"/>
              <a:t/>
            </a:r>
          </a:p>
          <a:p>
            <a:r>
              <a:rPr lang="en-US"/>
              <a:t>유클리드 거리와 코사인 유사도를 각각 적용해</a:t>
            </a:r>
          </a:p>
          <a:p>
            <a:r>
              <a:rPr lang="en-US"/>
              <a:t>서로 다른 군집 결과를 생성했습니다.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이후 어떤 군집이 실제로 의미 있는지 검증하기 위해</a:t>
            </a:r>
          </a:p>
          <a:p>
            <a:r>
              <a:rPr lang="en-US"/>
              <a:t>3단계 통계 검증 프로세스를 적용했습니다.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먼저 크루스칼-월리스 검정을 통해</a:t>
            </a:r>
          </a:p>
          <a:p>
            <a:r>
              <a:rPr lang="en-US"/>
              <a:t>군집 간 차이가 존재하는지 확인했고,</a:t>
            </a:r>
          </a:p>
          <a:p>
            <a:r>
              <a:rPr lang="en-US"/>
              <a:t>이후 던 테스트와 홈 보정을 적용해</a:t>
            </a:r>
          </a:p>
          <a:p>
            <a:r>
              <a:rPr lang="en-US"/>
              <a:t>어느 군집 쌍이 다른지를 분석했습니다.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마지막으로 클립스 델타를 사용해</a:t>
            </a:r>
          </a:p>
          <a:p>
            <a:r>
              <a:rPr lang="en-US"/>
              <a:t>실질적인 효과 크기를 정량적으로 평가했습니다.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군집 결과를 비교할 때</a:t>
            </a:r>
          </a:p>
          <a:p>
            <a:r>
              <a:rPr lang="en-US"/>
              <a:t>여러 평가 지표를 함께 계산했습니다.</a:t>
            </a:r>
          </a:p>
          <a:p>
            <a:r>
              <a:rPr lang="en-US"/>
              <a:t/>
            </a:r>
          </a:p>
          <a:p>
            <a:r>
              <a:rPr lang="en-US"/>
              <a:t>본 프로젝트의 목표는 ‘하나의 최적 군집’을 찾는 것이 아니라,</a:t>
            </a:r>
          </a:p>
          <a:p>
            <a:r>
              <a:rPr lang="en-US"/>
              <a:t>사용자가 다양한 유형 중에서 선택할 수 있도록 추천하는 시스템이기 때문에</a:t>
            </a:r>
          </a:p>
          <a:p>
            <a:r>
              <a:rPr lang="en-US"/>
              <a:t>단순히 서로 다르기만 한 것보다, 각 군집이 얼마나 뚜렷한 성격 차이를 가지는지가</a:t>
            </a:r>
          </a:p>
          <a:p>
            <a:r>
              <a:rPr lang="en-US"/>
              <a:t>더 중요하다고 판단했습니다.</a:t>
            </a:r>
          </a:p>
          <a:p>
            <a:r>
              <a:rPr lang="en-US"/>
              <a:t/>
            </a:r>
          </a:p>
          <a:p>
            <a:r>
              <a:rPr lang="en-US"/>
              <a:t>이를 반영하기 위해</a:t>
            </a:r>
          </a:p>
          <a:p>
            <a:r>
              <a:rPr lang="en-US"/>
              <a:t>군집 간 평균 효과크기를 나타내는 mean absolute delta와,</a:t>
            </a:r>
          </a:p>
          <a:p>
            <a:r>
              <a:rPr lang="en-US"/>
              <a:t>여러 지표를 종합한 스코어를</a:t>
            </a:r>
          </a:p>
          <a:p>
            <a:r>
              <a:rPr lang="en-US"/>
              <a:t>주요 판단 기준으로 사용했습니다.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그 결과,</a:t>
            </a:r>
          </a:p>
          <a:p>
            <a:r>
              <a:rPr lang="en-US"/>
              <a:t>차별성과 해석력이 가장 균형 잡힌</a:t>
            </a:r>
          </a:p>
          <a:p>
            <a:r>
              <a:rPr lang="en-US"/>
              <a:t>6개 군집 조합을 최종적으로 선택했습니다.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분류된 6개 군집별 특성은 다음과 같습니다.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- 사계절 자연 변화가 매력인 계절매력형, </a:t>
            </a:r>
          </a:p>
          <a:p>
            <a:r>
              <a:rPr lang="en-US"/>
              <a:t>- 특정 매력이 두드러지지 않는 잠재력 보유형, </a:t>
            </a:r>
          </a:p>
          <a:p>
            <a:r>
              <a:rPr lang="en-US"/>
              <a:t>- 시각적 보상과 성취감 중심의 전망/사진형, </a:t>
            </a:r>
          </a:p>
          <a:p>
            <a:r>
              <a:rPr lang="en-US"/>
              <a:t>-접근성과 인프라가 뛰어난 가족/인프라형</a:t>
            </a:r>
          </a:p>
          <a:p>
            <a:r>
              <a:rPr lang="en-US"/>
              <a:t>- 정서적 회복 중심의 힐링형,</a:t>
            </a:r>
          </a:p>
          <a:p>
            <a:r>
              <a:rPr lang="en-US"/>
              <a:t>- 그리고 본연의 아름다움을 제공하는 숨은명소형입니다.</a:t>
            </a:r>
          </a:p>
          <a:p>
            <a:r>
              <a:rPr lang="en-US"/>
              <a:t/>
            </a:r>
          </a:p>
          <a:p>
            <a:r>
              <a:rPr lang="en-US"/>
              <a:t> 이 중 잠재력 보유형은 모든 지표에서 평균 이하를 기록해 현재 추천 시스템에서는 제외하고, 5개 테마를 기반으로 정보를 제공합니다.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각 군집들이 통계적으로 유의미하게 분류되었는지 검증해보았습니다.</a:t>
            </a:r>
          </a:p>
          <a:p>
            <a:r>
              <a:rPr lang="en-US"/>
              <a:t/>
            </a:r>
          </a:p>
          <a:p>
            <a:r>
              <a:rPr lang="en-US"/>
              <a:t>먼저 계절매력형입니다. </a:t>
            </a:r>
          </a:p>
          <a:p>
            <a:r>
              <a:rPr lang="en-US"/>
              <a:t>전체 군집 중 유일하게 계절매력 8점대를 달성했고, 웰치스 아노바 검정 결과 p-value 0.05 미만으로 통계적 우위가 입증되었습니다.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전망/사진형은 전망 점수와 사진 점수 모두 1위를 기록하고 있고, 아노바 검정 결과 0.05 미만으로 SNS 인증샷 명소로서의 가치가 통계적으로 검증되었습니다.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가족/인프라형은 </a:t>
            </a:r>
          </a:p>
          <a:p>
            <a:r>
              <a:rPr lang="en-US"/>
              <a:t>웰치스 아노바 검정 결과 p값 0.001 미만, 효과크기 0.26으로 큰 효과가 확인되었습니다. </a:t>
            </a:r>
          </a:p>
          <a:p>
            <a:r>
              <a:rPr lang="en-US"/>
              <a:t/>
            </a:r>
          </a:p>
          <a:p>
            <a:r>
              <a:rPr lang="en-US"/>
              <a:t>게임즈 하웰 사후검정에서도 대다수 군집 대비 접근성과 인프라 지표에서 통계적 우위가 입증되었습니다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힐링형은 웰치스 아노바 및 게임즈 하웰 사후검정 결과, p값 0.05 미만으로 전 군집 대비 힐링 점수가 유의미하게 높음이 수학적으로 증명되었습니다.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숨은명소형입니다. 주차장 접근성은 1.23점으로 최하위지만, 매력 종합점수는 평균을 상회합니다. 접근성이 떨어짐에도 산 자체의 매력으로 등산객을 유인하는 숨은 명소임을 입증했습니다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지금까지 수집하고 분석한 데이터를 기반으로 제작한 등산로 추천 시스템 설명드리겠습니다.</a:t>
            </a:r>
          </a:p>
          <a:p>
            <a:r>
              <a:rPr lang="en-US"/>
              <a:t/>
            </a:r>
          </a:p>
          <a:p>
            <a:r>
              <a:rPr lang="en-US"/>
              <a:t>저희 대시보드의 핵심 목표는 세 가지입니다. 여러 플랫폼에 흩어진 등산 정보를 한 곳에서 통합 제공하고, 사용자의 체력과 선호도에 맞는 맞춤형 코스를 추천하며, 이를 통해 국내 등산 관광을 활성화하는 것입니다.</a:t>
            </a:r>
          </a:p>
          <a:p>
            <a:r>
              <a:rPr lang="en-US"/>
              <a:t/>
            </a:r>
          </a:p>
          <a:p>
            <a:r>
              <a:rPr lang="en-US"/>
              <a:t>예상 사용자는 세 그룹입니다. 자신에게 맞는 산을 찾는 맞춤형 추천 희망자, 새로운 코스를 탐색하는 등산지 탐색자, 그리고 관광 데이터를 활용하려는 지역 관광 담당자입니다.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대시보드의 홈 화면입니다.</a:t>
            </a:r>
          </a:p>
          <a:p>
            <a:r>
              <a:rPr lang="en-US"/>
              <a:t>저희 시스템의 이름은 '오르락 내리락'으로, 등산의 즐거움을 담아 지어보았습니다.</a:t>
            </a:r>
          </a:p>
          <a:p>
            <a:r>
              <a:rPr lang="en-US"/>
              <a:t/>
            </a:r>
          </a:p>
          <a:p>
            <a:r>
              <a:rPr lang="en-US"/>
              <a:t>홈 화면 중앙에 위치한 주요 기능 영역에서는 대시보드가 제공하는 기능들을 페이지별로 소개하여, 대시보드 가이드 역할을 합니다. </a:t>
            </a:r>
          </a:p>
          <a:p>
            <a:r>
              <a:rPr lang="en-US"/>
              <a:t>그리고 왼쪽의 사이드바는</a:t>
            </a:r>
          </a:p>
          <a:p>
            <a:r>
              <a:rPr lang="en-US"/>
              <a:t>내비게이션 메뉴들로 구성되고 각 페이지로 바로 이동할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분석 페이지입니다.</a:t>
            </a:r>
          </a:p>
          <a:p>
            <a:r>
              <a:rPr lang="en-US"/>
              <a:t/>
            </a:r>
          </a:p>
          <a:p>
            <a:r>
              <a:rPr lang="en-US"/>
              <a:t>상단의 데이터 개요 영역에서는 프로젝트에 활용된 데이터 볼륨을 한눈에 확인할 수 있습니다. </a:t>
            </a:r>
          </a:p>
          <a:p>
            <a:r>
              <a:rPr lang="en-US"/>
              <a:t/>
            </a:r>
          </a:p>
          <a:p>
            <a:r>
              <a:rPr lang="en-US"/>
              <a:t>하단의 등산로 분석 영역에서는 세 가지 탭을 통해 난이도,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등산로 거리 및 고도,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접근성 측면에서 전체 등산로 시각화 결과를 확인할 수 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맞춤 등산로 조회 페이지입니다.</a:t>
            </a:r>
          </a:p>
          <a:p>
            <a:r>
              <a:rPr lang="en-US"/>
              <a:t>해당 페이지에서 사용자 동작은 세 단계로 나누어집니다.</a:t>
            </a:r>
          </a:p>
          <a:p>
            <a:r>
              <a:rPr lang="en-US"/>
              <a:t/>
            </a:r>
          </a:p>
          <a:p>
            <a:r>
              <a:rPr lang="en-US"/>
              <a:t>먼저 군집화를 통해 분류한  5가지 테마 중 사용자의 목적에 맞는 테마를 선택합니다.</a:t>
            </a:r>
          </a:p>
          <a:p>
            <a:r>
              <a:rPr lang="en-US"/>
              <a:t/>
            </a:r>
          </a:p>
          <a:p>
            <a:r>
              <a:rPr lang="en-US"/>
              <a:t>그 다음 슬라이더를 개인의 성향에 맞게 조정하면 실시간으로 조건에 맞는 등산로 리스트가 출력됩니다.</a:t>
            </a:r>
          </a:p>
          <a:p>
            <a:r>
              <a:rPr lang="en-US"/>
              <a:t/>
            </a:r>
          </a:p>
          <a:p>
            <a:r>
              <a:rPr lang="en-US"/>
              <a:t>출력된 리스트에서는 코스별 거리, 고도 등 기본 스펙과 함께 리뷰 분석과 데이터 수집을 통해 산출한 매력 점수, 인프라 점수를 한눈에 비교하여 합리적인 선택을 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검색 결과에서 특정한 등산로를 선택하면 상세 정보가 표시됩니다.</a:t>
            </a:r>
          </a:p>
          <a:p>
            <a:r>
              <a:rPr lang="en-US"/>
              <a:t/>
            </a:r>
          </a:p>
          <a:p>
            <a:r>
              <a:rPr lang="en-US"/>
              <a:t>GPX 데이터로 실제 등산로의 위성 위치 정보를 지도 위에 렌더링하여 코스의 모양을 파악할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오른쪽 코스 정보 카드에서는 예상 소요 시간, 고도, 난이도 등 물리적 스펙과 함께, 가장 가까운 주차장, 버스 정류장 정보를 보여줍니다.</a:t>
            </a:r>
          </a:p>
          <a:p>
            <a:r>
              <a:rPr lang="en-US"/>
              <a:t/>
            </a:r>
          </a:p>
          <a:p>
            <a:r>
              <a:rPr lang="en-US"/>
              <a:t>하단에는 주변 POI 연동 기능으로, 등산로 기준 반경 내 음식점, 카페, 숙소, 관광명소 정보를 제공하여 등산 전후 동선 계획까지 지원합니다.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산 정보 조회 페이지입니다.</a:t>
            </a:r>
          </a:p>
          <a:p>
            <a:r>
              <a:rPr lang="en-US"/>
              <a:t/>
            </a:r>
          </a:p>
          <a:p>
            <a:r>
              <a:rPr lang="en-US"/>
              <a:t>상단에서는 드롭다운, 텍스트 검색, 지도 마커 클릭 세 가지 방식으로 원하는 산을 찾을 수 있습니다.</a:t>
            </a:r>
          </a:p>
          <a:p>
            <a:r>
              <a:rPr lang="en-US"/>
              <a:t/>
            </a:r>
          </a:p>
          <a:p>
            <a:r>
              <a:rPr lang="en-US"/>
              <a:t>산을 선택하면 중앙에 산 정보 카드가 표시됩니다. 대표 이미지, 높이, 소재지와 함께 해당 산의 특징을 한 줄로 요약해서 보여줍니다.</a:t>
            </a:r>
          </a:p>
          <a:p>
            <a:r>
              <a:rPr lang="en-US"/>
              <a:t/>
            </a:r>
          </a:p>
          <a:p>
            <a:r>
              <a:rPr lang="en-US"/>
              <a:t>하단에는 두 개의 액션 버튼이 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'매력 확인하기' 버튼을 클릭하면 리뷰 감성 분석 결과를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왼쪽의 레이더 차트는 6가지 지표를 시각화하여 해당 산의 '성격'을 직관적으로 보여줍니다.</a:t>
            </a:r>
          </a:p>
          <a:p>
            <a:r>
              <a:rPr lang="en-US"/>
              <a:t/>
            </a:r>
          </a:p>
          <a:p>
            <a:r>
              <a:rPr lang="en-US"/>
              <a:t>오른쪽의 워드 클라우드에서는 리뷰에서 빈번하게 등장하는 단어를 추출한 것으로, 등산객들이 실제로 무엇을 인상 깊게 느꼈는지 파악할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하단의 매력 지수 스코어링에서는 각 항목의 점수가 전체 산 평균 대비 높은지, 낮은지를 표시해 해당 산의 강점과 약점을 한눈에 파악할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'등산로 코스 확인하기' 버튼을 통해서는 해당 산의 등산로 정보를 확인할 수 있습니다.</a:t>
            </a:r>
          </a:p>
          <a:p>
            <a:r>
              <a:rPr lang="en-US"/>
              <a:t/>
            </a:r>
          </a:p>
          <a:p>
            <a:r>
              <a:rPr lang="en-US"/>
              <a:t>코스를 선택하면 앞서 맞춤 등산로 조회에서 보셨던 것과 동일한 등산로 카드를 해당 파트에서도 확인할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마지막으로 AI 등산로 추천 페이지입니다. 대화형 챗봇을 통해 자연어로 원하는 등산로를 추천받을 수 있습니다.</a:t>
            </a:r>
          </a:p>
          <a:p>
            <a:r>
              <a:rPr lang="en-US"/>
              <a:t/>
            </a:r>
          </a:p>
          <a:p>
            <a:r>
              <a:rPr lang="en-US"/>
              <a:t>먼저 사용자 입력 의도 분류 단계에서 LLM이 복잡한 문맥에 숨겨진 의도를 분석합니다. 그 다음 자연어를 정형 쿼리로 변환합니다. 마지막으로 데이터 기반 필터링을 통해 600여 개 등산로 중 조건에 부합하는 최적의 코스를 추천합니다.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인사이트입니다.</a:t>
            </a:r>
          </a:p>
          <a:p>
            <a:r>
              <a:rPr lang="en-US"/>
              <a:t>군집 분석 결과, 등산로 관리나 매력 측면에서 점수가 현저히 떨어지는 '취약 군집'이 발견되었습니다. 저희는 이 등산로들을 활성화하기 위한 두 가지 전략을 제안합니다.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먼저 등산로 관리 측면입니다.</a:t>
            </a:r>
          </a:p>
          <a:p>
            <a:r>
              <a:rPr lang="en-US"/>
              <a:t>현재 등산로 신고는 복잡한 앱 설치, 로그인 절차 때문에 방문객들이 신고를 하려다가도 포기하게 만듭니다.</a:t>
            </a:r>
          </a:p>
          <a:p>
            <a:r>
              <a:rPr lang="en-US"/>
              <a:t>이러한 문제를 해결하기 위해, QR 스캔만으로 카카오톡 신고가 가능하게 하고, 특산물 추첨 이벤트를 통해 자발적 참여를 유도하는 참여형 등산로 관리 시스템을 제안합니다.</a:t>
            </a:r>
          </a:p>
          <a:p>
            <a:r>
              <a:rPr lang="en-US"/>
              <a:t>이를 통해 참여 유도는 물론 사각지대 파손 정보를 실시간 수집하여 즉각 보수하고, 산악 안전사고를 방지하는 효과를 기대할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다음은 관광인프라 측면입니다. 최근 식재료에 대한 높아진 관심을 반영해, 봄과 가을에 제철 임산물 마켓을 운영합니다. 이를 통해 등산객의 지역 체류 시간 확대, 지역경제 활성화, 그리고 해당 지역 재방문의 효과를 기대해 볼 수 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이상으로 여행갈4람 팀의 발표를 마치겠습니다. 감사합니다.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(인위적인 시설보다 자연 자체에서 힐링을 찾기 때문)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1.png" Type="http://schemas.openxmlformats.org/officeDocument/2006/relationships/image"/><Relationship Id="rId6" Target="../media/image32.jpe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5.png" Type="http://schemas.openxmlformats.org/officeDocument/2006/relationships/image"/><Relationship Id="rId6" Target="../media/image32.jpe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8.png" Type="http://schemas.openxmlformats.org/officeDocument/2006/relationships/image"/><Relationship Id="rId6" Target="../media/image18.png" Type="http://schemas.openxmlformats.org/officeDocument/2006/relationships/image"/><Relationship Id="rId7" Target="../media/image16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57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58.png" Type="http://schemas.openxmlformats.org/officeDocument/2006/relationships/image"/><Relationship Id="rId6" Target="../embeddings/oleObject2.bin" Type="http://schemas.openxmlformats.org/officeDocument/2006/relationships/oleObject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59.png" Type="http://schemas.openxmlformats.org/officeDocument/2006/relationships/image"/><Relationship Id="rId4" Target="../embeddings/oleObject3.bin" Type="http://schemas.openxmlformats.org/officeDocument/2006/relationships/oleObject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60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66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Relationship Id="rId3" Target="../media/image80.png" Type="http://schemas.openxmlformats.org/officeDocument/2006/relationships/image"/><Relationship Id="rId4" Target="../media/image81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82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86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89.png" Type="http://schemas.openxmlformats.org/officeDocument/2006/relationships/image"/><Relationship Id="rId4" Target="../media/image9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3.xml" Type="http://schemas.openxmlformats.org/officeDocument/2006/relationships/notesSlide"/><Relationship Id="rId3" Target="../media/image91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4.xml" Type="http://schemas.openxmlformats.org/officeDocument/2006/relationships/notesSlide"/><Relationship Id="rId3" Target="../media/image94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6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7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8.xml" Type="http://schemas.openxmlformats.org/officeDocument/2006/relationships/notesSlid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5.png" Type="http://schemas.openxmlformats.org/officeDocument/2006/relationships/image"/><Relationship Id="rId3" Target="../media/image106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Relationship Id="rId3" Target="../media/image108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9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svg" Type="http://schemas.openxmlformats.org/officeDocument/2006/relationships/image"/><Relationship Id="rId2" Target="../notesSlides/notesSlide49.xml" Type="http://schemas.openxmlformats.org/officeDocument/2006/relationships/notesSlide"/><Relationship Id="rId3" Target="../media/image115.png" Type="http://schemas.openxmlformats.org/officeDocument/2006/relationships/image"/><Relationship Id="rId4" Target="../media/image116.png" Type="http://schemas.openxmlformats.org/officeDocument/2006/relationships/image"/><Relationship Id="rId5" Target="../media/image117.png" Type="http://schemas.openxmlformats.org/officeDocument/2006/relationships/image"/><Relationship Id="rId6" Target="../media/image118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0.xml" Type="http://schemas.openxmlformats.org/officeDocument/2006/relationships/notesSlide"/><Relationship Id="rId3" Target="../media/image119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Relationship Id="rId8" Target="../media/image120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1.xml" Type="http://schemas.openxmlformats.org/officeDocument/2006/relationships/notesSlide"/><Relationship Id="rId3" Target="../media/image122.png" Type="http://schemas.openxmlformats.org/officeDocument/2006/relationships/image"/><Relationship Id="rId4" Target="../media/image12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15527" y="668058"/>
            <a:ext cx="360642" cy="3606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A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5542"/>
            <a:ext cx="18288000" cy="8386293"/>
            <a:chOff x="0" y="0"/>
            <a:chExt cx="4816593" cy="2208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208736"/>
            </a:xfrm>
            <a:custGeom>
              <a:avLst/>
              <a:gdLst/>
              <a:ahLst/>
              <a:cxnLst/>
              <a:rect r="r" b="b" t="t" l="l"/>
              <a:pathLst>
                <a:path h="22087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08736"/>
                  </a:lnTo>
                  <a:lnTo>
                    <a:pt x="0" y="2208736"/>
                  </a:lnTo>
                  <a:close/>
                </a:path>
              </a:pathLst>
            </a:custGeom>
            <a:solidFill>
              <a:srgbClr val="C6C8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265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-9525"/>
            <a:ext cx="18288000" cy="8386293"/>
            <a:chOff x="0" y="0"/>
            <a:chExt cx="4816593" cy="22087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208736"/>
            </a:xfrm>
            <a:custGeom>
              <a:avLst/>
              <a:gdLst/>
              <a:ahLst/>
              <a:cxnLst/>
              <a:rect r="r" b="b" t="t" l="l"/>
              <a:pathLst>
                <a:path h="220873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08736"/>
                  </a:lnTo>
                  <a:lnTo>
                    <a:pt x="0" y="2208736"/>
                  </a:lnTo>
                  <a:close/>
                </a:path>
              </a:pathLst>
            </a:custGeom>
            <a:solidFill>
              <a:srgbClr val="F9FA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816593" cy="2265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888570" y="7552222"/>
            <a:ext cx="2380579" cy="1649092"/>
          </a:xfrm>
          <a:custGeom>
            <a:avLst/>
            <a:gdLst/>
            <a:ahLst/>
            <a:cxnLst/>
            <a:rect r="r" b="b" t="t" l="l"/>
            <a:pathLst>
              <a:path h="1649092" w="2380579">
                <a:moveTo>
                  <a:pt x="0" y="0"/>
                </a:moveTo>
                <a:lnTo>
                  <a:pt x="2380579" y="0"/>
                </a:lnTo>
                <a:lnTo>
                  <a:pt x="2380579" y="1649092"/>
                </a:lnTo>
                <a:lnTo>
                  <a:pt x="0" y="164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64009" y="3173578"/>
            <a:ext cx="14359982" cy="285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7"/>
              </a:lnSpc>
            </a:pPr>
            <a:r>
              <a:rPr lang="en-US" b="true" sz="9201" spc="-27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100대 명산 통합 분석을 통한</a:t>
            </a:r>
          </a:p>
          <a:p>
            <a:pPr algn="ctr">
              <a:lnSpc>
                <a:spcPts val="11317"/>
              </a:lnSpc>
            </a:pPr>
            <a:r>
              <a:rPr lang="en-US" b="true" sz="9201" spc="-27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개인화 추천 플랫폼 구축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04358" y="8716023"/>
            <a:ext cx="1691853" cy="37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  <a:spcBef>
                <a:spcPct val="0"/>
              </a:spcBef>
            </a:pPr>
            <a:r>
              <a:rPr lang="en-US" b="true" sz="2175" spc="18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여행갈4람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58124" y="9091064"/>
            <a:ext cx="8041470" cy="72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2800" spc="268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강승희  강태경  이혜림  임혜윤  하지웅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15527" y="668058"/>
            <a:ext cx="360642" cy="3606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A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3847172" y="3971148"/>
            <a:ext cx="10879388" cy="196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4"/>
              </a:lnSpc>
            </a:pPr>
            <a:r>
              <a:rPr lang="en-US" sz="15726">
                <a:solidFill>
                  <a:srgbClr val="B2B09B">
                    <a:alpha val="25882"/>
                  </a:srgbClr>
                </a:solidFill>
                <a:latin typeface="AdvaOpen"/>
                <a:ea typeface="AdvaOpen"/>
                <a:cs typeface="AdvaOpen"/>
                <a:sym typeface="AdvaOpen"/>
              </a:rPr>
              <a:t>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74470" y="1833697"/>
            <a:ext cx="1129998" cy="694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7"/>
              </a:lnSpc>
            </a:pPr>
            <a:r>
              <a:rPr lang="en-US" sz="4099" spc="122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  <a:p>
            <a:pPr algn="l">
              <a:lnSpc>
                <a:spcPts val="9347"/>
              </a:lnSpc>
            </a:pPr>
            <a:r>
              <a:rPr lang="en-US" sz="4099" spc="122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  <a:p>
            <a:pPr algn="l">
              <a:lnSpc>
                <a:spcPts val="9347"/>
              </a:lnSpc>
            </a:pPr>
            <a:r>
              <a:rPr lang="en-US" sz="4099" spc="122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  <a:p>
            <a:pPr algn="l">
              <a:lnSpc>
                <a:spcPts val="9347"/>
              </a:lnSpc>
            </a:pPr>
            <a:r>
              <a:rPr lang="en-US" sz="4099" spc="122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  <a:p>
            <a:pPr algn="l">
              <a:lnSpc>
                <a:spcPts val="9347"/>
              </a:lnSpc>
            </a:pPr>
            <a:r>
              <a:rPr lang="en-US" sz="4099" spc="122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  <a:p>
            <a:pPr algn="l">
              <a:lnSpc>
                <a:spcPts val="9347"/>
              </a:lnSpc>
            </a:pPr>
            <a:r>
              <a:rPr lang="en-US" sz="4099" spc="122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72259" y="1833697"/>
            <a:ext cx="7189304" cy="694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7"/>
              </a:lnSpc>
            </a:pPr>
            <a:r>
              <a:rPr lang="en-US" sz="4099" spc="40">
                <a:solidFill>
                  <a:srgbClr val="716B6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프로젝트 배경 및 목적</a:t>
            </a:r>
          </a:p>
          <a:p>
            <a:pPr algn="l">
              <a:lnSpc>
                <a:spcPts val="9347"/>
              </a:lnSpc>
            </a:pPr>
            <a:r>
              <a:rPr lang="en-US" sz="4099" spc="40">
                <a:solidFill>
                  <a:srgbClr val="716B6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활용데이터 및 분석과정 개요</a:t>
            </a:r>
          </a:p>
          <a:p>
            <a:pPr algn="l">
              <a:lnSpc>
                <a:spcPts val="9347"/>
              </a:lnSpc>
            </a:pPr>
            <a:r>
              <a:rPr lang="en-US" sz="4099" spc="40">
                <a:solidFill>
                  <a:srgbClr val="716B6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  <a:p>
            <a:pPr algn="l">
              <a:lnSpc>
                <a:spcPts val="9347"/>
              </a:lnSpc>
            </a:pPr>
            <a:r>
              <a:rPr lang="en-US" sz="4099" spc="40">
                <a:solidFill>
                  <a:srgbClr val="716B6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대시보드</a:t>
            </a:r>
          </a:p>
          <a:p>
            <a:pPr algn="l">
              <a:lnSpc>
                <a:spcPts val="9347"/>
              </a:lnSpc>
            </a:pPr>
            <a:r>
              <a:rPr lang="en-US" sz="4099" spc="40">
                <a:solidFill>
                  <a:srgbClr val="716B6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인사이트</a:t>
            </a:r>
          </a:p>
          <a:p>
            <a:pPr algn="l">
              <a:lnSpc>
                <a:spcPts val="9347"/>
              </a:lnSpc>
            </a:pPr>
            <a:r>
              <a:rPr lang="en-US" sz="4099" spc="40">
                <a:solidFill>
                  <a:srgbClr val="716B6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부록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273558" y="3970384"/>
            <a:ext cx="7745892" cy="5287916"/>
            <a:chOff x="0" y="0"/>
            <a:chExt cx="2220125" cy="15156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0125" cy="1515621"/>
            </a:xfrm>
            <a:custGeom>
              <a:avLst/>
              <a:gdLst/>
              <a:ahLst/>
              <a:cxnLst/>
              <a:rect r="r" b="b" t="t" l="l"/>
              <a:pathLst>
                <a:path h="1515621" w="2220125">
                  <a:moveTo>
                    <a:pt x="16991" y="0"/>
                  </a:moveTo>
                  <a:lnTo>
                    <a:pt x="2203133" y="0"/>
                  </a:lnTo>
                  <a:cubicBezTo>
                    <a:pt x="2212517" y="0"/>
                    <a:pt x="2220125" y="7607"/>
                    <a:pt x="2220125" y="16991"/>
                  </a:cubicBezTo>
                  <a:lnTo>
                    <a:pt x="2220125" y="1498629"/>
                  </a:lnTo>
                  <a:cubicBezTo>
                    <a:pt x="2220125" y="1503136"/>
                    <a:pt x="2218334" y="1507458"/>
                    <a:pt x="2215148" y="1510644"/>
                  </a:cubicBezTo>
                  <a:cubicBezTo>
                    <a:pt x="2211961" y="1513830"/>
                    <a:pt x="2207640" y="1515621"/>
                    <a:pt x="2203133" y="1515621"/>
                  </a:cubicBezTo>
                  <a:lnTo>
                    <a:pt x="16991" y="1515621"/>
                  </a:lnTo>
                  <a:cubicBezTo>
                    <a:pt x="12485" y="1515621"/>
                    <a:pt x="8163" y="1513830"/>
                    <a:pt x="4977" y="1510644"/>
                  </a:cubicBezTo>
                  <a:cubicBezTo>
                    <a:pt x="1790" y="1507458"/>
                    <a:pt x="0" y="1503136"/>
                    <a:pt x="0" y="1498629"/>
                  </a:cubicBezTo>
                  <a:lnTo>
                    <a:pt x="0" y="16991"/>
                  </a:lnTo>
                  <a:cubicBezTo>
                    <a:pt x="0" y="12485"/>
                    <a:pt x="1790" y="8163"/>
                    <a:pt x="4977" y="4977"/>
                  </a:cubicBezTo>
                  <a:cubicBezTo>
                    <a:pt x="8163" y="1790"/>
                    <a:pt x="12485" y="0"/>
                    <a:pt x="16991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220125" cy="1515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93125" y="4240784"/>
            <a:ext cx="7231694" cy="903962"/>
          </a:xfrm>
          <a:custGeom>
            <a:avLst/>
            <a:gdLst/>
            <a:ahLst/>
            <a:cxnLst/>
            <a:rect r="r" b="b" t="t" l="l"/>
            <a:pathLst>
              <a:path h="903962" w="7231694">
                <a:moveTo>
                  <a:pt x="0" y="0"/>
                </a:moveTo>
                <a:lnTo>
                  <a:pt x="7231694" y="0"/>
                </a:lnTo>
                <a:lnTo>
                  <a:pt x="7231694" y="903961"/>
                </a:lnTo>
                <a:lnTo>
                  <a:pt x="0" y="903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8619" y="5144745"/>
            <a:ext cx="6820705" cy="1696650"/>
          </a:xfrm>
          <a:custGeom>
            <a:avLst/>
            <a:gdLst/>
            <a:ahLst/>
            <a:cxnLst/>
            <a:rect r="r" b="b" t="t" l="l"/>
            <a:pathLst>
              <a:path h="1696650" w="6820705">
                <a:moveTo>
                  <a:pt x="0" y="0"/>
                </a:moveTo>
                <a:lnTo>
                  <a:pt x="6820705" y="0"/>
                </a:lnTo>
                <a:lnTo>
                  <a:pt x="6820705" y="1696651"/>
                </a:lnTo>
                <a:lnTo>
                  <a:pt x="0" y="1696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73558" y="2910686"/>
            <a:ext cx="7745892" cy="631073"/>
            <a:chOff x="0" y="0"/>
            <a:chExt cx="10327856" cy="84143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327856" cy="841431"/>
              <a:chOff x="0" y="0"/>
              <a:chExt cx="2040070" cy="16620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40070" cy="166209"/>
              </a:xfrm>
              <a:custGeom>
                <a:avLst/>
                <a:gdLst/>
                <a:ahLst/>
                <a:cxnLst/>
                <a:rect r="r" b="b" t="t" l="l"/>
                <a:pathLst>
                  <a:path h="166209" w="2040070">
                    <a:moveTo>
                      <a:pt x="16991" y="0"/>
                    </a:moveTo>
                    <a:lnTo>
                      <a:pt x="2023079" y="0"/>
                    </a:lnTo>
                    <a:cubicBezTo>
                      <a:pt x="2027585" y="0"/>
                      <a:pt x="2031907" y="1790"/>
                      <a:pt x="2035094" y="4977"/>
                    </a:cubicBezTo>
                    <a:cubicBezTo>
                      <a:pt x="2038280" y="8163"/>
                      <a:pt x="2040070" y="12485"/>
                      <a:pt x="2040070" y="16991"/>
                    </a:cubicBezTo>
                    <a:lnTo>
                      <a:pt x="2040070" y="149217"/>
                    </a:lnTo>
                    <a:cubicBezTo>
                      <a:pt x="2040070" y="153724"/>
                      <a:pt x="2038280" y="158045"/>
                      <a:pt x="2035094" y="161232"/>
                    </a:cubicBezTo>
                    <a:cubicBezTo>
                      <a:pt x="2031907" y="164418"/>
                      <a:pt x="2027585" y="166209"/>
                      <a:pt x="2023079" y="166209"/>
                    </a:cubicBezTo>
                    <a:lnTo>
                      <a:pt x="16991" y="166209"/>
                    </a:lnTo>
                    <a:cubicBezTo>
                      <a:pt x="12485" y="166209"/>
                      <a:pt x="8163" y="164418"/>
                      <a:pt x="4977" y="161232"/>
                    </a:cubicBezTo>
                    <a:cubicBezTo>
                      <a:pt x="1790" y="158045"/>
                      <a:pt x="0" y="153724"/>
                      <a:pt x="0" y="149217"/>
                    </a:cubicBezTo>
                    <a:lnTo>
                      <a:pt x="0" y="16991"/>
                    </a:lnTo>
                    <a:cubicBezTo>
                      <a:pt x="0" y="12485"/>
                      <a:pt x="1790" y="8163"/>
                      <a:pt x="4977" y="4977"/>
                    </a:cubicBezTo>
                    <a:cubicBezTo>
                      <a:pt x="8163" y="1790"/>
                      <a:pt x="12485" y="0"/>
                      <a:pt x="16991" y="0"/>
                    </a:cubicBezTo>
                    <a:close/>
                  </a:path>
                </a:pathLst>
              </a:custGeom>
              <a:solidFill>
                <a:srgbClr val="B2B09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85725"/>
                <a:ext cx="2040070" cy="2519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859130" y="69646"/>
              <a:ext cx="8609596" cy="635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6"/>
                </a:lnSpc>
              </a:pPr>
              <a:r>
                <a:rPr lang="en-US" b="true" sz="2800" spc="28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등산에 대한 관심, 수요 증가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5698" y="6841396"/>
            <a:ext cx="7033044" cy="2316997"/>
            <a:chOff x="0" y="0"/>
            <a:chExt cx="9377392" cy="30893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23443"/>
              <a:ext cx="4688696" cy="2649113"/>
            </a:xfrm>
            <a:custGeom>
              <a:avLst/>
              <a:gdLst/>
              <a:ahLst/>
              <a:cxnLst/>
              <a:rect r="r" b="b" t="t" l="l"/>
              <a:pathLst>
                <a:path h="2649113" w="4688696">
                  <a:moveTo>
                    <a:pt x="0" y="0"/>
                  </a:moveTo>
                  <a:lnTo>
                    <a:pt x="4688696" y="0"/>
                  </a:lnTo>
                  <a:lnTo>
                    <a:pt x="4688696" y="2649114"/>
                  </a:lnTo>
                  <a:lnTo>
                    <a:pt x="0" y="2649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688696" y="0"/>
              <a:ext cx="4688696" cy="2672557"/>
            </a:xfrm>
            <a:custGeom>
              <a:avLst/>
              <a:gdLst/>
              <a:ahLst/>
              <a:cxnLst/>
              <a:rect r="r" b="b" t="t" l="l"/>
              <a:pathLst>
                <a:path h="2672557" w="4688696">
                  <a:moveTo>
                    <a:pt x="0" y="0"/>
                  </a:moveTo>
                  <a:lnTo>
                    <a:pt x="4688696" y="0"/>
                  </a:lnTo>
                  <a:lnTo>
                    <a:pt x="4688696" y="2672557"/>
                  </a:lnTo>
                  <a:lnTo>
                    <a:pt x="0" y="2672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7451112" y="2752102"/>
              <a:ext cx="1926280" cy="337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955"/>
                </a:lnSpc>
              </a:pPr>
              <a:r>
                <a:rPr lang="en-US" sz="910" spc="10">
                  <a:solidFill>
                    <a:srgbClr val="585049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스카이스캐너,</a:t>
              </a:r>
            </a:p>
            <a:p>
              <a:pPr algn="r">
                <a:lnSpc>
                  <a:spcPts val="955"/>
                </a:lnSpc>
              </a:pPr>
              <a:r>
                <a:rPr lang="en-US" sz="910" spc="10">
                  <a:solidFill>
                    <a:srgbClr val="585049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2026년 트렌드 “산악 바이브"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69003" y="5569991"/>
            <a:ext cx="851620" cy="1204346"/>
            <a:chOff x="0" y="0"/>
            <a:chExt cx="1235710" cy="1747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355" y="47665"/>
              <a:ext cx="1134555" cy="1651595"/>
            </a:xfrm>
            <a:custGeom>
              <a:avLst/>
              <a:gdLst/>
              <a:ahLst/>
              <a:cxnLst/>
              <a:rect r="r" b="b" t="t" l="l"/>
              <a:pathLst>
                <a:path h="1651595" w="1134555">
                  <a:moveTo>
                    <a:pt x="1134555" y="564475"/>
                  </a:moveTo>
                  <a:cubicBezTo>
                    <a:pt x="1124395" y="1149945"/>
                    <a:pt x="1121855" y="1181695"/>
                    <a:pt x="1110425" y="1224875"/>
                  </a:cubicBezTo>
                  <a:cubicBezTo>
                    <a:pt x="1100265" y="1269325"/>
                    <a:pt x="1083755" y="1312505"/>
                    <a:pt x="1062165" y="1351875"/>
                  </a:cubicBezTo>
                  <a:cubicBezTo>
                    <a:pt x="1040575" y="1392515"/>
                    <a:pt x="1013905" y="1430615"/>
                    <a:pt x="984695" y="1463635"/>
                  </a:cubicBezTo>
                  <a:cubicBezTo>
                    <a:pt x="954215" y="1496655"/>
                    <a:pt x="919925" y="1528405"/>
                    <a:pt x="881825" y="1553805"/>
                  </a:cubicBezTo>
                  <a:cubicBezTo>
                    <a:pt x="844995" y="1579205"/>
                    <a:pt x="804355" y="1599525"/>
                    <a:pt x="761175" y="1616035"/>
                  </a:cubicBezTo>
                  <a:cubicBezTo>
                    <a:pt x="719265" y="1631275"/>
                    <a:pt x="674815" y="1642705"/>
                    <a:pt x="629095" y="1647785"/>
                  </a:cubicBezTo>
                  <a:cubicBezTo>
                    <a:pt x="584645" y="1652865"/>
                    <a:pt x="538925" y="1652865"/>
                    <a:pt x="493205" y="1646515"/>
                  </a:cubicBezTo>
                  <a:cubicBezTo>
                    <a:pt x="448755" y="1641435"/>
                    <a:pt x="404305" y="1630005"/>
                    <a:pt x="362395" y="1613495"/>
                  </a:cubicBezTo>
                  <a:cubicBezTo>
                    <a:pt x="320485" y="1598255"/>
                    <a:pt x="278575" y="1575395"/>
                    <a:pt x="241745" y="1549995"/>
                  </a:cubicBezTo>
                  <a:cubicBezTo>
                    <a:pt x="204915" y="1524595"/>
                    <a:pt x="170625" y="1492845"/>
                    <a:pt x="140145" y="1459825"/>
                  </a:cubicBezTo>
                  <a:cubicBezTo>
                    <a:pt x="110935" y="1425535"/>
                    <a:pt x="84265" y="1387435"/>
                    <a:pt x="63945" y="1346795"/>
                  </a:cubicBezTo>
                  <a:cubicBezTo>
                    <a:pt x="43625" y="1307425"/>
                    <a:pt x="27115" y="1264245"/>
                    <a:pt x="16955" y="1219795"/>
                  </a:cubicBezTo>
                  <a:cubicBezTo>
                    <a:pt x="5525" y="1176615"/>
                    <a:pt x="-825" y="1133435"/>
                    <a:pt x="445" y="1085175"/>
                  </a:cubicBezTo>
                  <a:cubicBezTo>
                    <a:pt x="1715" y="1030565"/>
                    <a:pt x="10605" y="964525"/>
                    <a:pt x="29655" y="907375"/>
                  </a:cubicBezTo>
                  <a:cubicBezTo>
                    <a:pt x="49975" y="851495"/>
                    <a:pt x="79185" y="794345"/>
                    <a:pt x="116015" y="747355"/>
                  </a:cubicBezTo>
                  <a:cubicBezTo>
                    <a:pt x="151575" y="699095"/>
                    <a:pt x="198565" y="654645"/>
                    <a:pt x="248095" y="621625"/>
                  </a:cubicBezTo>
                  <a:cubicBezTo>
                    <a:pt x="297625" y="587335"/>
                    <a:pt x="356045" y="560665"/>
                    <a:pt x="413195" y="544155"/>
                  </a:cubicBezTo>
                  <a:cubicBezTo>
                    <a:pt x="471615" y="528915"/>
                    <a:pt x="535115" y="521295"/>
                    <a:pt x="594805" y="525105"/>
                  </a:cubicBezTo>
                  <a:cubicBezTo>
                    <a:pt x="654495" y="527645"/>
                    <a:pt x="716725" y="541615"/>
                    <a:pt x="772605" y="564475"/>
                  </a:cubicBezTo>
                  <a:cubicBezTo>
                    <a:pt x="828485" y="586065"/>
                    <a:pt x="883095" y="619085"/>
                    <a:pt x="928815" y="658455"/>
                  </a:cubicBezTo>
                  <a:cubicBezTo>
                    <a:pt x="974535" y="696555"/>
                    <a:pt x="1016445" y="746085"/>
                    <a:pt x="1046925" y="796885"/>
                  </a:cubicBezTo>
                  <a:cubicBezTo>
                    <a:pt x="1078675" y="848955"/>
                    <a:pt x="1101535" y="908645"/>
                    <a:pt x="1115505" y="967065"/>
                  </a:cubicBezTo>
                  <a:cubicBezTo>
                    <a:pt x="1128205" y="1025485"/>
                    <a:pt x="1130745" y="1088985"/>
                    <a:pt x="1124395" y="1148675"/>
                  </a:cubicBezTo>
                  <a:cubicBezTo>
                    <a:pt x="1118045" y="1208365"/>
                    <a:pt x="1101535" y="1270595"/>
                    <a:pt x="1076135" y="1323935"/>
                  </a:cubicBezTo>
                  <a:cubicBezTo>
                    <a:pt x="1050735" y="1378545"/>
                    <a:pt x="1015175" y="1431885"/>
                    <a:pt x="973265" y="1475065"/>
                  </a:cubicBezTo>
                  <a:cubicBezTo>
                    <a:pt x="932625" y="1519515"/>
                    <a:pt x="881825" y="1557615"/>
                    <a:pt x="828485" y="1585555"/>
                  </a:cubicBezTo>
                  <a:cubicBezTo>
                    <a:pt x="775145" y="1613495"/>
                    <a:pt x="714185" y="1633815"/>
                    <a:pt x="655765" y="1643975"/>
                  </a:cubicBezTo>
                  <a:cubicBezTo>
                    <a:pt x="596075" y="1654135"/>
                    <a:pt x="532575" y="1654135"/>
                    <a:pt x="472885" y="1643975"/>
                  </a:cubicBezTo>
                  <a:cubicBezTo>
                    <a:pt x="414465" y="1633815"/>
                    <a:pt x="353505" y="1613495"/>
                    <a:pt x="300165" y="1585555"/>
                  </a:cubicBezTo>
                  <a:cubicBezTo>
                    <a:pt x="246825" y="1557615"/>
                    <a:pt x="196025" y="1519515"/>
                    <a:pt x="155385" y="1475065"/>
                  </a:cubicBezTo>
                  <a:cubicBezTo>
                    <a:pt x="113475" y="1431885"/>
                    <a:pt x="77915" y="1378545"/>
                    <a:pt x="52515" y="1323935"/>
                  </a:cubicBezTo>
                  <a:cubicBezTo>
                    <a:pt x="27115" y="1270595"/>
                    <a:pt x="10605" y="1208365"/>
                    <a:pt x="4255" y="1148675"/>
                  </a:cubicBezTo>
                  <a:cubicBezTo>
                    <a:pt x="-2095" y="1088985"/>
                    <a:pt x="445" y="1025485"/>
                    <a:pt x="14415" y="967065"/>
                  </a:cubicBezTo>
                  <a:cubicBezTo>
                    <a:pt x="27115" y="908645"/>
                    <a:pt x="49975" y="848955"/>
                    <a:pt x="81725" y="796885"/>
                  </a:cubicBezTo>
                  <a:cubicBezTo>
                    <a:pt x="112205" y="746085"/>
                    <a:pt x="154115" y="696555"/>
                    <a:pt x="199835" y="658455"/>
                  </a:cubicBezTo>
                  <a:cubicBezTo>
                    <a:pt x="245555" y="619085"/>
                    <a:pt x="300165" y="586065"/>
                    <a:pt x="356045" y="564475"/>
                  </a:cubicBezTo>
                  <a:cubicBezTo>
                    <a:pt x="411925" y="541615"/>
                    <a:pt x="474155" y="527645"/>
                    <a:pt x="533845" y="525105"/>
                  </a:cubicBezTo>
                  <a:cubicBezTo>
                    <a:pt x="593535" y="521295"/>
                    <a:pt x="657035" y="528915"/>
                    <a:pt x="715455" y="544155"/>
                  </a:cubicBezTo>
                  <a:cubicBezTo>
                    <a:pt x="772605" y="560665"/>
                    <a:pt x="831025" y="587335"/>
                    <a:pt x="880555" y="621625"/>
                  </a:cubicBezTo>
                  <a:cubicBezTo>
                    <a:pt x="930085" y="654645"/>
                    <a:pt x="977075" y="699095"/>
                    <a:pt x="1012635" y="747355"/>
                  </a:cubicBezTo>
                  <a:cubicBezTo>
                    <a:pt x="1049465" y="794345"/>
                    <a:pt x="1079945" y="851495"/>
                    <a:pt x="1098995" y="907375"/>
                  </a:cubicBezTo>
                  <a:cubicBezTo>
                    <a:pt x="1118045" y="965795"/>
                    <a:pt x="1126935" y="1034375"/>
                    <a:pt x="1128205" y="1090255"/>
                  </a:cubicBezTo>
                  <a:cubicBezTo>
                    <a:pt x="1129475" y="1138515"/>
                    <a:pt x="1121855" y="1181695"/>
                    <a:pt x="1111695" y="1224875"/>
                  </a:cubicBezTo>
                  <a:cubicBezTo>
                    <a:pt x="1100265" y="1269325"/>
                    <a:pt x="1083755" y="1312505"/>
                    <a:pt x="1062165" y="1351875"/>
                  </a:cubicBezTo>
                  <a:cubicBezTo>
                    <a:pt x="1040575" y="1392515"/>
                    <a:pt x="1013905" y="1430615"/>
                    <a:pt x="984695" y="1463635"/>
                  </a:cubicBezTo>
                  <a:cubicBezTo>
                    <a:pt x="954215" y="1496655"/>
                    <a:pt x="919925" y="1528405"/>
                    <a:pt x="881825" y="1553805"/>
                  </a:cubicBezTo>
                  <a:cubicBezTo>
                    <a:pt x="844995" y="1579205"/>
                    <a:pt x="804355" y="1599525"/>
                    <a:pt x="761175" y="1616035"/>
                  </a:cubicBezTo>
                  <a:cubicBezTo>
                    <a:pt x="719265" y="1631275"/>
                    <a:pt x="674815" y="1642705"/>
                    <a:pt x="629095" y="1647785"/>
                  </a:cubicBezTo>
                  <a:cubicBezTo>
                    <a:pt x="584645" y="1652865"/>
                    <a:pt x="538925" y="1652865"/>
                    <a:pt x="493205" y="1646515"/>
                  </a:cubicBezTo>
                  <a:cubicBezTo>
                    <a:pt x="448755" y="1641435"/>
                    <a:pt x="404305" y="1630005"/>
                    <a:pt x="362395" y="1613495"/>
                  </a:cubicBezTo>
                  <a:cubicBezTo>
                    <a:pt x="320485" y="1598255"/>
                    <a:pt x="278575" y="1575395"/>
                    <a:pt x="241745" y="1549995"/>
                  </a:cubicBezTo>
                  <a:cubicBezTo>
                    <a:pt x="204915" y="1524595"/>
                    <a:pt x="170625" y="1492845"/>
                    <a:pt x="140145" y="1459825"/>
                  </a:cubicBezTo>
                  <a:cubicBezTo>
                    <a:pt x="110935" y="1425535"/>
                    <a:pt x="84265" y="1387435"/>
                    <a:pt x="63945" y="1348065"/>
                  </a:cubicBezTo>
                  <a:cubicBezTo>
                    <a:pt x="43625" y="1307425"/>
                    <a:pt x="27115" y="1264245"/>
                    <a:pt x="16955" y="1219795"/>
                  </a:cubicBezTo>
                  <a:cubicBezTo>
                    <a:pt x="5525" y="1176615"/>
                    <a:pt x="2985" y="1144865"/>
                    <a:pt x="445" y="1085175"/>
                  </a:cubicBezTo>
                  <a:cubicBezTo>
                    <a:pt x="-3365" y="964525"/>
                    <a:pt x="18225" y="659725"/>
                    <a:pt x="29655" y="539075"/>
                  </a:cubicBezTo>
                  <a:cubicBezTo>
                    <a:pt x="36005" y="480655"/>
                    <a:pt x="37275" y="450175"/>
                    <a:pt x="48705" y="408265"/>
                  </a:cubicBezTo>
                  <a:cubicBezTo>
                    <a:pt x="60135" y="365085"/>
                    <a:pt x="77915" y="323175"/>
                    <a:pt x="99505" y="285075"/>
                  </a:cubicBezTo>
                  <a:cubicBezTo>
                    <a:pt x="121095" y="245705"/>
                    <a:pt x="147765" y="208875"/>
                    <a:pt x="176975" y="177125"/>
                  </a:cubicBezTo>
                  <a:cubicBezTo>
                    <a:pt x="207455" y="144105"/>
                    <a:pt x="241745" y="114895"/>
                    <a:pt x="278575" y="90765"/>
                  </a:cubicBezTo>
                  <a:cubicBezTo>
                    <a:pt x="315405" y="66635"/>
                    <a:pt x="356045" y="46315"/>
                    <a:pt x="397955" y="31075"/>
                  </a:cubicBezTo>
                  <a:cubicBezTo>
                    <a:pt x="439865" y="17105"/>
                    <a:pt x="484315" y="6945"/>
                    <a:pt x="527495" y="3135"/>
                  </a:cubicBezTo>
                  <a:cubicBezTo>
                    <a:pt x="571945" y="-1945"/>
                    <a:pt x="617665" y="-675"/>
                    <a:pt x="660845" y="5675"/>
                  </a:cubicBezTo>
                  <a:cubicBezTo>
                    <a:pt x="705295" y="12025"/>
                    <a:pt x="748475" y="23455"/>
                    <a:pt x="789115" y="39965"/>
                  </a:cubicBezTo>
                  <a:cubicBezTo>
                    <a:pt x="831025" y="56475"/>
                    <a:pt x="870395" y="79335"/>
                    <a:pt x="905955" y="104735"/>
                  </a:cubicBezTo>
                  <a:cubicBezTo>
                    <a:pt x="941515" y="131405"/>
                    <a:pt x="975805" y="161885"/>
                    <a:pt x="1003745" y="196175"/>
                  </a:cubicBezTo>
                  <a:cubicBezTo>
                    <a:pt x="1031685" y="229195"/>
                    <a:pt x="1057085" y="267295"/>
                    <a:pt x="1077405" y="306665"/>
                  </a:cubicBezTo>
                  <a:cubicBezTo>
                    <a:pt x="1096455" y="346035"/>
                    <a:pt x="1111695" y="389215"/>
                    <a:pt x="1120585" y="432395"/>
                  </a:cubicBezTo>
                  <a:cubicBezTo>
                    <a:pt x="1130745" y="475575"/>
                    <a:pt x="1134555" y="564475"/>
                    <a:pt x="1134555" y="56447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57918" y="588711"/>
            <a:ext cx="1128332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프로젝트 배경 및 목적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397737" y="2910686"/>
            <a:ext cx="6358853" cy="631073"/>
            <a:chOff x="0" y="0"/>
            <a:chExt cx="8478471" cy="84143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478471" cy="841431"/>
              <a:chOff x="0" y="0"/>
              <a:chExt cx="1674760" cy="16620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74760" cy="166209"/>
              </a:xfrm>
              <a:custGeom>
                <a:avLst/>
                <a:gdLst/>
                <a:ahLst/>
                <a:cxnLst/>
                <a:rect r="r" b="b" t="t" l="l"/>
                <a:pathLst>
                  <a:path h="166209" w="1674760">
                    <a:moveTo>
                      <a:pt x="20698" y="0"/>
                    </a:moveTo>
                    <a:lnTo>
                      <a:pt x="1654062" y="0"/>
                    </a:lnTo>
                    <a:cubicBezTo>
                      <a:pt x="1659552" y="0"/>
                      <a:pt x="1664816" y="2181"/>
                      <a:pt x="1668698" y="6062"/>
                    </a:cubicBezTo>
                    <a:cubicBezTo>
                      <a:pt x="1672579" y="9944"/>
                      <a:pt x="1674760" y="15208"/>
                      <a:pt x="1674760" y="20698"/>
                    </a:cubicBezTo>
                    <a:lnTo>
                      <a:pt x="1674760" y="145511"/>
                    </a:lnTo>
                    <a:cubicBezTo>
                      <a:pt x="1674760" y="151000"/>
                      <a:pt x="1672579" y="156265"/>
                      <a:pt x="1668698" y="160146"/>
                    </a:cubicBezTo>
                    <a:cubicBezTo>
                      <a:pt x="1664816" y="164028"/>
                      <a:pt x="1659552" y="166209"/>
                      <a:pt x="1654062" y="166209"/>
                    </a:cubicBezTo>
                    <a:lnTo>
                      <a:pt x="20698" y="166209"/>
                    </a:lnTo>
                    <a:cubicBezTo>
                      <a:pt x="15208" y="166209"/>
                      <a:pt x="9944" y="164028"/>
                      <a:pt x="6062" y="160146"/>
                    </a:cubicBezTo>
                    <a:cubicBezTo>
                      <a:pt x="2181" y="156265"/>
                      <a:pt x="0" y="151000"/>
                      <a:pt x="0" y="145511"/>
                    </a:cubicBezTo>
                    <a:lnTo>
                      <a:pt x="0" y="20698"/>
                    </a:lnTo>
                    <a:cubicBezTo>
                      <a:pt x="0" y="15208"/>
                      <a:pt x="2181" y="9944"/>
                      <a:pt x="6062" y="6062"/>
                    </a:cubicBezTo>
                    <a:cubicBezTo>
                      <a:pt x="9944" y="2181"/>
                      <a:pt x="15208" y="0"/>
                      <a:pt x="20698" y="0"/>
                    </a:cubicBezTo>
                    <a:close/>
                  </a:path>
                </a:pathLst>
              </a:custGeom>
              <a:solidFill>
                <a:srgbClr val="B2B09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85725"/>
                <a:ext cx="1674760" cy="2519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705287" y="69646"/>
              <a:ext cx="7067896" cy="635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6"/>
                </a:lnSpc>
              </a:pPr>
              <a:r>
                <a:rPr lang="en-US" b="true" sz="2800" spc="28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정보 습득의 어려움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97737" y="4125154"/>
            <a:ext cx="6358853" cy="1180993"/>
            <a:chOff x="0" y="0"/>
            <a:chExt cx="8478471" cy="157465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8478471" cy="1574657"/>
              <a:chOff x="0" y="0"/>
              <a:chExt cx="1674760" cy="31104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674760" cy="311043"/>
              </a:xfrm>
              <a:custGeom>
                <a:avLst/>
                <a:gdLst/>
                <a:ahLst/>
                <a:cxnLst/>
                <a:rect r="r" b="b" t="t" l="l"/>
                <a:pathLst>
                  <a:path h="311043" w="1674760">
                    <a:moveTo>
                      <a:pt x="20698" y="0"/>
                    </a:moveTo>
                    <a:lnTo>
                      <a:pt x="1654062" y="0"/>
                    </a:lnTo>
                    <a:cubicBezTo>
                      <a:pt x="1659552" y="0"/>
                      <a:pt x="1664816" y="2181"/>
                      <a:pt x="1668698" y="6062"/>
                    </a:cubicBezTo>
                    <a:cubicBezTo>
                      <a:pt x="1672579" y="9944"/>
                      <a:pt x="1674760" y="15208"/>
                      <a:pt x="1674760" y="20698"/>
                    </a:cubicBezTo>
                    <a:lnTo>
                      <a:pt x="1674760" y="290346"/>
                    </a:lnTo>
                    <a:cubicBezTo>
                      <a:pt x="1674760" y="295835"/>
                      <a:pt x="1672579" y="301100"/>
                      <a:pt x="1668698" y="304981"/>
                    </a:cubicBezTo>
                    <a:cubicBezTo>
                      <a:pt x="1664816" y="308863"/>
                      <a:pt x="1659552" y="311043"/>
                      <a:pt x="1654062" y="311043"/>
                    </a:cubicBezTo>
                    <a:lnTo>
                      <a:pt x="20698" y="311043"/>
                    </a:lnTo>
                    <a:cubicBezTo>
                      <a:pt x="9267" y="311043"/>
                      <a:pt x="0" y="301777"/>
                      <a:pt x="0" y="290346"/>
                    </a:cubicBezTo>
                    <a:lnTo>
                      <a:pt x="0" y="20698"/>
                    </a:lnTo>
                    <a:cubicBezTo>
                      <a:pt x="0" y="15208"/>
                      <a:pt x="2181" y="9944"/>
                      <a:pt x="6062" y="6062"/>
                    </a:cubicBezTo>
                    <a:cubicBezTo>
                      <a:pt x="9944" y="2181"/>
                      <a:pt x="15208" y="0"/>
                      <a:pt x="20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847B73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85725"/>
                <a:ext cx="1674760" cy="3967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021028" y="215575"/>
              <a:ext cx="2436416" cy="57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b="true" sz="2400" spc="24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정보의 파편화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94733" y="798321"/>
              <a:ext cx="6489005" cy="496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9"/>
                </a:lnSpc>
                <a:spcBef>
                  <a:spcPct val="0"/>
                </a:spcBef>
              </a:pPr>
              <a:r>
                <a:rPr lang="en-US" sz="2100" spc="21">
                  <a:solidFill>
                    <a:srgbClr val="47403B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산 하나를 선택하기 위해 여러 플랫폼을 방문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24329" y="5943546"/>
            <a:ext cx="6358853" cy="1181435"/>
            <a:chOff x="0" y="0"/>
            <a:chExt cx="8478471" cy="1575247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8478471" cy="1575247"/>
              <a:chOff x="0" y="0"/>
              <a:chExt cx="1674760" cy="31116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674760" cy="311160"/>
              </a:xfrm>
              <a:custGeom>
                <a:avLst/>
                <a:gdLst/>
                <a:ahLst/>
                <a:cxnLst/>
                <a:rect r="r" b="b" t="t" l="l"/>
                <a:pathLst>
                  <a:path h="311160" w="1674760">
                    <a:moveTo>
                      <a:pt x="20698" y="0"/>
                    </a:moveTo>
                    <a:lnTo>
                      <a:pt x="1654062" y="0"/>
                    </a:lnTo>
                    <a:cubicBezTo>
                      <a:pt x="1659552" y="0"/>
                      <a:pt x="1664816" y="2181"/>
                      <a:pt x="1668698" y="6062"/>
                    </a:cubicBezTo>
                    <a:cubicBezTo>
                      <a:pt x="1672579" y="9944"/>
                      <a:pt x="1674760" y="15208"/>
                      <a:pt x="1674760" y="20698"/>
                    </a:cubicBezTo>
                    <a:lnTo>
                      <a:pt x="1674760" y="290462"/>
                    </a:lnTo>
                    <a:cubicBezTo>
                      <a:pt x="1674760" y="295952"/>
                      <a:pt x="1672579" y="301216"/>
                      <a:pt x="1668698" y="305098"/>
                    </a:cubicBezTo>
                    <a:cubicBezTo>
                      <a:pt x="1664816" y="308979"/>
                      <a:pt x="1659552" y="311160"/>
                      <a:pt x="1654062" y="311160"/>
                    </a:cubicBezTo>
                    <a:lnTo>
                      <a:pt x="20698" y="311160"/>
                    </a:lnTo>
                    <a:cubicBezTo>
                      <a:pt x="15208" y="311160"/>
                      <a:pt x="9944" y="308979"/>
                      <a:pt x="6062" y="305098"/>
                    </a:cubicBezTo>
                    <a:cubicBezTo>
                      <a:pt x="2181" y="301216"/>
                      <a:pt x="0" y="295952"/>
                      <a:pt x="0" y="290462"/>
                    </a:cubicBezTo>
                    <a:lnTo>
                      <a:pt x="0" y="20698"/>
                    </a:lnTo>
                    <a:cubicBezTo>
                      <a:pt x="0" y="15208"/>
                      <a:pt x="2181" y="9944"/>
                      <a:pt x="6062" y="6062"/>
                    </a:cubicBezTo>
                    <a:cubicBezTo>
                      <a:pt x="9944" y="2181"/>
                      <a:pt x="15208" y="0"/>
                      <a:pt x="20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6B5C4F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85725"/>
                <a:ext cx="1674760" cy="3968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433802" y="215870"/>
              <a:ext cx="3610868" cy="57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b="true" sz="2400" spc="24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선택 기준의</a:t>
              </a:r>
              <a:r>
                <a:rPr lang="en-US" b="true" sz="2400" spc="24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불명확성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018" y="813147"/>
              <a:ext cx="7666434" cy="496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9"/>
                </a:lnSpc>
                <a:spcBef>
                  <a:spcPct val="0"/>
                </a:spcBef>
              </a:pPr>
              <a:r>
                <a:rPr lang="en-US" sz="2100" spc="21">
                  <a:solidFill>
                    <a:srgbClr val="47403B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개인경험에 의존한 선택 → 익숙한 곳만 반복 방문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24329" y="7704183"/>
            <a:ext cx="6358853" cy="1180993"/>
            <a:chOff x="0" y="0"/>
            <a:chExt cx="8478471" cy="157465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8478471" cy="1574657"/>
              <a:chOff x="0" y="0"/>
              <a:chExt cx="1674760" cy="31104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674760" cy="311043"/>
              </a:xfrm>
              <a:custGeom>
                <a:avLst/>
                <a:gdLst/>
                <a:ahLst/>
                <a:cxnLst/>
                <a:rect r="r" b="b" t="t" l="l"/>
                <a:pathLst>
                  <a:path h="311043" w="1674760">
                    <a:moveTo>
                      <a:pt x="20698" y="0"/>
                    </a:moveTo>
                    <a:lnTo>
                      <a:pt x="1654062" y="0"/>
                    </a:lnTo>
                    <a:cubicBezTo>
                      <a:pt x="1659552" y="0"/>
                      <a:pt x="1664816" y="2181"/>
                      <a:pt x="1668698" y="6062"/>
                    </a:cubicBezTo>
                    <a:cubicBezTo>
                      <a:pt x="1672579" y="9944"/>
                      <a:pt x="1674760" y="15208"/>
                      <a:pt x="1674760" y="20698"/>
                    </a:cubicBezTo>
                    <a:lnTo>
                      <a:pt x="1674760" y="290346"/>
                    </a:lnTo>
                    <a:cubicBezTo>
                      <a:pt x="1674760" y="295835"/>
                      <a:pt x="1672579" y="301100"/>
                      <a:pt x="1668698" y="304981"/>
                    </a:cubicBezTo>
                    <a:cubicBezTo>
                      <a:pt x="1664816" y="308863"/>
                      <a:pt x="1659552" y="311043"/>
                      <a:pt x="1654062" y="311043"/>
                    </a:cubicBezTo>
                    <a:lnTo>
                      <a:pt x="20698" y="311043"/>
                    </a:lnTo>
                    <a:cubicBezTo>
                      <a:pt x="9267" y="311043"/>
                      <a:pt x="0" y="301777"/>
                      <a:pt x="0" y="290346"/>
                    </a:cubicBezTo>
                    <a:lnTo>
                      <a:pt x="0" y="20698"/>
                    </a:lnTo>
                    <a:cubicBezTo>
                      <a:pt x="0" y="15208"/>
                      <a:pt x="2181" y="9944"/>
                      <a:pt x="6062" y="6062"/>
                    </a:cubicBezTo>
                    <a:cubicBezTo>
                      <a:pt x="9944" y="2181"/>
                      <a:pt x="15208" y="0"/>
                      <a:pt x="206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49330D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85725"/>
                <a:ext cx="1674760" cy="3967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2342322" y="215575"/>
              <a:ext cx="3793827" cy="57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b="true" sz="2400" spc="24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탐색</a:t>
              </a:r>
              <a:r>
                <a:rPr lang="en-US" b="true" sz="2400" spc="24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피로로 인한 포기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422578" y="743671"/>
              <a:ext cx="5633315" cy="496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9"/>
                </a:lnSpc>
                <a:spcBef>
                  <a:spcPct val="0"/>
                </a:spcBef>
              </a:pPr>
              <a:r>
                <a:rPr lang="en-US" sz="2100" spc="21">
                  <a:solidFill>
                    <a:srgbClr val="47403B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선택 과정의 복잡 → 계획 자체를 포기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H="true" flipV="true">
            <a:off x="13577164" y="7124981"/>
            <a:ext cx="0" cy="579201"/>
          </a:xfrm>
          <a:prstGeom prst="line">
            <a:avLst/>
          </a:prstGeom>
          <a:ln cap="flat" w="28575">
            <a:solidFill>
              <a:srgbClr val="493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13577164" y="5306147"/>
            <a:ext cx="0" cy="637399"/>
          </a:xfrm>
          <a:prstGeom prst="line">
            <a:avLst/>
          </a:prstGeom>
          <a:ln cap="flat" w="28575">
            <a:solidFill>
              <a:srgbClr val="847B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41163" y="1058232"/>
            <a:ext cx="491879" cy="600833"/>
          </a:xfrm>
          <a:custGeom>
            <a:avLst/>
            <a:gdLst/>
            <a:ahLst/>
            <a:cxnLst/>
            <a:rect r="r" b="b" t="t" l="l"/>
            <a:pathLst>
              <a:path h="600833" w="491879">
                <a:moveTo>
                  <a:pt x="0" y="0"/>
                </a:moveTo>
                <a:lnTo>
                  <a:pt x="491879" y="0"/>
                </a:lnTo>
                <a:lnTo>
                  <a:pt x="491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242769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96400" y="2555071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5189" y="2564596"/>
            <a:ext cx="18237741" cy="5057300"/>
            <a:chOff x="0" y="0"/>
            <a:chExt cx="4803356" cy="13319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03356" cy="1331964"/>
            </a:xfrm>
            <a:custGeom>
              <a:avLst/>
              <a:gdLst/>
              <a:ahLst/>
              <a:cxnLst/>
              <a:rect r="r" b="b" t="t" l="l"/>
              <a:pathLst>
                <a:path h="1331964" w="4803356">
                  <a:moveTo>
                    <a:pt x="0" y="0"/>
                  </a:moveTo>
                  <a:lnTo>
                    <a:pt x="4803356" y="0"/>
                  </a:lnTo>
                  <a:lnTo>
                    <a:pt x="4803356" y="1331964"/>
                  </a:lnTo>
                  <a:lnTo>
                    <a:pt x="0" y="13319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03356" cy="138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8760079"/>
            <a:ext cx="18272930" cy="535994"/>
            <a:chOff x="0" y="0"/>
            <a:chExt cx="4812624" cy="141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2624" cy="141167"/>
            </a:xfrm>
            <a:custGeom>
              <a:avLst/>
              <a:gdLst/>
              <a:ahLst/>
              <a:cxnLst/>
              <a:rect r="r" b="b" t="t" l="l"/>
              <a:pathLst>
                <a:path h="141167" w="4812624">
                  <a:moveTo>
                    <a:pt x="0" y="0"/>
                  </a:moveTo>
                  <a:lnTo>
                    <a:pt x="4812624" y="0"/>
                  </a:lnTo>
                  <a:lnTo>
                    <a:pt x="4812624" y="141167"/>
                  </a:lnTo>
                  <a:lnTo>
                    <a:pt x="0" y="141167"/>
                  </a:lnTo>
                  <a:close/>
                </a:path>
              </a:pathLst>
            </a:custGeom>
            <a:solidFill>
              <a:srgbClr val="E5E2DF">
                <a:alpha val="5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812624" cy="14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81331" y="7621896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1163" y="1058232"/>
            <a:ext cx="491879" cy="600833"/>
          </a:xfrm>
          <a:custGeom>
            <a:avLst/>
            <a:gdLst/>
            <a:ahLst/>
            <a:cxnLst/>
            <a:rect r="r" b="b" t="t" l="l"/>
            <a:pathLst>
              <a:path h="600833" w="491879">
                <a:moveTo>
                  <a:pt x="0" y="0"/>
                </a:moveTo>
                <a:lnTo>
                  <a:pt x="491879" y="0"/>
                </a:lnTo>
                <a:lnTo>
                  <a:pt x="491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24276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7918" y="58871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프로젝트 배경 및 목적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49787" y="8138033"/>
            <a:ext cx="10388426" cy="112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3"/>
              </a:lnSpc>
            </a:pPr>
            <a:r>
              <a:rPr lang="en-US" b="true" sz="3199" spc="31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100대 명산 데이터를 통합 분석해</a:t>
            </a:r>
          </a:p>
          <a:p>
            <a:pPr algn="ctr">
              <a:lnSpc>
                <a:spcPts val="4543"/>
              </a:lnSpc>
            </a:pPr>
            <a:r>
              <a:rPr lang="en-US" b="true" sz="3199" spc="31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사용자 유형별 최적의 등산로를 추천하는 의사결정 도구 개발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2591" y="6002302"/>
            <a:ext cx="4202460" cy="79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8"/>
              </a:lnSpc>
            </a:pPr>
            <a:r>
              <a:rPr lang="en-US" sz="2468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흩어진 등산 정보를 한 곳에 모아</a:t>
            </a:r>
          </a:p>
          <a:p>
            <a:pPr algn="ctr">
              <a:lnSpc>
                <a:spcPts val="3208"/>
              </a:lnSpc>
            </a:pPr>
            <a:r>
              <a:rPr lang="en-US" sz="2468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표준화된 기준으로 정리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22219" y="5998035"/>
            <a:ext cx="2785170" cy="79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8"/>
              </a:lnSpc>
            </a:pPr>
            <a:r>
              <a:rPr lang="en-US" sz="2468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항목별 지표화를 통해</a:t>
            </a:r>
          </a:p>
          <a:p>
            <a:pPr algn="ctr">
              <a:lnSpc>
                <a:spcPts val="3208"/>
              </a:lnSpc>
            </a:pPr>
            <a:r>
              <a:rPr lang="en-US" sz="2468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한눈에 비교 가능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8517" y="5950529"/>
            <a:ext cx="4310509" cy="79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8"/>
              </a:lnSpc>
            </a:pPr>
            <a:r>
              <a:rPr lang="en-US" sz="2468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사용자 유형에 맞춰 추천함으로서</a:t>
            </a:r>
          </a:p>
          <a:p>
            <a:pPr algn="ctr">
              <a:lnSpc>
                <a:spcPts val="3208"/>
              </a:lnSpc>
            </a:pPr>
            <a:r>
              <a:rPr lang="en-US" sz="2468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의사결정 부담 감소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86368" y="5447106"/>
            <a:ext cx="1374906" cy="50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b="true" sz="2658" spc="26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정보 통합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83692" y="5447106"/>
            <a:ext cx="1662222" cy="50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b="true" sz="2658" spc="26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직관적 비교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33406" y="5447106"/>
            <a:ext cx="1680731" cy="50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b="true" sz="2658" spc="26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맞춤형 추천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122398" y="3315287"/>
            <a:ext cx="1902847" cy="1902847"/>
          </a:xfrm>
          <a:custGeom>
            <a:avLst/>
            <a:gdLst/>
            <a:ahLst/>
            <a:cxnLst/>
            <a:rect r="r" b="b" t="t" l="l"/>
            <a:pathLst>
              <a:path h="1902847" w="1902847">
                <a:moveTo>
                  <a:pt x="0" y="0"/>
                </a:moveTo>
                <a:lnTo>
                  <a:pt x="1902847" y="0"/>
                </a:lnTo>
                <a:lnTo>
                  <a:pt x="1902847" y="1902847"/>
                </a:lnTo>
                <a:lnTo>
                  <a:pt x="0" y="1902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3204362" y="3374592"/>
            <a:ext cx="1738820" cy="1784237"/>
          </a:xfrm>
          <a:custGeom>
            <a:avLst/>
            <a:gdLst/>
            <a:ahLst/>
            <a:cxnLst/>
            <a:rect r="r" b="b" t="t" l="l"/>
            <a:pathLst>
              <a:path h="1784237" w="1738820">
                <a:moveTo>
                  <a:pt x="0" y="0"/>
                </a:moveTo>
                <a:lnTo>
                  <a:pt x="1738820" y="0"/>
                </a:lnTo>
                <a:lnTo>
                  <a:pt x="1738820" y="1784238"/>
                </a:lnTo>
                <a:lnTo>
                  <a:pt x="0" y="17842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8233723" y="3395243"/>
            <a:ext cx="1762160" cy="1742937"/>
          </a:xfrm>
          <a:custGeom>
            <a:avLst/>
            <a:gdLst/>
            <a:ahLst/>
            <a:cxnLst/>
            <a:rect r="r" b="b" t="t" l="l"/>
            <a:pathLst>
              <a:path h="1742937" w="1762160">
                <a:moveTo>
                  <a:pt x="0" y="0"/>
                </a:moveTo>
                <a:lnTo>
                  <a:pt x="1762160" y="0"/>
                </a:lnTo>
                <a:lnTo>
                  <a:pt x="1762160" y="1742936"/>
                </a:lnTo>
                <a:lnTo>
                  <a:pt x="0" y="17429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60385" y="2572092"/>
            <a:ext cx="8115300" cy="659382"/>
            <a:chOff x="0" y="0"/>
            <a:chExt cx="2137363" cy="173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7363" cy="173664"/>
            </a:xfrm>
            <a:custGeom>
              <a:avLst/>
              <a:gdLst/>
              <a:ahLst/>
              <a:cxnLst/>
              <a:rect r="r" b="b" t="t" l="l"/>
              <a:pathLst>
                <a:path h="173664" w="2137363">
                  <a:moveTo>
                    <a:pt x="0" y="0"/>
                  </a:moveTo>
                  <a:lnTo>
                    <a:pt x="1934163" y="0"/>
                  </a:lnTo>
                  <a:lnTo>
                    <a:pt x="2137363" y="86832"/>
                  </a:lnTo>
                  <a:lnTo>
                    <a:pt x="1934163" y="173664"/>
                  </a:lnTo>
                  <a:lnTo>
                    <a:pt x="0" y="173664"/>
                  </a:lnTo>
                  <a:lnTo>
                    <a:pt x="203200" y="86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7B7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314325"/>
              <a:ext cx="1883363" cy="48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4"/>
                </a:lnSpc>
              </a:pPr>
              <a:r>
                <a:rPr lang="en-US" b="true" sz="2900" spc="2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데이터 수집 및 전처리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66680" y="2591142"/>
            <a:ext cx="7162278" cy="659382"/>
            <a:chOff x="0" y="0"/>
            <a:chExt cx="1886361" cy="1736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6361" cy="173664"/>
            </a:xfrm>
            <a:custGeom>
              <a:avLst/>
              <a:gdLst/>
              <a:ahLst/>
              <a:cxnLst/>
              <a:rect r="r" b="b" t="t" l="l"/>
              <a:pathLst>
                <a:path h="173664" w="1886361">
                  <a:moveTo>
                    <a:pt x="0" y="0"/>
                  </a:moveTo>
                  <a:lnTo>
                    <a:pt x="1683161" y="0"/>
                  </a:lnTo>
                  <a:lnTo>
                    <a:pt x="1886361" y="86832"/>
                  </a:lnTo>
                  <a:lnTo>
                    <a:pt x="1683161" y="173664"/>
                  </a:lnTo>
                  <a:lnTo>
                    <a:pt x="0" y="173664"/>
                  </a:lnTo>
                  <a:lnTo>
                    <a:pt x="203200" y="86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04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314325"/>
              <a:ext cx="1632361" cy="487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4"/>
                </a:lnSpc>
              </a:pPr>
              <a:r>
                <a:rPr lang="en-US" b="true" sz="2900" spc="2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데이터 분석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55876" y="3947449"/>
            <a:ext cx="2875591" cy="5310851"/>
            <a:chOff x="0" y="0"/>
            <a:chExt cx="818193" cy="15110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8193" cy="1511098"/>
            </a:xfrm>
            <a:custGeom>
              <a:avLst/>
              <a:gdLst/>
              <a:ahLst/>
              <a:cxnLst/>
              <a:rect r="r" b="b" t="t" l="l"/>
              <a:pathLst>
                <a:path h="1511098" w="818193">
                  <a:moveTo>
                    <a:pt x="72692" y="0"/>
                  </a:moveTo>
                  <a:lnTo>
                    <a:pt x="745501" y="0"/>
                  </a:lnTo>
                  <a:cubicBezTo>
                    <a:pt x="785648" y="0"/>
                    <a:pt x="818193" y="32545"/>
                    <a:pt x="818193" y="72692"/>
                  </a:cubicBezTo>
                  <a:lnTo>
                    <a:pt x="818193" y="1438407"/>
                  </a:lnTo>
                  <a:cubicBezTo>
                    <a:pt x="818193" y="1457686"/>
                    <a:pt x="810534" y="1476175"/>
                    <a:pt x="796902" y="1489808"/>
                  </a:cubicBezTo>
                  <a:cubicBezTo>
                    <a:pt x="783270" y="1503440"/>
                    <a:pt x="764780" y="1511098"/>
                    <a:pt x="745501" y="1511098"/>
                  </a:cubicBezTo>
                  <a:lnTo>
                    <a:pt x="72692" y="1511098"/>
                  </a:lnTo>
                  <a:cubicBezTo>
                    <a:pt x="32545" y="1511098"/>
                    <a:pt x="0" y="1478553"/>
                    <a:pt x="0" y="1438407"/>
                  </a:cubicBezTo>
                  <a:lnTo>
                    <a:pt x="0" y="72692"/>
                  </a:lnTo>
                  <a:cubicBezTo>
                    <a:pt x="0" y="53413"/>
                    <a:pt x="7659" y="34923"/>
                    <a:pt x="21291" y="21291"/>
                  </a:cubicBezTo>
                  <a:cubicBezTo>
                    <a:pt x="34923" y="7659"/>
                    <a:pt x="53413" y="0"/>
                    <a:pt x="726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9895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38125"/>
              <a:ext cx="818193" cy="1749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80741" y="3664096"/>
            <a:ext cx="3327659" cy="878777"/>
            <a:chOff x="0" y="0"/>
            <a:chExt cx="874053" cy="2308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4053" cy="230822"/>
            </a:xfrm>
            <a:custGeom>
              <a:avLst/>
              <a:gdLst/>
              <a:ahLst/>
              <a:cxnLst/>
              <a:rect r="r" b="b" t="t" l="l"/>
              <a:pathLst>
                <a:path h="230822" w="874053">
                  <a:moveTo>
                    <a:pt x="62816" y="0"/>
                  </a:moveTo>
                  <a:lnTo>
                    <a:pt x="811237" y="0"/>
                  </a:lnTo>
                  <a:cubicBezTo>
                    <a:pt x="827897" y="0"/>
                    <a:pt x="843874" y="6618"/>
                    <a:pt x="855655" y="18399"/>
                  </a:cubicBezTo>
                  <a:cubicBezTo>
                    <a:pt x="867435" y="30179"/>
                    <a:pt x="874053" y="46157"/>
                    <a:pt x="874053" y="62816"/>
                  </a:cubicBezTo>
                  <a:lnTo>
                    <a:pt x="874053" y="168006"/>
                  </a:lnTo>
                  <a:cubicBezTo>
                    <a:pt x="874053" y="202698"/>
                    <a:pt x="845929" y="230822"/>
                    <a:pt x="811237" y="230822"/>
                  </a:cubicBezTo>
                  <a:lnTo>
                    <a:pt x="62816" y="230822"/>
                  </a:lnTo>
                  <a:cubicBezTo>
                    <a:pt x="46157" y="230822"/>
                    <a:pt x="30179" y="224204"/>
                    <a:pt x="18399" y="212424"/>
                  </a:cubicBezTo>
                  <a:cubicBezTo>
                    <a:pt x="6618" y="200643"/>
                    <a:pt x="0" y="184666"/>
                    <a:pt x="0" y="168006"/>
                  </a:cubicBezTo>
                  <a:lnTo>
                    <a:pt x="0" y="62816"/>
                  </a:lnTo>
                  <a:cubicBezTo>
                    <a:pt x="0" y="46157"/>
                    <a:pt x="6618" y="30179"/>
                    <a:pt x="18399" y="18399"/>
                  </a:cubicBezTo>
                  <a:cubicBezTo>
                    <a:pt x="30179" y="6618"/>
                    <a:pt x="46157" y="0"/>
                    <a:pt x="62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A48F7B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74053" cy="230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결측치 제거, 지오코딩 오류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필터링 및 난이도 조정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680741" y="4818414"/>
            <a:ext cx="3327659" cy="916877"/>
            <a:chOff x="0" y="0"/>
            <a:chExt cx="874053" cy="240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4053" cy="240830"/>
            </a:xfrm>
            <a:custGeom>
              <a:avLst/>
              <a:gdLst/>
              <a:ahLst/>
              <a:cxnLst/>
              <a:rect r="r" b="b" t="t" l="l"/>
              <a:pathLst>
                <a:path h="240830" w="874053">
                  <a:moveTo>
                    <a:pt x="62816" y="0"/>
                  </a:moveTo>
                  <a:lnTo>
                    <a:pt x="811237" y="0"/>
                  </a:lnTo>
                  <a:cubicBezTo>
                    <a:pt x="827897" y="0"/>
                    <a:pt x="843874" y="6618"/>
                    <a:pt x="855655" y="18399"/>
                  </a:cubicBezTo>
                  <a:cubicBezTo>
                    <a:pt x="867435" y="30179"/>
                    <a:pt x="874053" y="46157"/>
                    <a:pt x="874053" y="62816"/>
                  </a:cubicBezTo>
                  <a:lnTo>
                    <a:pt x="874053" y="178013"/>
                  </a:lnTo>
                  <a:cubicBezTo>
                    <a:pt x="874053" y="212706"/>
                    <a:pt x="845929" y="240830"/>
                    <a:pt x="811237" y="240830"/>
                  </a:cubicBezTo>
                  <a:lnTo>
                    <a:pt x="62816" y="240830"/>
                  </a:lnTo>
                  <a:cubicBezTo>
                    <a:pt x="46157" y="240830"/>
                    <a:pt x="30179" y="234211"/>
                    <a:pt x="18399" y="222431"/>
                  </a:cubicBezTo>
                  <a:cubicBezTo>
                    <a:pt x="6618" y="210651"/>
                    <a:pt x="0" y="194673"/>
                    <a:pt x="0" y="178013"/>
                  </a:cubicBezTo>
                  <a:lnTo>
                    <a:pt x="0" y="62816"/>
                  </a:lnTo>
                  <a:cubicBezTo>
                    <a:pt x="0" y="46157"/>
                    <a:pt x="6618" y="30179"/>
                    <a:pt x="18399" y="18399"/>
                  </a:cubicBezTo>
                  <a:cubicBezTo>
                    <a:pt x="30179" y="6618"/>
                    <a:pt x="46157" y="0"/>
                    <a:pt x="62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A48F7B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74053" cy="240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결측치 카카오맵 기준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수기 맵핑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80741" y="5987290"/>
            <a:ext cx="3327659" cy="916495"/>
            <a:chOff x="0" y="0"/>
            <a:chExt cx="874053" cy="240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4053" cy="240729"/>
            </a:xfrm>
            <a:custGeom>
              <a:avLst/>
              <a:gdLst/>
              <a:ahLst/>
              <a:cxnLst/>
              <a:rect r="r" b="b" t="t" l="l"/>
              <a:pathLst>
                <a:path h="240729" w="874053">
                  <a:moveTo>
                    <a:pt x="62816" y="0"/>
                  </a:moveTo>
                  <a:lnTo>
                    <a:pt x="811237" y="0"/>
                  </a:lnTo>
                  <a:cubicBezTo>
                    <a:pt x="827897" y="0"/>
                    <a:pt x="843874" y="6618"/>
                    <a:pt x="855655" y="18399"/>
                  </a:cubicBezTo>
                  <a:cubicBezTo>
                    <a:pt x="867435" y="30179"/>
                    <a:pt x="874053" y="46157"/>
                    <a:pt x="874053" y="62816"/>
                  </a:cubicBezTo>
                  <a:lnTo>
                    <a:pt x="874053" y="177913"/>
                  </a:lnTo>
                  <a:cubicBezTo>
                    <a:pt x="874053" y="212605"/>
                    <a:pt x="845929" y="240729"/>
                    <a:pt x="811237" y="240729"/>
                  </a:cubicBezTo>
                  <a:lnTo>
                    <a:pt x="62816" y="240729"/>
                  </a:lnTo>
                  <a:cubicBezTo>
                    <a:pt x="46157" y="240729"/>
                    <a:pt x="30179" y="234111"/>
                    <a:pt x="18399" y="222331"/>
                  </a:cubicBezTo>
                  <a:cubicBezTo>
                    <a:pt x="6618" y="210550"/>
                    <a:pt x="0" y="194573"/>
                    <a:pt x="0" y="177913"/>
                  </a:cubicBezTo>
                  <a:lnTo>
                    <a:pt x="0" y="62816"/>
                  </a:lnTo>
                  <a:cubicBezTo>
                    <a:pt x="0" y="46157"/>
                    <a:pt x="6618" y="30179"/>
                    <a:pt x="18399" y="18399"/>
                  </a:cubicBezTo>
                  <a:cubicBezTo>
                    <a:pt x="30179" y="6618"/>
                    <a:pt x="46157" y="0"/>
                    <a:pt x="62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A48F7B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74053" cy="240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반경거리 조절 및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검색 조건 강화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680741" y="8337731"/>
            <a:ext cx="3327659" cy="916877"/>
            <a:chOff x="0" y="0"/>
            <a:chExt cx="874053" cy="240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4053" cy="240830"/>
            </a:xfrm>
            <a:custGeom>
              <a:avLst/>
              <a:gdLst/>
              <a:ahLst/>
              <a:cxnLst/>
              <a:rect r="r" b="b" t="t" l="l"/>
              <a:pathLst>
                <a:path h="240830" w="874053">
                  <a:moveTo>
                    <a:pt x="62816" y="0"/>
                  </a:moveTo>
                  <a:lnTo>
                    <a:pt x="811237" y="0"/>
                  </a:lnTo>
                  <a:cubicBezTo>
                    <a:pt x="827897" y="0"/>
                    <a:pt x="843874" y="6618"/>
                    <a:pt x="855655" y="18399"/>
                  </a:cubicBezTo>
                  <a:cubicBezTo>
                    <a:pt x="867435" y="30179"/>
                    <a:pt x="874053" y="46157"/>
                    <a:pt x="874053" y="62816"/>
                  </a:cubicBezTo>
                  <a:lnTo>
                    <a:pt x="874053" y="178013"/>
                  </a:lnTo>
                  <a:cubicBezTo>
                    <a:pt x="874053" y="212706"/>
                    <a:pt x="845929" y="240830"/>
                    <a:pt x="811237" y="240830"/>
                  </a:cubicBezTo>
                  <a:lnTo>
                    <a:pt x="62816" y="240830"/>
                  </a:lnTo>
                  <a:cubicBezTo>
                    <a:pt x="46157" y="240830"/>
                    <a:pt x="30179" y="234211"/>
                    <a:pt x="18399" y="222431"/>
                  </a:cubicBezTo>
                  <a:cubicBezTo>
                    <a:pt x="6618" y="210651"/>
                    <a:pt x="0" y="194673"/>
                    <a:pt x="0" y="178013"/>
                  </a:cubicBezTo>
                  <a:lnTo>
                    <a:pt x="0" y="62816"/>
                  </a:lnTo>
                  <a:cubicBezTo>
                    <a:pt x="0" y="46157"/>
                    <a:pt x="6618" y="30179"/>
                    <a:pt x="18399" y="18399"/>
                  </a:cubicBezTo>
                  <a:cubicBezTo>
                    <a:pt x="30179" y="6618"/>
                    <a:pt x="46157" y="0"/>
                    <a:pt x="62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A48F7B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74053" cy="240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실제 등산 관련 후기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텍스트 정제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17206" y="3874358"/>
            <a:ext cx="3511751" cy="4187148"/>
            <a:chOff x="0" y="0"/>
            <a:chExt cx="922407" cy="10998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2407" cy="1099809"/>
            </a:xfrm>
            <a:custGeom>
              <a:avLst/>
              <a:gdLst/>
              <a:ahLst/>
              <a:cxnLst/>
              <a:rect r="r" b="b" t="t" l="l"/>
              <a:pathLst>
                <a:path h="1099809" w="922407">
                  <a:moveTo>
                    <a:pt x="59524" y="0"/>
                  </a:moveTo>
                  <a:lnTo>
                    <a:pt x="862884" y="0"/>
                  </a:lnTo>
                  <a:cubicBezTo>
                    <a:pt x="895758" y="0"/>
                    <a:pt x="922407" y="26650"/>
                    <a:pt x="922407" y="59524"/>
                  </a:cubicBezTo>
                  <a:lnTo>
                    <a:pt x="922407" y="1040286"/>
                  </a:lnTo>
                  <a:cubicBezTo>
                    <a:pt x="922407" y="1056072"/>
                    <a:pt x="916136" y="1071212"/>
                    <a:pt x="904973" y="1082375"/>
                  </a:cubicBezTo>
                  <a:cubicBezTo>
                    <a:pt x="893810" y="1093538"/>
                    <a:pt x="878670" y="1099809"/>
                    <a:pt x="862884" y="1099809"/>
                  </a:cubicBezTo>
                  <a:lnTo>
                    <a:pt x="59524" y="1099809"/>
                  </a:lnTo>
                  <a:cubicBezTo>
                    <a:pt x="43737" y="1099809"/>
                    <a:pt x="28597" y="1093538"/>
                    <a:pt x="17434" y="1082375"/>
                  </a:cubicBezTo>
                  <a:cubicBezTo>
                    <a:pt x="6271" y="1071212"/>
                    <a:pt x="0" y="1056072"/>
                    <a:pt x="0" y="1040286"/>
                  </a:cubicBezTo>
                  <a:lnTo>
                    <a:pt x="0" y="59524"/>
                  </a:lnTo>
                  <a:cubicBezTo>
                    <a:pt x="0" y="43737"/>
                    <a:pt x="6271" y="28597"/>
                    <a:pt x="17434" y="17434"/>
                  </a:cubicBezTo>
                  <a:cubicBezTo>
                    <a:pt x="28597" y="6271"/>
                    <a:pt x="43737" y="0"/>
                    <a:pt x="595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296913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38125"/>
              <a:ext cx="922407" cy="1337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1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680741" y="7145011"/>
            <a:ext cx="3327659" cy="916495"/>
            <a:chOff x="0" y="0"/>
            <a:chExt cx="874053" cy="240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4053" cy="240729"/>
            </a:xfrm>
            <a:custGeom>
              <a:avLst/>
              <a:gdLst/>
              <a:ahLst/>
              <a:cxnLst/>
              <a:rect r="r" b="b" t="t" l="l"/>
              <a:pathLst>
                <a:path h="240729" w="874053">
                  <a:moveTo>
                    <a:pt x="62816" y="0"/>
                  </a:moveTo>
                  <a:lnTo>
                    <a:pt x="811237" y="0"/>
                  </a:lnTo>
                  <a:cubicBezTo>
                    <a:pt x="827897" y="0"/>
                    <a:pt x="843874" y="6618"/>
                    <a:pt x="855655" y="18399"/>
                  </a:cubicBezTo>
                  <a:cubicBezTo>
                    <a:pt x="867435" y="30179"/>
                    <a:pt x="874053" y="46157"/>
                    <a:pt x="874053" y="62816"/>
                  </a:cubicBezTo>
                  <a:lnTo>
                    <a:pt x="874053" y="177913"/>
                  </a:lnTo>
                  <a:cubicBezTo>
                    <a:pt x="874053" y="212605"/>
                    <a:pt x="845929" y="240729"/>
                    <a:pt x="811237" y="240729"/>
                  </a:cubicBezTo>
                  <a:lnTo>
                    <a:pt x="62816" y="240729"/>
                  </a:lnTo>
                  <a:cubicBezTo>
                    <a:pt x="46157" y="240729"/>
                    <a:pt x="30179" y="234111"/>
                    <a:pt x="18399" y="222331"/>
                  </a:cubicBezTo>
                  <a:cubicBezTo>
                    <a:pt x="6618" y="210550"/>
                    <a:pt x="0" y="194573"/>
                    <a:pt x="0" y="177913"/>
                  </a:cubicBezTo>
                  <a:lnTo>
                    <a:pt x="0" y="62816"/>
                  </a:lnTo>
                  <a:cubicBezTo>
                    <a:pt x="0" y="46157"/>
                    <a:pt x="6618" y="30179"/>
                    <a:pt x="18399" y="18399"/>
                  </a:cubicBezTo>
                  <a:cubicBezTo>
                    <a:pt x="30179" y="6618"/>
                    <a:pt x="46157" y="0"/>
                    <a:pt x="62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A48F7B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74053" cy="240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카테고리를 통한 분류 및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spc="18">
                  <a:solidFill>
                    <a:srgbClr val="1F1F1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 실 이용가능 정보 정제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52104" y="3583898"/>
            <a:ext cx="2283134" cy="727100"/>
            <a:chOff x="0" y="0"/>
            <a:chExt cx="649621" cy="2068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9621" cy="206882"/>
            </a:xfrm>
            <a:custGeom>
              <a:avLst/>
              <a:gdLst/>
              <a:ahLst/>
              <a:cxnLst/>
              <a:rect r="r" b="b" t="t" l="l"/>
              <a:pathLst>
                <a:path h="206882" w="649621">
                  <a:moveTo>
                    <a:pt x="57646" y="0"/>
                  </a:moveTo>
                  <a:lnTo>
                    <a:pt x="591975" y="0"/>
                  </a:lnTo>
                  <a:cubicBezTo>
                    <a:pt x="623812" y="0"/>
                    <a:pt x="649621" y="25809"/>
                    <a:pt x="649621" y="57646"/>
                  </a:cubicBezTo>
                  <a:lnTo>
                    <a:pt x="649621" y="149236"/>
                  </a:lnTo>
                  <a:cubicBezTo>
                    <a:pt x="649621" y="181073"/>
                    <a:pt x="623812" y="206882"/>
                    <a:pt x="591975" y="206882"/>
                  </a:cubicBezTo>
                  <a:lnTo>
                    <a:pt x="57646" y="206882"/>
                  </a:lnTo>
                  <a:cubicBezTo>
                    <a:pt x="25809" y="206882"/>
                    <a:pt x="0" y="181073"/>
                    <a:pt x="0" y="149236"/>
                  </a:cubicBezTo>
                  <a:lnTo>
                    <a:pt x="0" y="57646"/>
                  </a:lnTo>
                  <a:cubicBezTo>
                    <a:pt x="0" y="25809"/>
                    <a:pt x="25809" y="0"/>
                    <a:pt x="57646" y="0"/>
                  </a:cubicBezTo>
                  <a:close/>
                </a:path>
              </a:pathLst>
            </a:custGeom>
            <a:solidFill>
              <a:srgbClr val="59895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19075"/>
              <a:ext cx="649621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b="true" sz="2000" spc="2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데이터셋 완성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74651" y="6989406"/>
            <a:ext cx="2283134" cy="727100"/>
            <a:chOff x="0" y="0"/>
            <a:chExt cx="649621" cy="2068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621" cy="206882"/>
            </a:xfrm>
            <a:custGeom>
              <a:avLst/>
              <a:gdLst/>
              <a:ahLst/>
              <a:cxnLst/>
              <a:rect r="r" b="b" t="t" l="l"/>
              <a:pathLst>
                <a:path h="206882" w="649621">
                  <a:moveTo>
                    <a:pt x="57646" y="0"/>
                  </a:moveTo>
                  <a:lnTo>
                    <a:pt x="591975" y="0"/>
                  </a:lnTo>
                  <a:cubicBezTo>
                    <a:pt x="623812" y="0"/>
                    <a:pt x="649621" y="25809"/>
                    <a:pt x="649621" y="57646"/>
                  </a:cubicBezTo>
                  <a:lnTo>
                    <a:pt x="649621" y="149236"/>
                  </a:lnTo>
                  <a:cubicBezTo>
                    <a:pt x="649621" y="181073"/>
                    <a:pt x="623812" y="206882"/>
                    <a:pt x="591975" y="206882"/>
                  </a:cubicBezTo>
                  <a:lnTo>
                    <a:pt x="57646" y="206882"/>
                  </a:lnTo>
                  <a:cubicBezTo>
                    <a:pt x="25809" y="206882"/>
                    <a:pt x="0" y="181073"/>
                    <a:pt x="0" y="149236"/>
                  </a:cubicBezTo>
                  <a:lnTo>
                    <a:pt x="0" y="57646"/>
                  </a:lnTo>
                  <a:cubicBezTo>
                    <a:pt x="0" y="25809"/>
                    <a:pt x="25809" y="0"/>
                    <a:pt x="57646" y="0"/>
                  </a:cubicBezTo>
                  <a:close/>
                </a:path>
              </a:pathLst>
            </a:custGeom>
            <a:solidFill>
              <a:srgbClr val="59895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19075"/>
              <a:ext cx="649621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지수 산출 계산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74651" y="5848183"/>
            <a:ext cx="2283134" cy="727100"/>
            <a:chOff x="0" y="0"/>
            <a:chExt cx="649621" cy="2068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9621" cy="206882"/>
            </a:xfrm>
            <a:custGeom>
              <a:avLst/>
              <a:gdLst/>
              <a:ahLst/>
              <a:cxnLst/>
              <a:rect r="r" b="b" t="t" l="l"/>
              <a:pathLst>
                <a:path h="206882" w="649621">
                  <a:moveTo>
                    <a:pt x="57646" y="0"/>
                  </a:moveTo>
                  <a:lnTo>
                    <a:pt x="591975" y="0"/>
                  </a:lnTo>
                  <a:cubicBezTo>
                    <a:pt x="623812" y="0"/>
                    <a:pt x="649621" y="25809"/>
                    <a:pt x="649621" y="57646"/>
                  </a:cubicBezTo>
                  <a:lnTo>
                    <a:pt x="649621" y="149236"/>
                  </a:lnTo>
                  <a:cubicBezTo>
                    <a:pt x="649621" y="181073"/>
                    <a:pt x="623812" y="206882"/>
                    <a:pt x="591975" y="206882"/>
                  </a:cubicBezTo>
                  <a:lnTo>
                    <a:pt x="57646" y="206882"/>
                  </a:lnTo>
                  <a:cubicBezTo>
                    <a:pt x="25809" y="206882"/>
                    <a:pt x="0" y="181073"/>
                    <a:pt x="0" y="149236"/>
                  </a:cubicBezTo>
                  <a:lnTo>
                    <a:pt x="0" y="57646"/>
                  </a:lnTo>
                  <a:cubicBezTo>
                    <a:pt x="0" y="25809"/>
                    <a:pt x="25809" y="0"/>
                    <a:pt x="57646" y="0"/>
                  </a:cubicBezTo>
                  <a:close/>
                </a:path>
              </a:pathLst>
            </a:custGeom>
            <a:solidFill>
              <a:srgbClr val="59895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19075"/>
              <a:ext cx="649621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파생변수 생성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74651" y="4691496"/>
            <a:ext cx="2283134" cy="727100"/>
            <a:chOff x="0" y="0"/>
            <a:chExt cx="649621" cy="20688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9621" cy="206882"/>
            </a:xfrm>
            <a:custGeom>
              <a:avLst/>
              <a:gdLst/>
              <a:ahLst/>
              <a:cxnLst/>
              <a:rect r="r" b="b" t="t" l="l"/>
              <a:pathLst>
                <a:path h="206882" w="649621">
                  <a:moveTo>
                    <a:pt x="57646" y="0"/>
                  </a:moveTo>
                  <a:lnTo>
                    <a:pt x="591975" y="0"/>
                  </a:lnTo>
                  <a:cubicBezTo>
                    <a:pt x="623812" y="0"/>
                    <a:pt x="649621" y="25809"/>
                    <a:pt x="649621" y="57646"/>
                  </a:cubicBezTo>
                  <a:lnTo>
                    <a:pt x="649621" y="149236"/>
                  </a:lnTo>
                  <a:cubicBezTo>
                    <a:pt x="649621" y="181073"/>
                    <a:pt x="623812" y="206882"/>
                    <a:pt x="591975" y="206882"/>
                  </a:cubicBezTo>
                  <a:lnTo>
                    <a:pt x="57646" y="206882"/>
                  </a:lnTo>
                  <a:cubicBezTo>
                    <a:pt x="25809" y="206882"/>
                    <a:pt x="0" y="181073"/>
                    <a:pt x="0" y="149236"/>
                  </a:cubicBezTo>
                  <a:lnTo>
                    <a:pt x="0" y="57646"/>
                  </a:lnTo>
                  <a:cubicBezTo>
                    <a:pt x="0" y="25809"/>
                    <a:pt x="25809" y="0"/>
                    <a:pt x="57646" y="0"/>
                  </a:cubicBezTo>
                  <a:close/>
                </a:path>
              </a:pathLst>
            </a:custGeom>
            <a:solidFill>
              <a:srgbClr val="59895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19075"/>
              <a:ext cx="649621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데이터 취합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919289" y="3624055"/>
            <a:ext cx="2283134" cy="727100"/>
            <a:chOff x="0" y="0"/>
            <a:chExt cx="649621" cy="20688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9621" cy="206882"/>
            </a:xfrm>
            <a:custGeom>
              <a:avLst/>
              <a:gdLst/>
              <a:ahLst/>
              <a:cxnLst/>
              <a:rect r="r" b="b" t="t" l="l"/>
              <a:pathLst>
                <a:path h="206882" w="649621">
                  <a:moveTo>
                    <a:pt x="57646" y="0"/>
                  </a:moveTo>
                  <a:lnTo>
                    <a:pt x="591975" y="0"/>
                  </a:lnTo>
                  <a:cubicBezTo>
                    <a:pt x="623812" y="0"/>
                    <a:pt x="649621" y="25809"/>
                    <a:pt x="649621" y="57646"/>
                  </a:cubicBezTo>
                  <a:lnTo>
                    <a:pt x="649621" y="149236"/>
                  </a:lnTo>
                  <a:cubicBezTo>
                    <a:pt x="649621" y="181073"/>
                    <a:pt x="623812" y="206882"/>
                    <a:pt x="591975" y="206882"/>
                  </a:cubicBezTo>
                  <a:lnTo>
                    <a:pt x="57646" y="206882"/>
                  </a:lnTo>
                  <a:cubicBezTo>
                    <a:pt x="25809" y="206882"/>
                    <a:pt x="0" y="181073"/>
                    <a:pt x="0" y="149236"/>
                  </a:cubicBezTo>
                  <a:lnTo>
                    <a:pt x="0" y="57646"/>
                  </a:lnTo>
                  <a:cubicBezTo>
                    <a:pt x="0" y="25809"/>
                    <a:pt x="25809" y="0"/>
                    <a:pt x="57646" y="0"/>
                  </a:cubicBezTo>
                  <a:close/>
                </a:path>
              </a:pathLst>
            </a:custGeom>
            <a:solidFill>
              <a:srgbClr val="296913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19075"/>
              <a:ext cx="649621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b="true" sz="2000" spc="2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군집 모델링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698267" y="4680462"/>
            <a:ext cx="2781133" cy="660425"/>
            <a:chOff x="0" y="0"/>
            <a:chExt cx="791317" cy="1879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1317" cy="187911"/>
            </a:xfrm>
            <a:custGeom>
              <a:avLst/>
              <a:gdLst/>
              <a:ahLst/>
              <a:cxnLst/>
              <a:rect r="r" b="b" t="t" l="l"/>
              <a:pathLst>
                <a:path h="187911" w="791317">
                  <a:moveTo>
                    <a:pt x="47323" y="0"/>
                  </a:moveTo>
                  <a:lnTo>
                    <a:pt x="743993" y="0"/>
                  </a:lnTo>
                  <a:cubicBezTo>
                    <a:pt x="770129" y="0"/>
                    <a:pt x="791317" y="21187"/>
                    <a:pt x="791317" y="47323"/>
                  </a:cubicBezTo>
                  <a:lnTo>
                    <a:pt x="791317" y="140588"/>
                  </a:lnTo>
                  <a:cubicBezTo>
                    <a:pt x="791317" y="166724"/>
                    <a:pt x="770129" y="187911"/>
                    <a:pt x="743993" y="187911"/>
                  </a:cubicBezTo>
                  <a:lnTo>
                    <a:pt x="47323" y="187911"/>
                  </a:lnTo>
                  <a:cubicBezTo>
                    <a:pt x="21187" y="187911"/>
                    <a:pt x="0" y="166724"/>
                    <a:pt x="0" y="140588"/>
                  </a:cubicBezTo>
                  <a:lnTo>
                    <a:pt x="0" y="47323"/>
                  </a:lnTo>
                  <a:cubicBezTo>
                    <a:pt x="0" y="21187"/>
                    <a:pt x="21187" y="0"/>
                    <a:pt x="47323" y="0"/>
                  </a:cubicBezTo>
                  <a:close/>
                </a:path>
              </a:pathLst>
            </a:custGeom>
            <a:solidFill>
              <a:srgbClr val="296913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19075"/>
              <a:ext cx="791317" cy="406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피처 설정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642312" y="5762045"/>
            <a:ext cx="2837088" cy="727100"/>
            <a:chOff x="0" y="0"/>
            <a:chExt cx="807238" cy="20688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7238" cy="206882"/>
            </a:xfrm>
            <a:custGeom>
              <a:avLst/>
              <a:gdLst/>
              <a:ahLst/>
              <a:cxnLst/>
              <a:rect r="r" b="b" t="t" l="l"/>
              <a:pathLst>
                <a:path h="206882" w="807238">
                  <a:moveTo>
                    <a:pt x="46390" y="0"/>
                  </a:moveTo>
                  <a:lnTo>
                    <a:pt x="760848" y="0"/>
                  </a:lnTo>
                  <a:cubicBezTo>
                    <a:pt x="786468" y="0"/>
                    <a:pt x="807238" y="20770"/>
                    <a:pt x="807238" y="46390"/>
                  </a:cubicBezTo>
                  <a:lnTo>
                    <a:pt x="807238" y="160492"/>
                  </a:lnTo>
                  <a:cubicBezTo>
                    <a:pt x="807238" y="172795"/>
                    <a:pt x="802350" y="184595"/>
                    <a:pt x="793650" y="193295"/>
                  </a:cubicBezTo>
                  <a:cubicBezTo>
                    <a:pt x="784950" y="201995"/>
                    <a:pt x="773151" y="206882"/>
                    <a:pt x="760848" y="206882"/>
                  </a:cubicBezTo>
                  <a:lnTo>
                    <a:pt x="46390" y="206882"/>
                  </a:lnTo>
                  <a:cubicBezTo>
                    <a:pt x="34087" y="206882"/>
                    <a:pt x="22287" y="201995"/>
                    <a:pt x="13587" y="193295"/>
                  </a:cubicBezTo>
                  <a:cubicBezTo>
                    <a:pt x="4888" y="184595"/>
                    <a:pt x="0" y="172795"/>
                    <a:pt x="0" y="160492"/>
                  </a:cubicBezTo>
                  <a:lnTo>
                    <a:pt x="0" y="46390"/>
                  </a:lnTo>
                  <a:cubicBezTo>
                    <a:pt x="0" y="34087"/>
                    <a:pt x="4888" y="22287"/>
                    <a:pt x="13587" y="13587"/>
                  </a:cubicBezTo>
                  <a:cubicBezTo>
                    <a:pt x="22287" y="4888"/>
                    <a:pt x="34087" y="0"/>
                    <a:pt x="46390" y="0"/>
                  </a:cubicBezTo>
                  <a:close/>
                </a:path>
              </a:pathLst>
            </a:custGeom>
            <a:solidFill>
              <a:srgbClr val="296913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19075"/>
              <a:ext cx="807238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클러스터별 특성파악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157918" y="58871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활용데이터 및 분석과정 개요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174686" y="3664096"/>
            <a:ext cx="4277455" cy="906667"/>
            <a:chOff x="0" y="0"/>
            <a:chExt cx="1123530" cy="2381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23530" cy="238148"/>
            </a:xfrm>
            <a:custGeom>
              <a:avLst/>
              <a:gdLst/>
              <a:ahLst/>
              <a:cxnLst/>
              <a:rect r="r" b="b" t="t" l="l"/>
              <a:pathLst>
                <a:path h="238148" w="1123530">
                  <a:moveTo>
                    <a:pt x="48868" y="0"/>
                  </a:moveTo>
                  <a:lnTo>
                    <a:pt x="1074661" y="0"/>
                  </a:lnTo>
                  <a:cubicBezTo>
                    <a:pt x="1101650" y="0"/>
                    <a:pt x="1123530" y="21879"/>
                    <a:pt x="1123530" y="48868"/>
                  </a:cubicBezTo>
                  <a:lnTo>
                    <a:pt x="1123530" y="189280"/>
                  </a:lnTo>
                  <a:cubicBezTo>
                    <a:pt x="1123530" y="216269"/>
                    <a:pt x="1101650" y="238148"/>
                    <a:pt x="1074661" y="238148"/>
                  </a:cubicBezTo>
                  <a:lnTo>
                    <a:pt x="48868" y="238148"/>
                  </a:lnTo>
                  <a:cubicBezTo>
                    <a:pt x="21879" y="238148"/>
                    <a:pt x="0" y="216269"/>
                    <a:pt x="0" y="189280"/>
                  </a:cubicBezTo>
                  <a:lnTo>
                    <a:pt x="0" y="48868"/>
                  </a:lnTo>
                  <a:cubicBezTo>
                    <a:pt x="0" y="21879"/>
                    <a:pt x="21879" y="0"/>
                    <a:pt x="488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266700"/>
              <a:ext cx="1123530" cy="50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64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66866" y="3909349"/>
            <a:ext cx="414946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산림청 100대 명산 등산로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74686" y="4828623"/>
            <a:ext cx="4277455" cy="906667"/>
            <a:chOff x="0" y="0"/>
            <a:chExt cx="1123530" cy="2381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3530" cy="238148"/>
            </a:xfrm>
            <a:custGeom>
              <a:avLst/>
              <a:gdLst/>
              <a:ahLst/>
              <a:cxnLst/>
              <a:rect r="r" b="b" t="t" l="l"/>
              <a:pathLst>
                <a:path h="238148" w="1123530">
                  <a:moveTo>
                    <a:pt x="48868" y="0"/>
                  </a:moveTo>
                  <a:lnTo>
                    <a:pt x="1074661" y="0"/>
                  </a:lnTo>
                  <a:cubicBezTo>
                    <a:pt x="1101650" y="0"/>
                    <a:pt x="1123530" y="21879"/>
                    <a:pt x="1123530" y="48868"/>
                  </a:cubicBezTo>
                  <a:lnTo>
                    <a:pt x="1123530" y="189280"/>
                  </a:lnTo>
                  <a:cubicBezTo>
                    <a:pt x="1123530" y="216269"/>
                    <a:pt x="1101650" y="238148"/>
                    <a:pt x="1074661" y="238148"/>
                  </a:cubicBezTo>
                  <a:lnTo>
                    <a:pt x="48868" y="238148"/>
                  </a:lnTo>
                  <a:cubicBezTo>
                    <a:pt x="21879" y="238148"/>
                    <a:pt x="0" y="216269"/>
                    <a:pt x="0" y="189280"/>
                  </a:cubicBezTo>
                  <a:lnTo>
                    <a:pt x="0" y="48868"/>
                  </a:lnTo>
                  <a:cubicBezTo>
                    <a:pt x="0" y="21879"/>
                    <a:pt x="21879" y="0"/>
                    <a:pt x="488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266700"/>
              <a:ext cx="1123530" cy="50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64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178502" y="5058429"/>
            <a:ext cx="423782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전국 버스정류장 위치정보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74686" y="5993149"/>
            <a:ext cx="4277455" cy="907326"/>
            <a:chOff x="0" y="0"/>
            <a:chExt cx="1123530" cy="23832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23530" cy="238321"/>
            </a:xfrm>
            <a:custGeom>
              <a:avLst/>
              <a:gdLst/>
              <a:ahLst/>
              <a:cxnLst/>
              <a:rect r="r" b="b" t="t" l="l"/>
              <a:pathLst>
                <a:path h="238321" w="1123530">
                  <a:moveTo>
                    <a:pt x="48868" y="0"/>
                  </a:moveTo>
                  <a:lnTo>
                    <a:pt x="1074661" y="0"/>
                  </a:lnTo>
                  <a:cubicBezTo>
                    <a:pt x="1101650" y="0"/>
                    <a:pt x="1123530" y="21879"/>
                    <a:pt x="1123530" y="48868"/>
                  </a:cubicBezTo>
                  <a:lnTo>
                    <a:pt x="1123530" y="189453"/>
                  </a:lnTo>
                  <a:cubicBezTo>
                    <a:pt x="1123530" y="216442"/>
                    <a:pt x="1101650" y="238321"/>
                    <a:pt x="1074661" y="238321"/>
                  </a:cubicBezTo>
                  <a:lnTo>
                    <a:pt x="48868" y="238321"/>
                  </a:lnTo>
                  <a:cubicBezTo>
                    <a:pt x="21879" y="238321"/>
                    <a:pt x="0" y="216442"/>
                    <a:pt x="0" y="189453"/>
                  </a:cubicBezTo>
                  <a:lnTo>
                    <a:pt x="0" y="48868"/>
                  </a:lnTo>
                  <a:cubicBezTo>
                    <a:pt x="0" y="21879"/>
                    <a:pt x="21879" y="0"/>
                    <a:pt x="488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266700"/>
              <a:ext cx="1123530" cy="50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64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78502" y="6240115"/>
            <a:ext cx="423782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국내 관광명소 위치 및 유형정보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174686" y="7167477"/>
            <a:ext cx="4277455" cy="907326"/>
            <a:chOff x="0" y="0"/>
            <a:chExt cx="1123530" cy="23832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23530" cy="238321"/>
            </a:xfrm>
            <a:custGeom>
              <a:avLst/>
              <a:gdLst/>
              <a:ahLst/>
              <a:cxnLst/>
              <a:rect r="r" b="b" t="t" l="l"/>
              <a:pathLst>
                <a:path h="238321" w="1123530">
                  <a:moveTo>
                    <a:pt x="48868" y="0"/>
                  </a:moveTo>
                  <a:lnTo>
                    <a:pt x="1074661" y="0"/>
                  </a:lnTo>
                  <a:cubicBezTo>
                    <a:pt x="1101650" y="0"/>
                    <a:pt x="1123530" y="21879"/>
                    <a:pt x="1123530" y="48868"/>
                  </a:cubicBezTo>
                  <a:lnTo>
                    <a:pt x="1123530" y="189453"/>
                  </a:lnTo>
                  <a:cubicBezTo>
                    <a:pt x="1123530" y="216442"/>
                    <a:pt x="1101650" y="238321"/>
                    <a:pt x="1074661" y="238321"/>
                  </a:cubicBezTo>
                  <a:lnTo>
                    <a:pt x="48868" y="238321"/>
                  </a:lnTo>
                  <a:cubicBezTo>
                    <a:pt x="21879" y="238321"/>
                    <a:pt x="0" y="216442"/>
                    <a:pt x="0" y="189453"/>
                  </a:cubicBezTo>
                  <a:lnTo>
                    <a:pt x="0" y="48868"/>
                  </a:lnTo>
                  <a:cubicBezTo>
                    <a:pt x="0" y="21879"/>
                    <a:pt x="21879" y="0"/>
                    <a:pt x="488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266700"/>
              <a:ext cx="1123530" cy="50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64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78502" y="7415718"/>
            <a:ext cx="423782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지도 API 기반 공간정보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174686" y="8350974"/>
            <a:ext cx="4277455" cy="907326"/>
            <a:chOff x="0" y="0"/>
            <a:chExt cx="1123530" cy="23832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3530" cy="238321"/>
            </a:xfrm>
            <a:custGeom>
              <a:avLst/>
              <a:gdLst/>
              <a:ahLst/>
              <a:cxnLst/>
              <a:rect r="r" b="b" t="t" l="l"/>
              <a:pathLst>
                <a:path h="238321" w="1123530">
                  <a:moveTo>
                    <a:pt x="48868" y="0"/>
                  </a:moveTo>
                  <a:lnTo>
                    <a:pt x="1074661" y="0"/>
                  </a:lnTo>
                  <a:cubicBezTo>
                    <a:pt x="1101650" y="0"/>
                    <a:pt x="1123530" y="21879"/>
                    <a:pt x="1123530" y="48868"/>
                  </a:cubicBezTo>
                  <a:lnTo>
                    <a:pt x="1123530" y="189453"/>
                  </a:lnTo>
                  <a:cubicBezTo>
                    <a:pt x="1123530" y="216442"/>
                    <a:pt x="1101650" y="238321"/>
                    <a:pt x="1074661" y="238321"/>
                  </a:cubicBezTo>
                  <a:lnTo>
                    <a:pt x="48868" y="238321"/>
                  </a:lnTo>
                  <a:cubicBezTo>
                    <a:pt x="21879" y="238321"/>
                    <a:pt x="0" y="216442"/>
                    <a:pt x="0" y="189453"/>
                  </a:cubicBezTo>
                  <a:lnTo>
                    <a:pt x="0" y="48868"/>
                  </a:lnTo>
                  <a:cubicBezTo>
                    <a:pt x="0" y="21879"/>
                    <a:pt x="21879" y="0"/>
                    <a:pt x="488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266700"/>
              <a:ext cx="1123530" cy="505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64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178502" y="8599215"/>
            <a:ext cx="423782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등산 후기 수집 정보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3710493" y="6910302"/>
            <a:ext cx="2781133" cy="620737"/>
            <a:chOff x="0" y="0"/>
            <a:chExt cx="791317" cy="1766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91317" cy="176619"/>
            </a:xfrm>
            <a:custGeom>
              <a:avLst/>
              <a:gdLst/>
              <a:ahLst/>
              <a:cxnLst/>
              <a:rect r="r" b="b" t="t" l="l"/>
              <a:pathLst>
                <a:path h="176619" w="791317">
                  <a:moveTo>
                    <a:pt x="47323" y="0"/>
                  </a:moveTo>
                  <a:lnTo>
                    <a:pt x="743993" y="0"/>
                  </a:lnTo>
                  <a:cubicBezTo>
                    <a:pt x="770129" y="0"/>
                    <a:pt x="791317" y="21187"/>
                    <a:pt x="791317" y="47323"/>
                  </a:cubicBezTo>
                  <a:lnTo>
                    <a:pt x="791317" y="129295"/>
                  </a:lnTo>
                  <a:cubicBezTo>
                    <a:pt x="791317" y="155431"/>
                    <a:pt x="770129" y="176619"/>
                    <a:pt x="743993" y="176619"/>
                  </a:cubicBezTo>
                  <a:lnTo>
                    <a:pt x="47323" y="176619"/>
                  </a:lnTo>
                  <a:cubicBezTo>
                    <a:pt x="21187" y="176619"/>
                    <a:pt x="0" y="155431"/>
                    <a:pt x="0" y="129295"/>
                  </a:cubicBezTo>
                  <a:lnTo>
                    <a:pt x="0" y="47323"/>
                  </a:lnTo>
                  <a:cubicBezTo>
                    <a:pt x="0" y="21187"/>
                    <a:pt x="21187" y="0"/>
                    <a:pt x="47323" y="0"/>
                  </a:cubicBezTo>
                  <a:close/>
                </a:path>
              </a:pathLst>
            </a:custGeom>
            <a:solidFill>
              <a:srgbClr val="296913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19075"/>
              <a:ext cx="791317" cy="39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통계 검증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41163" y="1058232"/>
            <a:ext cx="727009" cy="600833"/>
          </a:xfrm>
          <a:custGeom>
            <a:avLst/>
            <a:gdLst/>
            <a:ahLst/>
            <a:cxnLst/>
            <a:rect r="r" b="b" t="t" l="l"/>
            <a:pathLst>
              <a:path h="600833" w="727009">
                <a:moveTo>
                  <a:pt x="0" y="0"/>
                </a:moveTo>
                <a:lnTo>
                  <a:pt x="727009" y="0"/>
                </a:lnTo>
                <a:lnTo>
                  <a:pt x="72700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3191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3317206" y="8269720"/>
            <a:ext cx="3511751" cy="938786"/>
            <a:chOff x="0" y="0"/>
            <a:chExt cx="999200" cy="26711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9200" cy="267113"/>
            </a:xfrm>
            <a:custGeom>
              <a:avLst/>
              <a:gdLst/>
              <a:ahLst/>
              <a:cxnLst/>
              <a:rect r="r" b="b" t="t" l="l"/>
              <a:pathLst>
                <a:path h="267113" w="999200">
                  <a:moveTo>
                    <a:pt x="37478" y="0"/>
                  </a:moveTo>
                  <a:lnTo>
                    <a:pt x="961722" y="0"/>
                  </a:lnTo>
                  <a:cubicBezTo>
                    <a:pt x="971662" y="0"/>
                    <a:pt x="981194" y="3949"/>
                    <a:pt x="988223" y="10977"/>
                  </a:cubicBezTo>
                  <a:cubicBezTo>
                    <a:pt x="995251" y="18005"/>
                    <a:pt x="999200" y="27538"/>
                    <a:pt x="999200" y="37478"/>
                  </a:cubicBezTo>
                  <a:lnTo>
                    <a:pt x="999200" y="229635"/>
                  </a:lnTo>
                  <a:cubicBezTo>
                    <a:pt x="999200" y="239575"/>
                    <a:pt x="995251" y="249108"/>
                    <a:pt x="988223" y="256136"/>
                  </a:cubicBezTo>
                  <a:cubicBezTo>
                    <a:pt x="981194" y="263164"/>
                    <a:pt x="971662" y="267113"/>
                    <a:pt x="961722" y="267113"/>
                  </a:cubicBezTo>
                  <a:lnTo>
                    <a:pt x="37478" y="267113"/>
                  </a:lnTo>
                  <a:cubicBezTo>
                    <a:pt x="27538" y="267113"/>
                    <a:pt x="18005" y="263164"/>
                    <a:pt x="10977" y="256136"/>
                  </a:cubicBezTo>
                  <a:cubicBezTo>
                    <a:pt x="3949" y="249108"/>
                    <a:pt x="0" y="239575"/>
                    <a:pt x="0" y="229635"/>
                  </a:cubicBezTo>
                  <a:lnTo>
                    <a:pt x="0" y="37478"/>
                  </a:lnTo>
                  <a:cubicBezTo>
                    <a:pt x="0" y="27538"/>
                    <a:pt x="3949" y="18005"/>
                    <a:pt x="10977" y="10977"/>
                  </a:cubicBezTo>
                  <a:cubicBezTo>
                    <a:pt x="18005" y="3949"/>
                    <a:pt x="27538" y="0"/>
                    <a:pt x="37478" y="0"/>
                  </a:cubicBezTo>
                  <a:close/>
                </a:path>
              </a:pathLst>
            </a:custGeom>
            <a:solidFill>
              <a:srgbClr val="004E18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999200" cy="276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6"/>
                </a:lnSpc>
              </a:pPr>
              <a:r>
                <a:rPr lang="en-US" b="true" sz="2100" spc="21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맞춤 서비스</a:t>
              </a:r>
            </a:p>
            <a:p>
              <a:pPr algn="ctr">
                <a:lnSpc>
                  <a:spcPts val="2646"/>
                </a:lnSpc>
              </a:pPr>
              <a:r>
                <a:rPr lang="en-US" b="true" sz="2100" spc="21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구현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74651" y="8126081"/>
            <a:ext cx="2283134" cy="727100"/>
            <a:chOff x="0" y="0"/>
            <a:chExt cx="649621" cy="20688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9621" cy="206882"/>
            </a:xfrm>
            <a:custGeom>
              <a:avLst/>
              <a:gdLst/>
              <a:ahLst/>
              <a:cxnLst/>
              <a:rect r="r" b="b" t="t" l="l"/>
              <a:pathLst>
                <a:path h="206882" w="649621">
                  <a:moveTo>
                    <a:pt x="57646" y="0"/>
                  </a:moveTo>
                  <a:lnTo>
                    <a:pt x="591975" y="0"/>
                  </a:lnTo>
                  <a:cubicBezTo>
                    <a:pt x="623812" y="0"/>
                    <a:pt x="649621" y="25809"/>
                    <a:pt x="649621" y="57646"/>
                  </a:cubicBezTo>
                  <a:lnTo>
                    <a:pt x="649621" y="149236"/>
                  </a:lnTo>
                  <a:cubicBezTo>
                    <a:pt x="649621" y="181073"/>
                    <a:pt x="623812" y="206882"/>
                    <a:pt x="591975" y="206882"/>
                  </a:cubicBezTo>
                  <a:lnTo>
                    <a:pt x="57646" y="206882"/>
                  </a:lnTo>
                  <a:cubicBezTo>
                    <a:pt x="25809" y="206882"/>
                    <a:pt x="0" y="181073"/>
                    <a:pt x="0" y="149236"/>
                  </a:cubicBezTo>
                  <a:lnTo>
                    <a:pt x="0" y="57646"/>
                  </a:lnTo>
                  <a:cubicBezTo>
                    <a:pt x="0" y="25809"/>
                    <a:pt x="25809" y="0"/>
                    <a:pt x="57646" y="0"/>
                  </a:cubicBezTo>
                  <a:close/>
                </a:path>
              </a:pathLst>
            </a:custGeom>
            <a:solidFill>
              <a:srgbClr val="59895B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19075"/>
              <a:ext cx="649621" cy="425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20"/>
                </a:lnSpc>
              </a:pPr>
              <a:r>
                <a:rPr lang="en-US" sz="2000" spc="20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지수 산출 계산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990880"/>
            <a:ext cx="3904015" cy="5988147"/>
            <a:chOff x="0" y="0"/>
            <a:chExt cx="1028218" cy="15771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8218" cy="1577125"/>
            </a:xfrm>
            <a:custGeom>
              <a:avLst/>
              <a:gdLst/>
              <a:ahLst/>
              <a:cxnLst/>
              <a:rect r="r" b="b" t="t" l="l"/>
              <a:pathLst>
                <a:path h="1577125" w="1028218">
                  <a:moveTo>
                    <a:pt x="101136" y="0"/>
                  </a:moveTo>
                  <a:lnTo>
                    <a:pt x="927082" y="0"/>
                  </a:lnTo>
                  <a:cubicBezTo>
                    <a:pt x="982938" y="0"/>
                    <a:pt x="1028218" y="45280"/>
                    <a:pt x="1028218" y="101136"/>
                  </a:cubicBezTo>
                  <a:lnTo>
                    <a:pt x="1028218" y="1475989"/>
                  </a:lnTo>
                  <a:cubicBezTo>
                    <a:pt x="1028218" y="1502812"/>
                    <a:pt x="1017563" y="1528536"/>
                    <a:pt x="998596" y="1547503"/>
                  </a:cubicBezTo>
                  <a:cubicBezTo>
                    <a:pt x="979629" y="1566470"/>
                    <a:pt x="953905" y="1577125"/>
                    <a:pt x="927082" y="1577125"/>
                  </a:cubicBezTo>
                  <a:lnTo>
                    <a:pt x="101136" y="1577125"/>
                  </a:lnTo>
                  <a:cubicBezTo>
                    <a:pt x="74313" y="1577125"/>
                    <a:pt x="48589" y="1566470"/>
                    <a:pt x="29622" y="1547503"/>
                  </a:cubicBezTo>
                  <a:cubicBezTo>
                    <a:pt x="10655" y="1528536"/>
                    <a:pt x="0" y="1502812"/>
                    <a:pt x="0" y="1475989"/>
                  </a:cubicBezTo>
                  <a:lnTo>
                    <a:pt x="0" y="101136"/>
                  </a:lnTo>
                  <a:cubicBezTo>
                    <a:pt x="0" y="74313"/>
                    <a:pt x="10655" y="48589"/>
                    <a:pt x="29622" y="29622"/>
                  </a:cubicBezTo>
                  <a:cubicBezTo>
                    <a:pt x="48589" y="10655"/>
                    <a:pt x="74313" y="0"/>
                    <a:pt x="10113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28218" cy="163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37872" y="2990880"/>
            <a:ext cx="3904015" cy="5988147"/>
            <a:chOff x="0" y="0"/>
            <a:chExt cx="1028218" cy="15771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8218" cy="1577125"/>
            </a:xfrm>
            <a:custGeom>
              <a:avLst/>
              <a:gdLst/>
              <a:ahLst/>
              <a:cxnLst/>
              <a:rect r="r" b="b" t="t" l="l"/>
              <a:pathLst>
                <a:path h="1577125" w="1028218">
                  <a:moveTo>
                    <a:pt x="101136" y="0"/>
                  </a:moveTo>
                  <a:lnTo>
                    <a:pt x="927082" y="0"/>
                  </a:lnTo>
                  <a:cubicBezTo>
                    <a:pt x="982938" y="0"/>
                    <a:pt x="1028218" y="45280"/>
                    <a:pt x="1028218" y="101136"/>
                  </a:cubicBezTo>
                  <a:lnTo>
                    <a:pt x="1028218" y="1475989"/>
                  </a:lnTo>
                  <a:cubicBezTo>
                    <a:pt x="1028218" y="1502812"/>
                    <a:pt x="1017563" y="1528536"/>
                    <a:pt x="998596" y="1547503"/>
                  </a:cubicBezTo>
                  <a:cubicBezTo>
                    <a:pt x="979629" y="1566470"/>
                    <a:pt x="953905" y="1577125"/>
                    <a:pt x="927082" y="1577125"/>
                  </a:cubicBezTo>
                  <a:lnTo>
                    <a:pt x="101136" y="1577125"/>
                  </a:lnTo>
                  <a:cubicBezTo>
                    <a:pt x="74313" y="1577125"/>
                    <a:pt x="48589" y="1566470"/>
                    <a:pt x="29622" y="1547503"/>
                  </a:cubicBezTo>
                  <a:cubicBezTo>
                    <a:pt x="10655" y="1528536"/>
                    <a:pt x="0" y="1502812"/>
                    <a:pt x="0" y="1475989"/>
                  </a:cubicBezTo>
                  <a:lnTo>
                    <a:pt x="0" y="101136"/>
                  </a:lnTo>
                  <a:cubicBezTo>
                    <a:pt x="0" y="74313"/>
                    <a:pt x="10655" y="48589"/>
                    <a:pt x="29622" y="29622"/>
                  </a:cubicBezTo>
                  <a:cubicBezTo>
                    <a:pt x="48589" y="10655"/>
                    <a:pt x="74313" y="0"/>
                    <a:pt x="10113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28218" cy="163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45001" y="2990880"/>
            <a:ext cx="3904015" cy="5988147"/>
            <a:chOff x="0" y="0"/>
            <a:chExt cx="1028218" cy="1577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8218" cy="1577125"/>
            </a:xfrm>
            <a:custGeom>
              <a:avLst/>
              <a:gdLst/>
              <a:ahLst/>
              <a:cxnLst/>
              <a:rect r="r" b="b" t="t" l="l"/>
              <a:pathLst>
                <a:path h="1577125" w="1028218">
                  <a:moveTo>
                    <a:pt x="101136" y="0"/>
                  </a:moveTo>
                  <a:lnTo>
                    <a:pt x="927082" y="0"/>
                  </a:lnTo>
                  <a:cubicBezTo>
                    <a:pt x="982938" y="0"/>
                    <a:pt x="1028218" y="45280"/>
                    <a:pt x="1028218" y="101136"/>
                  </a:cubicBezTo>
                  <a:lnTo>
                    <a:pt x="1028218" y="1475989"/>
                  </a:lnTo>
                  <a:cubicBezTo>
                    <a:pt x="1028218" y="1502812"/>
                    <a:pt x="1017563" y="1528536"/>
                    <a:pt x="998596" y="1547503"/>
                  </a:cubicBezTo>
                  <a:cubicBezTo>
                    <a:pt x="979629" y="1566470"/>
                    <a:pt x="953905" y="1577125"/>
                    <a:pt x="927082" y="1577125"/>
                  </a:cubicBezTo>
                  <a:lnTo>
                    <a:pt x="101136" y="1577125"/>
                  </a:lnTo>
                  <a:cubicBezTo>
                    <a:pt x="74313" y="1577125"/>
                    <a:pt x="48589" y="1566470"/>
                    <a:pt x="29622" y="1547503"/>
                  </a:cubicBezTo>
                  <a:cubicBezTo>
                    <a:pt x="10655" y="1528536"/>
                    <a:pt x="0" y="1502812"/>
                    <a:pt x="0" y="1475989"/>
                  </a:cubicBezTo>
                  <a:lnTo>
                    <a:pt x="0" y="101136"/>
                  </a:lnTo>
                  <a:cubicBezTo>
                    <a:pt x="0" y="74313"/>
                    <a:pt x="10655" y="48589"/>
                    <a:pt x="29622" y="29622"/>
                  </a:cubicBezTo>
                  <a:cubicBezTo>
                    <a:pt x="48589" y="10655"/>
                    <a:pt x="74313" y="0"/>
                    <a:pt x="10113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8218" cy="163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55285" y="2990880"/>
            <a:ext cx="3904015" cy="5988147"/>
            <a:chOff x="0" y="0"/>
            <a:chExt cx="1028218" cy="1577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8218" cy="1577125"/>
            </a:xfrm>
            <a:custGeom>
              <a:avLst/>
              <a:gdLst/>
              <a:ahLst/>
              <a:cxnLst/>
              <a:rect r="r" b="b" t="t" l="l"/>
              <a:pathLst>
                <a:path h="1577125" w="1028218">
                  <a:moveTo>
                    <a:pt x="101136" y="0"/>
                  </a:moveTo>
                  <a:lnTo>
                    <a:pt x="927082" y="0"/>
                  </a:lnTo>
                  <a:cubicBezTo>
                    <a:pt x="982938" y="0"/>
                    <a:pt x="1028218" y="45280"/>
                    <a:pt x="1028218" y="101136"/>
                  </a:cubicBezTo>
                  <a:lnTo>
                    <a:pt x="1028218" y="1475989"/>
                  </a:lnTo>
                  <a:cubicBezTo>
                    <a:pt x="1028218" y="1502812"/>
                    <a:pt x="1017563" y="1528536"/>
                    <a:pt x="998596" y="1547503"/>
                  </a:cubicBezTo>
                  <a:cubicBezTo>
                    <a:pt x="979629" y="1566470"/>
                    <a:pt x="953905" y="1577125"/>
                    <a:pt x="927082" y="1577125"/>
                  </a:cubicBezTo>
                  <a:lnTo>
                    <a:pt x="101136" y="1577125"/>
                  </a:lnTo>
                  <a:cubicBezTo>
                    <a:pt x="74313" y="1577125"/>
                    <a:pt x="48589" y="1566470"/>
                    <a:pt x="29622" y="1547503"/>
                  </a:cubicBezTo>
                  <a:cubicBezTo>
                    <a:pt x="10655" y="1528536"/>
                    <a:pt x="0" y="1502812"/>
                    <a:pt x="0" y="1475989"/>
                  </a:cubicBezTo>
                  <a:lnTo>
                    <a:pt x="0" y="101136"/>
                  </a:lnTo>
                  <a:cubicBezTo>
                    <a:pt x="0" y="74313"/>
                    <a:pt x="10655" y="48589"/>
                    <a:pt x="29622" y="29622"/>
                  </a:cubicBezTo>
                  <a:cubicBezTo>
                    <a:pt x="48589" y="10655"/>
                    <a:pt x="74313" y="0"/>
                    <a:pt x="10113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6C8B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28218" cy="163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318157" y="6050559"/>
            <a:ext cx="3380870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371559" y="6041034"/>
            <a:ext cx="3380870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479725" y="6041034"/>
            <a:ext cx="3380870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3588973" y="6041034"/>
            <a:ext cx="3380870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116609" y="3729971"/>
            <a:ext cx="1672427" cy="2187863"/>
          </a:xfrm>
          <a:custGeom>
            <a:avLst/>
            <a:gdLst/>
            <a:ahLst/>
            <a:cxnLst/>
            <a:rect r="r" b="b" t="t" l="l"/>
            <a:pathLst>
              <a:path h="2187863" w="1672427">
                <a:moveTo>
                  <a:pt x="0" y="0"/>
                </a:moveTo>
                <a:lnTo>
                  <a:pt x="1672427" y="0"/>
                </a:lnTo>
                <a:lnTo>
                  <a:pt x="1672427" y="2187863"/>
                </a:lnTo>
                <a:lnTo>
                  <a:pt x="0" y="2187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844760" y="3668371"/>
            <a:ext cx="2434470" cy="2311063"/>
          </a:xfrm>
          <a:custGeom>
            <a:avLst/>
            <a:gdLst/>
            <a:ahLst/>
            <a:cxnLst/>
            <a:rect r="r" b="b" t="t" l="l"/>
            <a:pathLst>
              <a:path h="2311063" w="2434470">
                <a:moveTo>
                  <a:pt x="0" y="0"/>
                </a:moveTo>
                <a:lnTo>
                  <a:pt x="2434469" y="0"/>
                </a:lnTo>
                <a:lnTo>
                  <a:pt x="2434469" y="2311063"/>
                </a:lnTo>
                <a:lnTo>
                  <a:pt x="0" y="2311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57043" y="3858509"/>
            <a:ext cx="3046496" cy="676522"/>
          </a:xfrm>
          <a:custGeom>
            <a:avLst/>
            <a:gdLst/>
            <a:ahLst/>
            <a:cxnLst/>
            <a:rect r="r" b="b" t="t" l="l"/>
            <a:pathLst>
              <a:path h="676522" w="3046496">
                <a:moveTo>
                  <a:pt x="0" y="0"/>
                </a:moveTo>
                <a:lnTo>
                  <a:pt x="3046495" y="0"/>
                </a:lnTo>
                <a:lnTo>
                  <a:pt x="3046495" y="676522"/>
                </a:lnTo>
                <a:lnTo>
                  <a:pt x="0" y="676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36" t="-71551" r="-3056" b="-7784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57043" y="5057654"/>
            <a:ext cx="3046496" cy="584684"/>
          </a:xfrm>
          <a:custGeom>
            <a:avLst/>
            <a:gdLst/>
            <a:ahLst/>
            <a:cxnLst/>
            <a:rect r="r" b="b" t="t" l="l"/>
            <a:pathLst>
              <a:path h="584684" w="3046496">
                <a:moveTo>
                  <a:pt x="0" y="0"/>
                </a:moveTo>
                <a:lnTo>
                  <a:pt x="3046495" y="0"/>
                </a:lnTo>
                <a:lnTo>
                  <a:pt x="3046495" y="584684"/>
                </a:lnTo>
                <a:lnTo>
                  <a:pt x="0" y="584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3233" r="0" b="-103363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757043" y="4535031"/>
            <a:ext cx="3046496" cy="522624"/>
            <a:chOff x="0" y="0"/>
            <a:chExt cx="4061994" cy="69683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061994" cy="696831"/>
              <a:chOff x="0" y="0"/>
              <a:chExt cx="714303" cy="12253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14303" cy="122538"/>
              </a:xfrm>
              <a:custGeom>
                <a:avLst/>
                <a:gdLst/>
                <a:ahLst/>
                <a:cxnLst/>
                <a:rect r="r" b="b" t="t" l="l"/>
                <a:pathLst>
                  <a:path h="122538" w="714303">
                    <a:moveTo>
                      <a:pt x="0" y="0"/>
                    </a:moveTo>
                    <a:lnTo>
                      <a:pt x="714303" y="0"/>
                    </a:lnTo>
                    <a:lnTo>
                      <a:pt x="714303" y="122538"/>
                    </a:lnTo>
                    <a:lnTo>
                      <a:pt x="0" y="12253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714303" cy="198738"/>
              </a:xfrm>
              <a:prstGeom prst="rect">
                <a:avLst/>
              </a:prstGeom>
            </p:spPr>
            <p:txBody>
              <a:bodyPr anchor="ctr" rtlCol="false" tIns="57063" lIns="57063" bIns="57063" rIns="57063"/>
              <a:lstStyle/>
              <a:p>
                <a:pPr algn="ctr">
                  <a:lnSpc>
                    <a:spcPts val="3498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689372" y="0"/>
              <a:ext cx="2608891" cy="696831"/>
            </a:xfrm>
            <a:custGeom>
              <a:avLst/>
              <a:gdLst/>
              <a:ahLst/>
              <a:cxnLst/>
              <a:rect r="r" b="b" t="t" l="l"/>
              <a:pathLst>
                <a:path h="696831" w="2608891">
                  <a:moveTo>
                    <a:pt x="0" y="0"/>
                  </a:moveTo>
                  <a:lnTo>
                    <a:pt x="2608891" y="0"/>
                  </a:lnTo>
                  <a:lnTo>
                    <a:pt x="2608891" y="696831"/>
                  </a:lnTo>
                  <a:lnTo>
                    <a:pt x="0" y="696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934" r="0" b="-55661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479725" y="3937419"/>
            <a:ext cx="3380870" cy="1717848"/>
          </a:xfrm>
          <a:custGeom>
            <a:avLst/>
            <a:gdLst/>
            <a:ahLst/>
            <a:cxnLst/>
            <a:rect r="r" b="b" t="t" l="l"/>
            <a:pathLst>
              <a:path h="1717848" w="3380870">
                <a:moveTo>
                  <a:pt x="0" y="0"/>
                </a:moveTo>
                <a:lnTo>
                  <a:pt x="3380870" y="0"/>
                </a:lnTo>
                <a:lnTo>
                  <a:pt x="3380870" y="1717847"/>
                </a:lnTo>
                <a:lnTo>
                  <a:pt x="0" y="17178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41044" y="7710853"/>
            <a:ext cx="3623557" cy="88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100대 명산</a:t>
            </a:r>
          </a:p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 현황 파악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18619" y="7768659"/>
            <a:ext cx="4142521" cy="88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등산로별 대중교통</a:t>
            </a:r>
          </a:p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 및 이동 거리 분석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8157" y="6661112"/>
            <a:ext cx="3327929" cy="71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산림청 100대명산</a:t>
            </a:r>
          </a:p>
          <a:p>
            <a:pPr algn="ctr">
              <a:lnSpc>
                <a:spcPts val="2625"/>
              </a:lnSpc>
            </a:pPr>
            <a:r>
              <a:rPr lang="en-US" b="true" sz="2100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[2025.09]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57918" y="58871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활용데이터 및 분석과정 개요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30837" y="6392614"/>
            <a:ext cx="3718085" cy="110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전국 버스정류장</a:t>
            </a:r>
          </a:p>
          <a:p>
            <a:pPr algn="ctr">
              <a:lnSpc>
                <a:spcPts val="3125"/>
              </a:lnSpc>
            </a:pP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위치정보</a:t>
            </a:r>
          </a:p>
          <a:p>
            <a:pPr algn="ctr">
              <a:lnSpc>
                <a:spcPts val="2625"/>
              </a:lnSpc>
            </a:pPr>
            <a:r>
              <a:rPr lang="en-US" b="true" sz="2100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[2025.11]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25052" y="6383089"/>
            <a:ext cx="2090217" cy="111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2499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국내 지역별</a:t>
            </a:r>
          </a:p>
          <a:p>
            <a:pPr algn="ctr">
              <a:lnSpc>
                <a:spcPts val="3124"/>
              </a:lnSpc>
            </a:pPr>
            <a:r>
              <a:rPr lang="en-US" b="true" sz="2499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관광명소데이터</a:t>
            </a:r>
          </a:p>
          <a:p>
            <a:pPr algn="ctr">
              <a:lnSpc>
                <a:spcPts val="2625"/>
              </a:lnSpc>
            </a:pPr>
            <a:r>
              <a:rPr lang="en-US" b="true" sz="2100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[2025.10]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85703" y="7710853"/>
            <a:ext cx="2422611" cy="88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 주변</a:t>
            </a:r>
          </a:p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관광명소 위치 파악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623414" y="6550411"/>
            <a:ext cx="3367757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b="true" sz="2499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API 기반 수집</a:t>
            </a:r>
          </a:p>
          <a:p>
            <a:pPr algn="ctr">
              <a:lnSpc>
                <a:spcPts val="2875"/>
              </a:lnSpc>
            </a:pPr>
            <a:r>
              <a:rPr lang="en-US" b="true" sz="2300" spc="23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(지도 데이터, 후기 데이터)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58566" y="7710853"/>
            <a:ext cx="3876092" cy="88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등산로별 접근성·인프라 분석</a:t>
            </a:r>
          </a:p>
          <a:p>
            <a:pPr algn="ctr">
              <a:lnSpc>
                <a:spcPts val="3657"/>
              </a:lnSpc>
            </a:pPr>
            <a:r>
              <a:rPr lang="en-US" sz="2300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산별 이용자 평가 분석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1163" y="1058232"/>
            <a:ext cx="727009" cy="600833"/>
          </a:xfrm>
          <a:custGeom>
            <a:avLst/>
            <a:gdLst/>
            <a:ahLst/>
            <a:cxnLst/>
            <a:rect r="r" b="b" t="t" l="l"/>
            <a:pathLst>
              <a:path h="600833" w="727009">
                <a:moveTo>
                  <a:pt x="0" y="0"/>
                </a:moveTo>
                <a:lnTo>
                  <a:pt x="727009" y="0"/>
                </a:lnTo>
                <a:lnTo>
                  <a:pt x="72700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3191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229271" y="3910189"/>
            <a:ext cx="5196060" cy="5044948"/>
            <a:chOff x="0" y="0"/>
            <a:chExt cx="1336848" cy="1297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6848" cy="1297969"/>
            </a:xfrm>
            <a:custGeom>
              <a:avLst/>
              <a:gdLst/>
              <a:ahLst/>
              <a:cxnLst/>
              <a:rect r="r" b="b" t="t" l="l"/>
              <a:pathLst>
                <a:path h="1297969" w="1336848">
                  <a:moveTo>
                    <a:pt x="47679" y="0"/>
                  </a:moveTo>
                  <a:lnTo>
                    <a:pt x="1289169" y="0"/>
                  </a:lnTo>
                  <a:cubicBezTo>
                    <a:pt x="1301814" y="0"/>
                    <a:pt x="1313941" y="5023"/>
                    <a:pt x="1322883" y="13965"/>
                  </a:cubicBezTo>
                  <a:cubicBezTo>
                    <a:pt x="1331824" y="22906"/>
                    <a:pt x="1336848" y="35034"/>
                    <a:pt x="1336848" y="47679"/>
                  </a:cubicBezTo>
                  <a:lnTo>
                    <a:pt x="1336848" y="1250291"/>
                  </a:lnTo>
                  <a:cubicBezTo>
                    <a:pt x="1336848" y="1262936"/>
                    <a:pt x="1331824" y="1275063"/>
                    <a:pt x="1322883" y="1284004"/>
                  </a:cubicBezTo>
                  <a:cubicBezTo>
                    <a:pt x="1313941" y="1292946"/>
                    <a:pt x="1301814" y="1297969"/>
                    <a:pt x="1289169" y="1297969"/>
                  </a:cubicBezTo>
                  <a:lnTo>
                    <a:pt x="47679" y="1297969"/>
                  </a:lnTo>
                  <a:cubicBezTo>
                    <a:pt x="35034" y="1297969"/>
                    <a:pt x="22906" y="1292946"/>
                    <a:pt x="13965" y="1284004"/>
                  </a:cubicBezTo>
                  <a:cubicBezTo>
                    <a:pt x="5023" y="1275063"/>
                    <a:pt x="0" y="1262936"/>
                    <a:pt x="0" y="1250291"/>
                  </a:cubicBezTo>
                  <a:lnTo>
                    <a:pt x="0" y="47679"/>
                  </a:lnTo>
                  <a:cubicBezTo>
                    <a:pt x="0" y="35034"/>
                    <a:pt x="5023" y="22906"/>
                    <a:pt x="13965" y="13965"/>
                  </a:cubicBezTo>
                  <a:cubicBezTo>
                    <a:pt x="22906" y="5023"/>
                    <a:pt x="35034" y="0"/>
                    <a:pt x="4767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36848" cy="1345594"/>
            </a:xfrm>
            <a:prstGeom prst="rect">
              <a:avLst/>
            </a:prstGeom>
          </p:spPr>
          <p:txBody>
            <a:bodyPr anchor="ctr" rtlCol="false" tIns="52003" lIns="52003" bIns="52003" rIns="52003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29271" y="3992638"/>
            <a:ext cx="5127161" cy="46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b="true" sz="2664" spc="-53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활용 데이터셋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29271" y="4535072"/>
            <a:ext cx="5196060" cy="4420065"/>
            <a:chOff x="0" y="0"/>
            <a:chExt cx="1069148" cy="9094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9148" cy="909478"/>
            </a:xfrm>
            <a:custGeom>
              <a:avLst/>
              <a:gdLst/>
              <a:ahLst/>
              <a:cxnLst/>
              <a:rect r="r" b="b" t="t" l="l"/>
              <a:pathLst>
                <a:path h="909478" w="1069148">
                  <a:moveTo>
                    <a:pt x="29101" y="0"/>
                  </a:moveTo>
                  <a:lnTo>
                    <a:pt x="1040047" y="0"/>
                  </a:lnTo>
                  <a:cubicBezTo>
                    <a:pt x="1047765" y="0"/>
                    <a:pt x="1055167" y="3066"/>
                    <a:pt x="1060625" y="8523"/>
                  </a:cubicBezTo>
                  <a:cubicBezTo>
                    <a:pt x="1066082" y="13981"/>
                    <a:pt x="1069148" y="21383"/>
                    <a:pt x="1069148" y="29101"/>
                  </a:cubicBezTo>
                  <a:lnTo>
                    <a:pt x="1069148" y="880378"/>
                  </a:lnTo>
                  <a:cubicBezTo>
                    <a:pt x="1069148" y="896450"/>
                    <a:pt x="1056119" y="909478"/>
                    <a:pt x="1040047" y="909478"/>
                  </a:cubicBezTo>
                  <a:lnTo>
                    <a:pt x="29101" y="909478"/>
                  </a:lnTo>
                  <a:cubicBezTo>
                    <a:pt x="13029" y="909478"/>
                    <a:pt x="0" y="896450"/>
                    <a:pt x="0" y="880378"/>
                  </a:cubicBezTo>
                  <a:lnTo>
                    <a:pt x="0" y="29101"/>
                  </a:lnTo>
                  <a:cubicBezTo>
                    <a:pt x="0" y="13029"/>
                    <a:pt x="13029" y="0"/>
                    <a:pt x="291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069148" cy="995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067808" y="5085046"/>
            <a:ext cx="1587885" cy="2077266"/>
          </a:xfrm>
          <a:custGeom>
            <a:avLst/>
            <a:gdLst/>
            <a:ahLst/>
            <a:cxnLst/>
            <a:rect r="r" b="b" t="t" l="l"/>
            <a:pathLst>
              <a:path h="2077266" w="1587885">
                <a:moveTo>
                  <a:pt x="0" y="0"/>
                </a:moveTo>
                <a:lnTo>
                  <a:pt x="1587885" y="0"/>
                </a:lnTo>
                <a:lnTo>
                  <a:pt x="1587885" y="2077266"/>
                </a:lnTo>
                <a:lnTo>
                  <a:pt x="0" y="2077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858827" y="3925617"/>
            <a:ext cx="5569372" cy="5044948"/>
            <a:chOff x="0" y="0"/>
            <a:chExt cx="7425830" cy="672659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425830" cy="6726597"/>
              <a:chOff x="0" y="0"/>
              <a:chExt cx="1432894" cy="129796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32894" cy="1297969"/>
              </a:xfrm>
              <a:custGeom>
                <a:avLst/>
                <a:gdLst/>
                <a:ahLst/>
                <a:cxnLst/>
                <a:rect r="r" b="b" t="t" l="l"/>
                <a:pathLst>
                  <a:path h="1297969" w="1432894">
                    <a:moveTo>
                      <a:pt x="44483" y="0"/>
                    </a:moveTo>
                    <a:lnTo>
                      <a:pt x="1388411" y="0"/>
                    </a:lnTo>
                    <a:cubicBezTo>
                      <a:pt x="1400208" y="0"/>
                      <a:pt x="1411523" y="4687"/>
                      <a:pt x="1419865" y="13029"/>
                    </a:cubicBezTo>
                    <a:cubicBezTo>
                      <a:pt x="1428207" y="21371"/>
                      <a:pt x="1432894" y="32685"/>
                      <a:pt x="1432894" y="44483"/>
                    </a:cubicBezTo>
                    <a:lnTo>
                      <a:pt x="1432894" y="1253486"/>
                    </a:lnTo>
                    <a:cubicBezTo>
                      <a:pt x="1432894" y="1265284"/>
                      <a:pt x="1428207" y="1276598"/>
                      <a:pt x="1419865" y="1284940"/>
                    </a:cubicBezTo>
                    <a:cubicBezTo>
                      <a:pt x="1411523" y="1293283"/>
                      <a:pt x="1400208" y="1297969"/>
                      <a:pt x="1388411" y="1297969"/>
                    </a:cubicBezTo>
                    <a:lnTo>
                      <a:pt x="44483" y="1297969"/>
                    </a:lnTo>
                    <a:cubicBezTo>
                      <a:pt x="19916" y="1297969"/>
                      <a:pt x="0" y="1278054"/>
                      <a:pt x="0" y="1253486"/>
                    </a:cubicBezTo>
                    <a:lnTo>
                      <a:pt x="0" y="44483"/>
                    </a:lnTo>
                    <a:cubicBezTo>
                      <a:pt x="0" y="19916"/>
                      <a:pt x="19916" y="0"/>
                      <a:pt x="44483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432894" cy="1345594"/>
              </a:xfrm>
              <a:prstGeom prst="rect">
                <a:avLst/>
              </a:prstGeom>
            </p:spPr>
            <p:txBody>
              <a:bodyPr anchor="ctr" rtlCol="false" tIns="52003" lIns="52003" bIns="52003" rIns="52003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9233" y="124032"/>
              <a:ext cx="7327364" cy="600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29"/>
                </a:lnSpc>
              </a:pPr>
              <a:r>
                <a:rPr lang="en-US" b="true" sz="2664" spc="-53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데이터셋의 문제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833177"/>
              <a:ext cx="7425830" cy="5893420"/>
              <a:chOff x="0" y="0"/>
              <a:chExt cx="1145961" cy="90947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45961" cy="909478"/>
              </a:xfrm>
              <a:custGeom>
                <a:avLst/>
                <a:gdLst/>
                <a:ahLst/>
                <a:cxnLst/>
                <a:rect r="r" b="b" t="t" l="l"/>
                <a:pathLst>
                  <a:path h="909478" w="1145961">
                    <a:moveTo>
                      <a:pt x="27150" y="0"/>
                    </a:moveTo>
                    <a:lnTo>
                      <a:pt x="1118811" y="0"/>
                    </a:lnTo>
                    <a:cubicBezTo>
                      <a:pt x="1133806" y="0"/>
                      <a:pt x="1145961" y="12156"/>
                      <a:pt x="1145961" y="27150"/>
                    </a:cubicBezTo>
                    <a:lnTo>
                      <a:pt x="1145961" y="882328"/>
                    </a:lnTo>
                    <a:cubicBezTo>
                      <a:pt x="1145961" y="897323"/>
                      <a:pt x="1133806" y="909478"/>
                      <a:pt x="1118811" y="909478"/>
                    </a:cubicBezTo>
                    <a:lnTo>
                      <a:pt x="27150" y="909478"/>
                    </a:lnTo>
                    <a:cubicBezTo>
                      <a:pt x="12156" y="909478"/>
                      <a:pt x="0" y="897323"/>
                      <a:pt x="0" y="882328"/>
                    </a:cubicBezTo>
                    <a:lnTo>
                      <a:pt x="0" y="27150"/>
                    </a:lnTo>
                    <a:cubicBezTo>
                      <a:pt x="0" y="12156"/>
                      <a:pt x="12156" y="0"/>
                      <a:pt x="2715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85725"/>
                <a:ext cx="1145961" cy="9952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  <a:r>
                  <a:rPr lang="en-US" sz="2300" spc="23">
                    <a:solidFill>
                      <a:srgbClr val="FFFFFF"/>
                    </a:solidFill>
                    <a:latin typeface="Tlab 돋움 레귤러"/>
                    <a:ea typeface="Tlab 돋움 레귤러"/>
                    <a:cs typeface="Tlab 돋움 레귤러"/>
                    <a:sym typeface="Tlab 돋움 레귤러"/>
                  </a:rPr>
                  <a:t>{{{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5400000">
            <a:off x="12286402" y="6340540"/>
            <a:ext cx="714221" cy="929324"/>
            <a:chOff x="0" y="0"/>
            <a:chExt cx="727058" cy="9460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7058" cy="946028"/>
            </a:xfrm>
            <a:custGeom>
              <a:avLst/>
              <a:gdLst/>
              <a:ahLst/>
              <a:cxnLst/>
              <a:rect r="r" b="b" t="t" l="l"/>
              <a:pathLst>
                <a:path h="946028" w="727058">
                  <a:moveTo>
                    <a:pt x="727058" y="473014"/>
                  </a:moveTo>
                  <a:lnTo>
                    <a:pt x="320658" y="0"/>
                  </a:lnTo>
                  <a:lnTo>
                    <a:pt x="320658" y="203200"/>
                  </a:lnTo>
                  <a:lnTo>
                    <a:pt x="0" y="203200"/>
                  </a:lnTo>
                  <a:lnTo>
                    <a:pt x="0" y="742828"/>
                  </a:lnTo>
                  <a:lnTo>
                    <a:pt x="320658" y="742828"/>
                  </a:lnTo>
                  <a:lnTo>
                    <a:pt x="320658" y="946028"/>
                  </a:lnTo>
                  <a:lnTo>
                    <a:pt x="727058" y="473014"/>
                  </a:lnTo>
                  <a:close/>
                </a:path>
              </a:pathLst>
            </a:custGeom>
            <a:solidFill>
              <a:srgbClr val="E5E2D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17475"/>
              <a:ext cx="625458" cy="62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60327" y="5354200"/>
            <a:ext cx="4966371" cy="86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b="true" sz="2249" spc="2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각 코스의 위치 좌표(GPX)만 제공</a:t>
            </a:r>
          </a:p>
          <a:p>
            <a:pPr algn="ctr">
              <a:lnSpc>
                <a:spcPts val="3576"/>
              </a:lnSpc>
            </a:pPr>
            <a:r>
              <a:rPr lang="en-US" b="true" sz="2249" spc="2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거리, 소요시간, 난이도 등 핵심 정보 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98171" y="7329703"/>
            <a:ext cx="512716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b="true" sz="2856" spc="28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공공데이터</a:t>
            </a:r>
          </a:p>
          <a:p>
            <a:pPr algn="ctr">
              <a:lnSpc>
                <a:spcPts val="3428"/>
              </a:lnSpc>
            </a:pPr>
            <a:r>
              <a:rPr lang="en-US" b="true" sz="2856" spc="28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산림청 100대명산</a:t>
            </a:r>
          </a:p>
          <a:p>
            <a:pPr algn="ctr">
              <a:lnSpc>
                <a:spcPts val="2879"/>
              </a:lnSpc>
            </a:pPr>
            <a:r>
              <a:rPr lang="en-US" sz="2399" spc="23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[한국등산트레킹지원센터]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58827" y="7215403"/>
            <a:ext cx="5569372" cy="114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0"/>
              </a:lnSpc>
            </a:pPr>
            <a:r>
              <a:rPr lang="en-US" b="true" sz="2969" spc="29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위치 좌표(GPX) 기반</a:t>
            </a:r>
          </a:p>
          <a:p>
            <a:pPr algn="ctr">
              <a:lnSpc>
                <a:spcPts val="4720"/>
              </a:lnSpc>
            </a:pPr>
            <a:r>
              <a:rPr lang="en-US" b="true" sz="2969" spc="29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데이터셋 구축 필요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855789" y="5983429"/>
            <a:ext cx="714221" cy="929324"/>
            <a:chOff x="0" y="0"/>
            <a:chExt cx="727058" cy="9460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7058" cy="946028"/>
            </a:xfrm>
            <a:custGeom>
              <a:avLst/>
              <a:gdLst/>
              <a:ahLst/>
              <a:cxnLst/>
              <a:rect r="r" b="b" t="t" l="l"/>
              <a:pathLst>
                <a:path h="946028" w="727058">
                  <a:moveTo>
                    <a:pt x="727058" y="473014"/>
                  </a:moveTo>
                  <a:lnTo>
                    <a:pt x="320658" y="0"/>
                  </a:lnTo>
                  <a:lnTo>
                    <a:pt x="320658" y="203200"/>
                  </a:lnTo>
                  <a:lnTo>
                    <a:pt x="0" y="203200"/>
                  </a:lnTo>
                  <a:lnTo>
                    <a:pt x="0" y="742828"/>
                  </a:lnTo>
                  <a:lnTo>
                    <a:pt x="320658" y="742828"/>
                  </a:lnTo>
                  <a:lnTo>
                    <a:pt x="320658" y="946028"/>
                  </a:lnTo>
                  <a:lnTo>
                    <a:pt x="727058" y="473014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17475"/>
              <a:ext cx="625458" cy="62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50460" y="2807257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문제 정의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0460" y="2015578"/>
            <a:ext cx="6626101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GPX 기반 자체 데이터셋 구축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0" y="1990473"/>
            <a:ext cx="18288000" cy="1356574"/>
            <a:chOff x="0" y="0"/>
            <a:chExt cx="4816593" cy="3572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0" y="2813390"/>
            <a:ext cx="18288000" cy="544789"/>
            <a:chOff x="0" y="0"/>
            <a:chExt cx="4816593" cy="1434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53195" y="6983252"/>
            <a:ext cx="5049655" cy="2234460"/>
            <a:chOff x="0" y="0"/>
            <a:chExt cx="6732874" cy="297928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732874" cy="2979280"/>
              <a:chOff x="0" y="0"/>
              <a:chExt cx="1047663" cy="4635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47663" cy="463588"/>
              </a:xfrm>
              <a:custGeom>
                <a:avLst/>
                <a:gdLst/>
                <a:ahLst/>
                <a:cxnLst/>
                <a:rect r="r" b="b" t="t" l="l"/>
                <a:pathLst>
                  <a:path h="463588" w="1047663">
                    <a:moveTo>
                      <a:pt x="29944" y="0"/>
                    </a:moveTo>
                    <a:lnTo>
                      <a:pt x="1017719" y="0"/>
                    </a:lnTo>
                    <a:cubicBezTo>
                      <a:pt x="1025661" y="0"/>
                      <a:pt x="1033277" y="3155"/>
                      <a:pt x="1038893" y="8771"/>
                    </a:cubicBezTo>
                    <a:cubicBezTo>
                      <a:pt x="1044509" y="14386"/>
                      <a:pt x="1047663" y="22003"/>
                      <a:pt x="1047663" y="29944"/>
                    </a:cubicBezTo>
                    <a:lnTo>
                      <a:pt x="1047663" y="433644"/>
                    </a:lnTo>
                    <a:cubicBezTo>
                      <a:pt x="1047663" y="441586"/>
                      <a:pt x="1044509" y="449202"/>
                      <a:pt x="1038893" y="454818"/>
                    </a:cubicBezTo>
                    <a:cubicBezTo>
                      <a:pt x="1033277" y="460434"/>
                      <a:pt x="1025661" y="463588"/>
                      <a:pt x="1017719" y="463588"/>
                    </a:cubicBezTo>
                    <a:lnTo>
                      <a:pt x="29944" y="463588"/>
                    </a:lnTo>
                    <a:cubicBezTo>
                      <a:pt x="22003" y="463588"/>
                      <a:pt x="14386" y="460434"/>
                      <a:pt x="8771" y="454818"/>
                    </a:cubicBezTo>
                    <a:cubicBezTo>
                      <a:pt x="3155" y="449202"/>
                      <a:pt x="0" y="441586"/>
                      <a:pt x="0" y="433644"/>
                    </a:cubicBezTo>
                    <a:lnTo>
                      <a:pt x="0" y="29944"/>
                    </a:lnTo>
                    <a:cubicBezTo>
                      <a:pt x="0" y="22003"/>
                      <a:pt x="3155" y="14386"/>
                      <a:pt x="8771" y="8771"/>
                    </a:cubicBezTo>
                    <a:cubicBezTo>
                      <a:pt x="14386" y="3155"/>
                      <a:pt x="22003" y="0"/>
                      <a:pt x="299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85725"/>
                <a:ext cx="1047663" cy="5493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6732874" cy="974539"/>
              <a:chOff x="0" y="0"/>
              <a:chExt cx="1329950" cy="19250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29950" cy="192502"/>
              </a:xfrm>
              <a:custGeom>
                <a:avLst/>
                <a:gdLst/>
                <a:ahLst/>
                <a:cxnLst/>
                <a:rect r="r" b="b" t="t" l="l"/>
                <a:pathLst>
                  <a:path h="192502" w="1329950">
                    <a:moveTo>
                      <a:pt x="38329" y="0"/>
                    </a:moveTo>
                    <a:lnTo>
                      <a:pt x="1291621" y="0"/>
                    </a:lnTo>
                    <a:cubicBezTo>
                      <a:pt x="1301787" y="0"/>
                      <a:pt x="1311536" y="4038"/>
                      <a:pt x="1318724" y="11226"/>
                    </a:cubicBezTo>
                    <a:cubicBezTo>
                      <a:pt x="1325912" y="18414"/>
                      <a:pt x="1329950" y="28163"/>
                      <a:pt x="1329950" y="38329"/>
                    </a:cubicBezTo>
                    <a:lnTo>
                      <a:pt x="1329950" y="154173"/>
                    </a:lnTo>
                    <a:cubicBezTo>
                      <a:pt x="1329950" y="164338"/>
                      <a:pt x="1325912" y="174087"/>
                      <a:pt x="1318724" y="181275"/>
                    </a:cubicBezTo>
                    <a:cubicBezTo>
                      <a:pt x="1311536" y="188463"/>
                      <a:pt x="1301787" y="192502"/>
                      <a:pt x="1291621" y="192502"/>
                    </a:cubicBezTo>
                    <a:lnTo>
                      <a:pt x="38329" y="192502"/>
                    </a:lnTo>
                    <a:cubicBezTo>
                      <a:pt x="28163" y="192502"/>
                      <a:pt x="18414" y="188463"/>
                      <a:pt x="11226" y="181275"/>
                    </a:cubicBezTo>
                    <a:cubicBezTo>
                      <a:pt x="4038" y="174087"/>
                      <a:pt x="0" y="164338"/>
                      <a:pt x="0" y="154173"/>
                    </a:cubicBezTo>
                    <a:lnTo>
                      <a:pt x="0" y="38329"/>
                    </a:lnTo>
                    <a:cubicBezTo>
                      <a:pt x="0" y="28163"/>
                      <a:pt x="4038" y="18414"/>
                      <a:pt x="11226" y="11226"/>
                    </a:cubicBezTo>
                    <a:cubicBezTo>
                      <a:pt x="18414" y="4038"/>
                      <a:pt x="28163" y="0"/>
                      <a:pt x="38329" y="0"/>
                    </a:cubicBezTo>
                    <a:close/>
                  </a:path>
                </a:pathLst>
              </a:custGeom>
              <a:solidFill>
                <a:srgbClr val="C9DCB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329950" cy="24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684200" y="169388"/>
              <a:ext cx="3364473" cy="578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3"/>
                </a:lnSpc>
              </a:pPr>
              <a:r>
                <a:rPr lang="en-US" b="true" sz="2602" spc="-52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고도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2138" y="1621612"/>
              <a:ext cx="5048597" cy="54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7"/>
                </a:lnSpc>
                <a:spcBef>
                  <a:spcPct val="0"/>
                </a:spcBef>
              </a:pPr>
              <a:r>
                <a:rPr lang="en-US" b="true" sz="2300" spc="23">
                  <a:solidFill>
                    <a:srgbClr val="545454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XML 파싱으로 누적 고도 집계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85807" y="4120142"/>
            <a:ext cx="6031636" cy="5138158"/>
            <a:chOff x="0" y="0"/>
            <a:chExt cx="1251397" cy="10660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1397" cy="1066025"/>
            </a:xfrm>
            <a:custGeom>
              <a:avLst/>
              <a:gdLst/>
              <a:ahLst/>
              <a:cxnLst/>
              <a:rect r="r" b="b" t="t" l="l"/>
              <a:pathLst>
                <a:path h="1066025" w="1251397">
                  <a:moveTo>
                    <a:pt x="25069" y="0"/>
                  </a:moveTo>
                  <a:lnTo>
                    <a:pt x="1226328" y="0"/>
                  </a:lnTo>
                  <a:cubicBezTo>
                    <a:pt x="1232976" y="0"/>
                    <a:pt x="1239353" y="2641"/>
                    <a:pt x="1244054" y="7343"/>
                  </a:cubicBezTo>
                  <a:cubicBezTo>
                    <a:pt x="1248756" y="12044"/>
                    <a:pt x="1251397" y="18421"/>
                    <a:pt x="1251397" y="25069"/>
                  </a:cubicBezTo>
                  <a:lnTo>
                    <a:pt x="1251397" y="1040956"/>
                  </a:lnTo>
                  <a:cubicBezTo>
                    <a:pt x="1251397" y="1054801"/>
                    <a:pt x="1240173" y="1066025"/>
                    <a:pt x="1226328" y="1066025"/>
                  </a:cubicBezTo>
                  <a:lnTo>
                    <a:pt x="25069" y="1066025"/>
                  </a:lnTo>
                  <a:cubicBezTo>
                    <a:pt x="18421" y="1066025"/>
                    <a:pt x="12044" y="1063384"/>
                    <a:pt x="7343" y="1058682"/>
                  </a:cubicBezTo>
                  <a:cubicBezTo>
                    <a:pt x="2641" y="1053981"/>
                    <a:pt x="0" y="1047605"/>
                    <a:pt x="0" y="1040956"/>
                  </a:cubicBezTo>
                  <a:lnTo>
                    <a:pt x="0" y="25069"/>
                  </a:lnTo>
                  <a:cubicBezTo>
                    <a:pt x="0" y="18421"/>
                    <a:pt x="2641" y="12044"/>
                    <a:pt x="7343" y="7343"/>
                  </a:cubicBezTo>
                  <a:cubicBezTo>
                    <a:pt x="12044" y="2641"/>
                    <a:pt x="18421" y="0"/>
                    <a:pt x="250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251397" cy="115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85807" y="4120142"/>
            <a:ext cx="6031636" cy="730904"/>
            <a:chOff x="0" y="0"/>
            <a:chExt cx="1588579" cy="1925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8579" cy="192502"/>
            </a:xfrm>
            <a:custGeom>
              <a:avLst/>
              <a:gdLst/>
              <a:ahLst/>
              <a:cxnLst/>
              <a:rect r="r" b="b" t="t" l="l"/>
              <a:pathLst>
                <a:path h="192502" w="1588579">
                  <a:moveTo>
                    <a:pt x="32089" y="0"/>
                  </a:moveTo>
                  <a:lnTo>
                    <a:pt x="1556490" y="0"/>
                  </a:lnTo>
                  <a:cubicBezTo>
                    <a:pt x="1565001" y="0"/>
                    <a:pt x="1573163" y="3381"/>
                    <a:pt x="1579180" y="9399"/>
                  </a:cubicBezTo>
                  <a:cubicBezTo>
                    <a:pt x="1585198" y="15416"/>
                    <a:pt x="1588579" y="23578"/>
                    <a:pt x="1588579" y="32089"/>
                  </a:cubicBezTo>
                  <a:lnTo>
                    <a:pt x="1588579" y="160413"/>
                  </a:lnTo>
                  <a:cubicBezTo>
                    <a:pt x="1588579" y="168923"/>
                    <a:pt x="1585198" y="177085"/>
                    <a:pt x="1579180" y="183103"/>
                  </a:cubicBezTo>
                  <a:cubicBezTo>
                    <a:pt x="1573163" y="189121"/>
                    <a:pt x="1565001" y="192502"/>
                    <a:pt x="1556490" y="192502"/>
                  </a:cubicBezTo>
                  <a:lnTo>
                    <a:pt x="32089" y="192502"/>
                  </a:lnTo>
                  <a:cubicBezTo>
                    <a:pt x="23578" y="192502"/>
                    <a:pt x="15416" y="189121"/>
                    <a:pt x="9399" y="183103"/>
                  </a:cubicBezTo>
                  <a:cubicBezTo>
                    <a:pt x="3381" y="177085"/>
                    <a:pt x="0" y="168923"/>
                    <a:pt x="0" y="160413"/>
                  </a:cubicBezTo>
                  <a:lnTo>
                    <a:pt x="0" y="32089"/>
                  </a:lnTo>
                  <a:cubicBezTo>
                    <a:pt x="0" y="23578"/>
                    <a:pt x="3381" y="15416"/>
                    <a:pt x="9399" y="9399"/>
                  </a:cubicBezTo>
                  <a:cubicBezTo>
                    <a:pt x="15416" y="3381"/>
                    <a:pt x="23578" y="0"/>
                    <a:pt x="32089" y="0"/>
                  </a:cubicBezTo>
                  <a:close/>
                </a:path>
              </a:pathLst>
            </a:custGeom>
            <a:solidFill>
              <a:srgbClr val="C9DCB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588579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385807" y="4232896"/>
            <a:ext cx="5926177" cy="4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b="true" sz="2602" spc="-52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소요시간 (Naismith 변형)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85807" y="5199520"/>
            <a:ext cx="6031636" cy="98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3"/>
              </a:lnSpc>
            </a:pPr>
            <a:r>
              <a:rPr lang="en-US" b="true" sz="2549" spc="25">
                <a:solidFill>
                  <a:srgbClr val="545454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단순 거리 비례 ❌</a:t>
            </a:r>
          </a:p>
          <a:p>
            <a:pPr algn="ctr">
              <a:lnSpc>
                <a:spcPts val="4053"/>
              </a:lnSpc>
            </a:pPr>
            <a:r>
              <a:rPr lang="en-US" b="true" sz="2549" spc="25">
                <a:solidFill>
                  <a:srgbClr val="545454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→ 경사도 가중치</a:t>
            </a:r>
            <a:r>
              <a:rPr lang="en-US" b="true" sz="2549" spc="25">
                <a:solidFill>
                  <a:srgbClr val="545454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적용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76133" y="7731672"/>
            <a:ext cx="5250984" cy="1331205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9385807" y="6463903"/>
            <a:ext cx="6031636" cy="134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2300" spc="23">
                <a:solidFill>
                  <a:srgbClr val="54545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(평지 1km당 15분, 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2300" spc="23">
                <a:solidFill>
                  <a:srgbClr val="54545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오르막 100m당 10분 추가, 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2300" spc="23">
                <a:solidFill>
                  <a:srgbClr val="54545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내리막 100m당 5분 추가)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553195" y="4167694"/>
            <a:ext cx="5049655" cy="2234460"/>
            <a:chOff x="0" y="0"/>
            <a:chExt cx="6732874" cy="297928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732874" cy="2979280"/>
              <a:chOff x="0" y="0"/>
              <a:chExt cx="1047663" cy="46358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47663" cy="463588"/>
              </a:xfrm>
              <a:custGeom>
                <a:avLst/>
                <a:gdLst/>
                <a:ahLst/>
                <a:cxnLst/>
                <a:rect r="r" b="b" t="t" l="l"/>
                <a:pathLst>
                  <a:path h="463588" w="1047663">
                    <a:moveTo>
                      <a:pt x="29944" y="0"/>
                    </a:moveTo>
                    <a:lnTo>
                      <a:pt x="1017719" y="0"/>
                    </a:lnTo>
                    <a:cubicBezTo>
                      <a:pt x="1025661" y="0"/>
                      <a:pt x="1033277" y="3155"/>
                      <a:pt x="1038893" y="8771"/>
                    </a:cubicBezTo>
                    <a:cubicBezTo>
                      <a:pt x="1044509" y="14386"/>
                      <a:pt x="1047663" y="22003"/>
                      <a:pt x="1047663" y="29944"/>
                    </a:cubicBezTo>
                    <a:lnTo>
                      <a:pt x="1047663" y="433644"/>
                    </a:lnTo>
                    <a:cubicBezTo>
                      <a:pt x="1047663" y="441586"/>
                      <a:pt x="1044509" y="449202"/>
                      <a:pt x="1038893" y="454818"/>
                    </a:cubicBezTo>
                    <a:cubicBezTo>
                      <a:pt x="1033277" y="460434"/>
                      <a:pt x="1025661" y="463588"/>
                      <a:pt x="1017719" y="463588"/>
                    </a:cubicBezTo>
                    <a:lnTo>
                      <a:pt x="29944" y="463588"/>
                    </a:lnTo>
                    <a:cubicBezTo>
                      <a:pt x="22003" y="463588"/>
                      <a:pt x="14386" y="460434"/>
                      <a:pt x="8771" y="454818"/>
                    </a:cubicBezTo>
                    <a:cubicBezTo>
                      <a:pt x="3155" y="449202"/>
                      <a:pt x="0" y="441586"/>
                      <a:pt x="0" y="433644"/>
                    </a:cubicBezTo>
                    <a:lnTo>
                      <a:pt x="0" y="29944"/>
                    </a:lnTo>
                    <a:cubicBezTo>
                      <a:pt x="0" y="22003"/>
                      <a:pt x="3155" y="14386"/>
                      <a:pt x="8771" y="8771"/>
                    </a:cubicBezTo>
                    <a:cubicBezTo>
                      <a:pt x="14386" y="3155"/>
                      <a:pt x="22003" y="0"/>
                      <a:pt x="299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85725"/>
                <a:ext cx="1047663" cy="5493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6732874" cy="974539"/>
              <a:chOff x="0" y="0"/>
              <a:chExt cx="1329950" cy="19250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329950" cy="192502"/>
              </a:xfrm>
              <a:custGeom>
                <a:avLst/>
                <a:gdLst/>
                <a:ahLst/>
                <a:cxnLst/>
                <a:rect r="r" b="b" t="t" l="l"/>
                <a:pathLst>
                  <a:path h="192502" w="1329950">
                    <a:moveTo>
                      <a:pt x="38329" y="0"/>
                    </a:moveTo>
                    <a:lnTo>
                      <a:pt x="1291621" y="0"/>
                    </a:lnTo>
                    <a:cubicBezTo>
                      <a:pt x="1301787" y="0"/>
                      <a:pt x="1311536" y="4038"/>
                      <a:pt x="1318724" y="11226"/>
                    </a:cubicBezTo>
                    <a:cubicBezTo>
                      <a:pt x="1325912" y="18414"/>
                      <a:pt x="1329950" y="28163"/>
                      <a:pt x="1329950" y="38329"/>
                    </a:cubicBezTo>
                    <a:lnTo>
                      <a:pt x="1329950" y="154173"/>
                    </a:lnTo>
                    <a:cubicBezTo>
                      <a:pt x="1329950" y="164338"/>
                      <a:pt x="1325912" y="174087"/>
                      <a:pt x="1318724" y="181275"/>
                    </a:cubicBezTo>
                    <a:cubicBezTo>
                      <a:pt x="1311536" y="188463"/>
                      <a:pt x="1301787" y="192502"/>
                      <a:pt x="1291621" y="192502"/>
                    </a:cubicBezTo>
                    <a:lnTo>
                      <a:pt x="38329" y="192502"/>
                    </a:lnTo>
                    <a:cubicBezTo>
                      <a:pt x="28163" y="192502"/>
                      <a:pt x="18414" y="188463"/>
                      <a:pt x="11226" y="181275"/>
                    </a:cubicBezTo>
                    <a:cubicBezTo>
                      <a:pt x="4038" y="174087"/>
                      <a:pt x="0" y="164338"/>
                      <a:pt x="0" y="154173"/>
                    </a:cubicBezTo>
                    <a:lnTo>
                      <a:pt x="0" y="38329"/>
                    </a:lnTo>
                    <a:cubicBezTo>
                      <a:pt x="0" y="28163"/>
                      <a:pt x="4038" y="18414"/>
                      <a:pt x="11226" y="11226"/>
                    </a:cubicBezTo>
                    <a:cubicBezTo>
                      <a:pt x="18414" y="4038"/>
                      <a:pt x="28163" y="0"/>
                      <a:pt x="38329" y="0"/>
                    </a:cubicBezTo>
                    <a:close/>
                  </a:path>
                </a:pathLst>
              </a:custGeom>
              <a:solidFill>
                <a:srgbClr val="C9DCB9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1329950" cy="24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684200" y="169388"/>
              <a:ext cx="3364473" cy="578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3"/>
                </a:lnSpc>
              </a:pPr>
              <a:r>
                <a:rPr lang="en-US" b="true" sz="2602" spc="-52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총 거리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12401" y="1663514"/>
              <a:ext cx="5308071" cy="54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7"/>
                </a:lnSpc>
                <a:spcBef>
                  <a:spcPct val="0"/>
                </a:spcBef>
              </a:pPr>
              <a:r>
                <a:rPr lang="en-US" b="true" sz="2300" spc="23">
                  <a:solidFill>
                    <a:srgbClr val="545454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Haversine</a:t>
              </a:r>
              <a:r>
                <a:rPr lang="en-US" b="true" sz="2300" spc="23">
                  <a:solidFill>
                    <a:srgbClr val="545454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공식으로 정밀 계산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50460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해결 과정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0460" y="2015578"/>
            <a:ext cx="6626101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GPX 기반 자체 데이터셋 구축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0" y="1990473"/>
            <a:ext cx="18288000" cy="1356574"/>
            <a:chOff x="0" y="0"/>
            <a:chExt cx="4816593" cy="3572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2813390"/>
            <a:ext cx="18288000" cy="544789"/>
            <a:chOff x="0" y="0"/>
            <a:chExt cx="4816593" cy="1434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85807" y="4120142"/>
            <a:ext cx="6031636" cy="5138158"/>
            <a:chOff x="0" y="0"/>
            <a:chExt cx="1251397" cy="1066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1397" cy="1066025"/>
            </a:xfrm>
            <a:custGeom>
              <a:avLst/>
              <a:gdLst/>
              <a:ahLst/>
              <a:cxnLst/>
              <a:rect r="r" b="b" t="t" l="l"/>
              <a:pathLst>
                <a:path h="1066025" w="1251397">
                  <a:moveTo>
                    <a:pt x="25069" y="0"/>
                  </a:moveTo>
                  <a:lnTo>
                    <a:pt x="1226328" y="0"/>
                  </a:lnTo>
                  <a:cubicBezTo>
                    <a:pt x="1232976" y="0"/>
                    <a:pt x="1239353" y="2641"/>
                    <a:pt x="1244054" y="7343"/>
                  </a:cubicBezTo>
                  <a:cubicBezTo>
                    <a:pt x="1248756" y="12044"/>
                    <a:pt x="1251397" y="18421"/>
                    <a:pt x="1251397" y="25069"/>
                  </a:cubicBezTo>
                  <a:lnTo>
                    <a:pt x="1251397" y="1040956"/>
                  </a:lnTo>
                  <a:cubicBezTo>
                    <a:pt x="1251397" y="1054801"/>
                    <a:pt x="1240173" y="1066025"/>
                    <a:pt x="1226328" y="1066025"/>
                  </a:cubicBezTo>
                  <a:lnTo>
                    <a:pt x="25069" y="1066025"/>
                  </a:lnTo>
                  <a:cubicBezTo>
                    <a:pt x="18421" y="1066025"/>
                    <a:pt x="12044" y="1063384"/>
                    <a:pt x="7343" y="1058682"/>
                  </a:cubicBezTo>
                  <a:cubicBezTo>
                    <a:pt x="2641" y="1053981"/>
                    <a:pt x="0" y="1047605"/>
                    <a:pt x="0" y="1040956"/>
                  </a:cubicBezTo>
                  <a:lnTo>
                    <a:pt x="0" y="25069"/>
                  </a:lnTo>
                  <a:cubicBezTo>
                    <a:pt x="0" y="18421"/>
                    <a:pt x="2641" y="12044"/>
                    <a:pt x="7343" y="7343"/>
                  </a:cubicBezTo>
                  <a:cubicBezTo>
                    <a:pt x="12044" y="2641"/>
                    <a:pt x="18421" y="0"/>
                    <a:pt x="250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251397" cy="115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08540" y="5965678"/>
            <a:ext cx="3354888" cy="152957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9739118" y="4473602"/>
            <a:ext cx="532501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sz="2499" spc="24">
                <a:solidFill>
                  <a:srgbClr val="54545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GPS 오류(수직 점프) 탐지를 위한 </a:t>
            </a:r>
          </a:p>
          <a:p>
            <a:pPr algn="ctr">
              <a:lnSpc>
                <a:spcPts val="3974"/>
              </a:lnSpc>
            </a:pPr>
            <a:r>
              <a:rPr lang="en-US" sz="2499" spc="24">
                <a:solidFill>
                  <a:srgbClr val="54545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순간 경사</a:t>
            </a:r>
            <a:r>
              <a:rPr lang="en-US" sz="2499" spc="24">
                <a:solidFill>
                  <a:srgbClr val="54545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도(Slope) 계산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73942" y="7562158"/>
            <a:ext cx="587862" cy="34292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30879" y="8045081"/>
            <a:ext cx="249579" cy="32757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906371" y="7498385"/>
            <a:ext cx="3280895" cy="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0"/>
              </a:lnSpc>
              <a:spcBef>
                <a:spcPct val="0"/>
              </a:spcBef>
            </a:pPr>
            <a:r>
              <a:rPr lang="en-US" sz="2176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두 지점 사이의 고도차 (m)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06460" y="7986654"/>
            <a:ext cx="3573859" cy="41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0"/>
              </a:lnSpc>
              <a:spcBef>
                <a:spcPct val="0"/>
              </a:spcBef>
            </a:pPr>
            <a:r>
              <a:rPr lang="en-US" sz="2176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두 지점 사이의 수평 거리 (m)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1990473"/>
            <a:ext cx="18288000" cy="1356574"/>
            <a:chOff x="0" y="0"/>
            <a:chExt cx="4816593" cy="3572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50460" y="2015578"/>
            <a:ext cx="6626101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GPX 기반 자체 데이터셋 구축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2813390"/>
            <a:ext cx="18288000" cy="544789"/>
            <a:chOff x="0" y="0"/>
            <a:chExt cx="4816593" cy="1434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3. 전처리 및 최적화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553195" y="4167694"/>
            <a:ext cx="5049655" cy="2234460"/>
            <a:chOff x="0" y="0"/>
            <a:chExt cx="6732874" cy="297928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732874" cy="2979280"/>
              <a:chOff x="0" y="0"/>
              <a:chExt cx="1047663" cy="46358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47663" cy="463588"/>
              </a:xfrm>
              <a:custGeom>
                <a:avLst/>
                <a:gdLst/>
                <a:ahLst/>
                <a:cxnLst/>
                <a:rect r="r" b="b" t="t" l="l"/>
                <a:pathLst>
                  <a:path h="463588" w="1047663">
                    <a:moveTo>
                      <a:pt x="29944" y="0"/>
                    </a:moveTo>
                    <a:lnTo>
                      <a:pt x="1017719" y="0"/>
                    </a:lnTo>
                    <a:cubicBezTo>
                      <a:pt x="1025661" y="0"/>
                      <a:pt x="1033277" y="3155"/>
                      <a:pt x="1038893" y="8771"/>
                    </a:cubicBezTo>
                    <a:cubicBezTo>
                      <a:pt x="1044509" y="14386"/>
                      <a:pt x="1047663" y="22003"/>
                      <a:pt x="1047663" y="29944"/>
                    </a:cubicBezTo>
                    <a:lnTo>
                      <a:pt x="1047663" y="433644"/>
                    </a:lnTo>
                    <a:cubicBezTo>
                      <a:pt x="1047663" y="441586"/>
                      <a:pt x="1044509" y="449202"/>
                      <a:pt x="1038893" y="454818"/>
                    </a:cubicBezTo>
                    <a:cubicBezTo>
                      <a:pt x="1033277" y="460434"/>
                      <a:pt x="1025661" y="463588"/>
                      <a:pt x="1017719" y="463588"/>
                    </a:cubicBezTo>
                    <a:lnTo>
                      <a:pt x="29944" y="463588"/>
                    </a:lnTo>
                    <a:cubicBezTo>
                      <a:pt x="22003" y="463588"/>
                      <a:pt x="14386" y="460434"/>
                      <a:pt x="8771" y="454818"/>
                    </a:cubicBezTo>
                    <a:cubicBezTo>
                      <a:pt x="3155" y="449202"/>
                      <a:pt x="0" y="441586"/>
                      <a:pt x="0" y="433644"/>
                    </a:cubicBezTo>
                    <a:lnTo>
                      <a:pt x="0" y="29944"/>
                    </a:lnTo>
                    <a:cubicBezTo>
                      <a:pt x="0" y="22003"/>
                      <a:pt x="3155" y="14386"/>
                      <a:pt x="8771" y="8771"/>
                    </a:cubicBezTo>
                    <a:cubicBezTo>
                      <a:pt x="14386" y="3155"/>
                      <a:pt x="22003" y="0"/>
                      <a:pt x="299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85725"/>
                <a:ext cx="1047663" cy="5493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6732874" cy="974539"/>
              <a:chOff x="0" y="0"/>
              <a:chExt cx="1329950" cy="19250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29950" cy="192502"/>
              </a:xfrm>
              <a:custGeom>
                <a:avLst/>
                <a:gdLst/>
                <a:ahLst/>
                <a:cxnLst/>
                <a:rect r="r" b="b" t="t" l="l"/>
                <a:pathLst>
                  <a:path h="192502" w="1329950">
                    <a:moveTo>
                      <a:pt x="38329" y="0"/>
                    </a:moveTo>
                    <a:lnTo>
                      <a:pt x="1291621" y="0"/>
                    </a:lnTo>
                    <a:cubicBezTo>
                      <a:pt x="1301787" y="0"/>
                      <a:pt x="1311536" y="4038"/>
                      <a:pt x="1318724" y="11226"/>
                    </a:cubicBezTo>
                    <a:cubicBezTo>
                      <a:pt x="1325912" y="18414"/>
                      <a:pt x="1329950" y="28163"/>
                      <a:pt x="1329950" y="38329"/>
                    </a:cubicBezTo>
                    <a:lnTo>
                      <a:pt x="1329950" y="154173"/>
                    </a:lnTo>
                    <a:cubicBezTo>
                      <a:pt x="1329950" y="164338"/>
                      <a:pt x="1325912" y="174087"/>
                      <a:pt x="1318724" y="181275"/>
                    </a:cubicBezTo>
                    <a:cubicBezTo>
                      <a:pt x="1311536" y="188463"/>
                      <a:pt x="1301787" y="192502"/>
                      <a:pt x="1291621" y="192502"/>
                    </a:cubicBezTo>
                    <a:lnTo>
                      <a:pt x="38329" y="192502"/>
                    </a:lnTo>
                    <a:cubicBezTo>
                      <a:pt x="28163" y="192502"/>
                      <a:pt x="18414" y="188463"/>
                      <a:pt x="11226" y="181275"/>
                    </a:cubicBezTo>
                    <a:cubicBezTo>
                      <a:pt x="4038" y="174087"/>
                      <a:pt x="0" y="164338"/>
                      <a:pt x="0" y="154173"/>
                    </a:cubicBezTo>
                    <a:lnTo>
                      <a:pt x="0" y="38329"/>
                    </a:lnTo>
                    <a:cubicBezTo>
                      <a:pt x="0" y="28163"/>
                      <a:pt x="4038" y="18414"/>
                      <a:pt x="11226" y="11226"/>
                    </a:cubicBezTo>
                    <a:cubicBezTo>
                      <a:pt x="18414" y="4038"/>
                      <a:pt x="28163" y="0"/>
                      <a:pt x="38329" y="0"/>
                    </a:cubicBezTo>
                    <a:close/>
                  </a:path>
                </a:pathLst>
              </a:custGeom>
              <a:solidFill>
                <a:srgbClr val="C9DCB9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329950" cy="24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684200" y="169388"/>
              <a:ext cx="3364473" cy="578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3"/>
                </a:lnSpc>
              </a:pPr>
              <a:r>
                <a:rPr lang="en-US" b="true" sz="2602" spc="-52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전처리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53195" y="5345005"/>
            <a:ext cx="4996987" cy="45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b="true" sz="2400" spc="24">
                <a:solidFill>
                  <a:srgbClr val="545454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Slope &gt; 1.0 이면 제거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553195" y="7023840"/>
            <a:ext cx="5049655" cy="2234460"/>
            <a:chOff x="0" y="0"/>
            <a:chExt cx="1047663" cy="4635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7663" cy="463588"/>
            </a:xfrm>
            <a:custGeom>
              <a:avLst/>
              <a:gdLst/>
              <a:ahLst/>
              <a:cxnLst/>
              <a:rect r="r" b="b" t="t" l="l"/>
              <a:pathLst>
                <a:path h="463588" w="1047663">
                  <a:moveTo>
                    <a:pt x="29944" y="0"/>
                  </a:moveTo>
                  <a:lnTo>
                    <a:pt x="1017719" y="0"/>
                  </a:lnTo>
                  <a:cubicBezTo>
                    <a:pt x="1025661" y="0"/>
                    <a:pt x="1033277" y="3155"/>
                    <a:pt x="1038893" y="8771"/>
                  </a:cubicBezTo>
                  <a:cubicBezTo>
                    <a:pt x="1044509" y="14386"/>
                    <a:pt x="1047663" y="22003"/>
                    <a:pt x="1047663" y="29944"/>
                  </a:cubicBezTo>
                  <a:lnTo>
                    <a:pt x="1047663" y="433644"/>
                  </a:lnTo>
                  <a:cubicBezTo>
                    <a:pt x="1047663" y="441586"/>
                    <a:pt x="1044509" y="449202"/>
                    <a:pt x="1038893" y="454818"/>
                  </a:cubicBezTo>
                  <a:cubicBezTo>
                    <a:pt x="1033277" y="460434"/>
                    <a:pt x="1025661" y="463588"/>
                    <a:pt x="1017719" y="463588"/>
                  </a:cubicBezTo>
                  <a:lnTo>
                    <a:pt x="29944" y="463588"/>
                  </a:lnTo>
                  <a:cubicBezTo>
                    <a:pt x="22003" y="463588"/>
                    <a:pt x="14386" y="460434"/>
                    <a:pt x="8771" y="454818"/>
                  </a:cubicBezTo>
                  <a:cubicBezTo>
                    <a:pt x="3155" y="449202"/>
                    <a:pt x="0" y="441586"/>
                    <a:pt x="0" y="433644"/>
                  </a:cubicBezTo>
                  <a:lnTo>
                    <a:pt x="0" y="29944"/>
                  </a:lnTo>
                  <a:cubicBezTo>
                    <a:pt x="0" y="22003"/>
                    <a:pt x="3155" y="14386"/>
                    <a:pt x="8771" y="8771"/>
                  </a:cubicBezTo>
                  <a:cubicBezTo>
                    <a:pt x="14386" y="3155"/>
                    <a:pt x="22003" y="0"/>
                    <a:pt x="299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047663" cy="549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553195" y="7023840"/>
            <a:ext cx="5049655" cy="730904"/>
            <a:chOff x="0" y="0"/>
            <a:chExt cx="1329950" cy="1925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29950" cy="192502"/>
            </a:xfrm>
            <a:custGeom>
              <a:avLst/>
              <a:gdLst/>
              <a:ahLst/>
              <a:cxnLst/>
              <a:rect r="r" b="b" t="t" l="l"/>
              <a:pathLst>
                <a:path h="192502" w="1329950">
                  <a:moveTo>
                    <a:pt x="38329" y="0"/>
                  </a:moveTo>
                  <a:lnTo>
                    <a:pt x="1291621" y="0"/>
                  </a:lnTo>
                  <a:cubicBezTo>
                    <a:pt x="1301787" y="0"/>
                    <a:pt x="1311536" y="4038"/>
                    <a:pt x="1318724" y="11226"/>
                  </a:cubicBezTo>
                  <a:cubicBezTo>
                    <a:pt x="1325912" y="18414"/>
                    <a:pt x="1329950" y="28163"/>
                    <a:pt x="1329950" y="38329"/>
                  </a:cubicBezTo>
                  <a:lnTo>
                    <a:pt x="1329950" y="154173"/>
                  </a:lnTo>
                  <a:cubicBezTo>
                    <a:pt x="1329950" y="164338"/>
                    <a:pt x="1325912" y="174087"/>
                    <a:pt x="1318724" y="181275"/>
                  </a:cubicBezTo>
                  <a:cubicBezTo>
                    <a:pt x="1311536" y="188463"/>
                    <a:pt x="1301787" y="192502"/>
                    <a:pt x="1291621" y="192502"/>
                  </a:cubicBezTo>
                  <a:lnTo>
                    <a:pt x="38329" y="192502"/>
                  </a:lnTo>
                  <a:cubicBezTo>
                    <a:pt x="28163" y="192502"/>
                    <a:pt x="18414" y="188463"/>
                    <a:pt x="11226" y="181275"/>
                  </a:cubicBezTo>
                  <a:cubicBezTo>
                    <a:pt x="4038" y="174087"/>
                    <a:pt x="0" y="164338"/>
                    <a:pt x="0" y="154173"/>
                  </a:cubicBezTo>
                  <a:lnTo>
                    <a:pt x="0" y="38329"/>
                  </a:lnTo>
                  <a:cubicBezTo>
                    <a:pt x="0" y="28163"/>
                    <a:pt x="4038" y="18414"/>
                    <a:pt x="11226" y="11226"/>
                  </a:cubicBezTo>
                  <a:cubicBezTo>
                    <a:pt x="18414" y="4038"/>
                    <a:pt x="28163" y="0"/>
                    <a:pt x="3832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329950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816345" y="7136594"/>
            <a:ext cx="2523355" cy="4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b="true" sz="2602" spc="-52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전처리 효과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184798" y="7964151"/>
            <a:ext cx="3786448" cy="88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b="true" sz="2300" spc="23">
                <a:solidFill>
                  <a:srgbClr val="545454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물리적으로 불가능한</a:t>
            </a:r>
          </a:p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300" spc="23">
                <a:solidFill>
                  <a:srgbClr val="545454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이상치 제거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08458" y="5011713"/>
            <a:ext cx="6165290" cy="4471895"/>
            <a:chOff x="0" y="0"/>
            <a:chExt cx="1100044" cy="797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044" cy="797900"/>
            </a:xfrm>
            <a:custGeom>
              <a:avLst/>
              <a:gdLst/>
              <a:ahLst/>
              <a:cxnLst/>
              <a:rect r="r" b="b" t="t" l="l"/>
              <a:pathLst>
                <a:path h="797900" w="1100044">
                  <a:moveTo>
                    <a:pt x="24526" y="0"/>
                  </a:moveTo>
                  <a:lnTo>
                    <a:pt x="1075518" y="0"/>
                  </a:lnTo>
                  <a:cubicBezTo>
                    <a:pt x="1089064" y="0"/>
                    <a:pt x="1100044" y="10981"/>
                    <a:pt x="1100044" y="24526"/>
                  </a:cubicBezTo>
                  <a:lnTo>
                    <a:pt x="1100044" y="773374"/>
                  </a:lnTo>
                  <a:cubicBezTo>
                    <a:pt x="1100044" y="786919"/>
                    <a:pt x="1089064" y="797900"/>
                    <a:pt x="1075518" y="797900"/>
                  </a:cubicBezTo>
                  <a:lnTo>
                    <a:pt x="24526" y="797900"/>
                  </a:lnTo>
                  <a:cubicBezTo>
                    <a:pt x="10981" y="797900"/>
                    <a:pt x="0" y="786919"/>
                    <a:pt x="0" y="773374"/>
                  </a:cubicBezTo>
                  <a:lnTo>
                    <a:pt x="0" y="24526"/>
                  </a:lnTo>
                  <a:cubicBezTo>
                    <a:pt x="0" y="10981"/>
                    <a:pt x="10981" y="0"/>
                    <a:pt x="245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100044" cy="88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6275" y="5830870"/>
            <a:ext cx="5997998" cy="1754516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0364509" y="4983154"/>
            <a:ext cx="6146972" cy="4429421"/>
            <a:chOff x="0" y="0"/>
            <a:chExt cx="1175300" cy="8469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5300" cy="846905"/>
            </a:xfrm>
            <a:custGeom>
              <a:avLst/>
              <a:gdLst/>
              <a:ahLst/>
              <a:cxnLst/>
              <a:rect r="r" b="b" t="t" l="l"/>
              <a:pathLst>
                <a:path h="846905" w="1175300">
                  <a:moveTo>
                    <a:pt x="24599" y="0"/>
                  </a:moveTo>
                  <a:lnTo>
                    <a:pt x="1150701" y="0"/>
                  </a:lnTo>
                  <a:cubicBezTo>
                    <a:pt x="1157225" y="0"/>
                    <a:pt x="1163482" y="2592"/>
                    <a:pt x="1168095" y="7205"/>
                  </a:cubicBezTo>
                  <a:cubicBezTo>
                    <a:pt x="1172708" y="11818"/>
                    <a:pt x="1175300" y="18075"/>
                    <a:pt x="1175300" y="24599"/>
                  </a:cubicBezTo>
                  <a:lnTo>
                    <a:pt x="1175300" y="822306"/>
                  </a:lnTo>
                  <a:cubicBezTo>
                    <a:pt x="1175300" y="828830"/>
                    <a:pt x="1172708" y="835086"/>
                    <a:pt x="1168095" y="839700"/>
                  </a:cubicBezTo>
                  <a:cubicBezTo>
                    <a:pt x="1163482" y="844313"/>
                    <a:pt x="1157225" y="846905"/>
                    <a:pt x="1150701" y="846905"/>
                  </a:cubicBezTo>
                  <a:lnTo>
                    <a:pt x="24599" y="846905"/>
                  </a:lnTo>
                  <a:cubicBezTo>
                    <a:pt x="18075" y="846905"/>
                    <a:pt x="11818" y="844313"/>
                    <a:pt x="7205" y="839700"/>
                  </a:cubicBezTo>
                  <a:cubicBezTo>
                    <a:pt x="2592" y="835086"/>
                    <a:pt x="0" y="828830"/>
                    <a:pt x="0" y="822306"/>
                  </a:cubicBezTo>
                  <a:lnTo>
                    <a:pt x="0" y="24599"/>
                  </a:lnTo>
                  <a:cubicBezTo>
                    <a:pt x="0" y="18075"/>
                    <a:pt x="2592" y="11818"/>
                    <a:pt x="7205" y="7205"/>
                  </a:cubicBezTo>
                  <a:cubicBezTo>
                    <a:pt x="11818" y="2592"/>
                    <a:pt x="18075" y="0"/>
                    <a:pt x="245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175300" cy="932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157897" y="5242499"/>
            <a:ext cx="4528896" cy="86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6"/>
              </a:lnSpc>
            </a:pPr>
            <a:r>
              <a:rPr lang="en-US" b="true" sz="2249" spc="2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한국형 보정 (Optimization) :</a:t>
            </a:r>
          </a:p>
          <a:p>
            <a:pPr algn="ctr">
              <a:lnSpc>
                <a:spcPts val="3576"/>
              </a:lnSpc>
            </a:pPr>
            <a:r>
              <a:rPr lang="en-US" b="true" sz="2249" spc="2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경사도 가중치(  ) 적용 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86812" y="5841782"/>
            <a:ext cx="266886" cy="198454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15438" y="5817775"/>
            <a:ext cx="6445115" cy="1749388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1626775" y="4011774"/>
            <a:ext cx="6146972" cy="731296"/>
            <a:chOff x="0" y="0"/>
            <a:chExt cx="8195963" cy="97506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195963" cy="975061"/>
              <a:chOff x="0" y="0"/>
              <a:chExt cx="1618088" cy="19250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18088" cy="192502"/>
              </a:xfrm>
              <a:custGeom>
                <a:avLst/>
                <a:gdLst/>
                <a:ahLst/>
                <a:cxnLst/>
                <a:rect r="r" b="b" t="t" l="l"/>
                <a:pathLst>
                  <a:path h="192502" w="1618088">
                    <a:moveTo>
                      <a:pt x="40325" y="0"/>
                    </a:moveTo>
                    <a:lnTo>
                      <a:pt x="1577764" y="0"/>
                    </a:lnTo>
                    <a:cubicBezTo>
                      <a:pt x="1600034" y="0"/>
                      <a:pt x="1618088" y="18054"/>
                      <a:pt x="1618088" y="40325"/>
                    </a:cubicBezTo>
                    <a:lnTo>
                      <a:pt x="1618088" y="152177"/>
                    </a:lnTo>
                    <a:cubicBezTo>
                      <a:pt x="1618088" y="174448"/>
                      <a:pt x="1600034" y="192502"/>
                      <a:pt x="1577764" y="192502"/>
                    </a:cubicBezTo>
                    <a:lnTo>
                      <a:pt x="40325" y="192502"/>
                    </a:lnTo>
                    <a:cubicBezTo>
                      <a:pt x="18054" y="192502"/>
                      <a:pt x="0" y="174448"/>
                      <a:pt x="0" y="152177"/>
                    </a:cubicBezTo>
                    <a:lnTo>
                      <a:pt x="0" y="40325"/>
                    </a:lnTo>
                    <a:cubicBezTo>
                      <a:pt x="0" y="18054"/>
                      <a:pt x="18054" y="0"/>
                      <a:pt x="40325" y="0"/>
                    </a:cubicBezTo>
                    <a:close/>
                  </a:path>
                </a:pathLst>
              </a:custGeom>
              <a:solidFill>
                <a:srgbClr val="C9DCB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618088" cy="24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50186" y="169510"/>
              <a:ext cx="4095591" cy="578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5"/>
                </a:lnSpc>
              </a:pPr>
              <a:r>
                <a:rPr lang="en-US" b="true" sz="2603" spc="-52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기초 점수</a:t>
              </a: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48919" y="7506131"/>
            <a:ext cx="1520224" cy="533066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19296" y="8663197"/>
            <a:ext cx="675700" cy="386114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61526" y="8088642"/>
            <a:ext cx="629630" cy="454733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 rot="0">
            <a:off x="10348859" y="4003680"/>
            <a:ext cx="6146972" cy="731296"/>
            <a:chOff x="0" y="0"/>
            <a:chExt cx="8195963" cy="97506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195963" cy="975061"/>
              <a:chOff x="0" y="0"/>
              <a:chExt cx="1618088" cy="19250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18088" cy="192502"/>
              </a:xfrm>
              <a:custGeom>
                <a:avLst/>
                <a:gdLst/>
                <a:ahLst/>
                <a:cxnLst/>
                <a:rect r="r" b="b" t="t" l="l"/>
                <a:pathLst>
                  <a:path h="192502" w="1618088">
                    <a:moveTo>
                      <a:pt x="40325" y="0"/>
                    </a:moveTo>
                    <a:lnTo>
                      <a:pt x="1577764" y="0"/>
                    </a:lnTo>
                    <a:cubicBezTo>
                      <a:pt x="1600034" y="0"/>
                      <a:pt x="1618088" y="18054"/>
                      <a:pt x="1618088" y="40325"/>
                    </a:cubicBezTo>
                    <a:lnTo>
                      <a:pt x="1618088" y="152177"/>
                    </a:lnTo>
                    <a:cubicBezTo>
                      <a:pt x="1618088" y="174448"/>
                      <a:pt x="1600034" y="192502"/>
                      <a:pt x="1577764" y="192502"/>
                    </a:cubicBezTo>
                    <a:lnTo>
                      <a:pt x="40325" y="192502"/>
                    </a:lnTo>
                    <a:cubicBezTo>
                      <a:pt x="18054" y="192502"/>
                      <a:pt x="0" y="174448"/>
                      <a:pt x="0" y="152177"/>
                    </a:cubicBezTo>
                    <a:lnTo>
                      <a:pt x="0" y="40325"/>
                    </a:lnTo>
                    <a:cubicBezTo>
                      <a:pt x="0" y="18054"/>
                      <a:pt x="18054" y="0"/>
                      <a:pt x="40325" y="0"/>
                    </a:cubicBezTo>
                    <a:close/>
                  </a:path>
                </a:pathLst>
              </a:custGeom>
              <a:solidFill>
                <a:srgbClr val="C9DCB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618088" cy="24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50186" y="169510"/>
              <a:ext cx="4095591" cy="578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5"/>
                </a:lnSpc>
              </a:pPr>
              <a:r>
                <a:rPr lang="en-US" b="true" sz="2603" spc="-52">
                  <a:solidFill>
                    <a:srgbClr val="000000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보정 점수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7026" y="5864023"/>
            <a:ext cx="1864205" cy="2200109"/>
            <a:chOff x="0" y="0"/>
            <a:chExt cx="1515454" cy="17885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15454" cy="1788518"/>
            </a:xfrm>
            <a:custGeom>
              <a:avLst/>
              <a:gdLst/>
              <a:ahLst/>
              <a:cxnLst/>
              <a:rect r="r" b="b" t="t" l="l"/>
              <a:pathLst>
                <a:path h="1788518" w="1515454">
                  <a:moveTo>
                    <a:pt x="1515454" y="894259"/>
                  </a:moveTo>
                  <a:lnTo>
                    <a:pt x="1109054" y="0"/>
                  </a:lnTo>
                  <a:lnTo>
                    <a:pt x="1109054" y="203200"/>
                  </a:lnTo>
                  <a:lnTo>
                    <a:pt x="0" y="203200"/>
                  </a:lnTo>
                  <a:lnTo>
                    <a:pt x="0" y="1585318"/>
                  </a:lnTo>
                  <a:lnTo>
                    <a:pt x="1109054" y="1585318"/>
                  </a:lnTo>
                  <a:lnTo>
                    <a:pt x="1109054" y="1788518"/>
                  </a:lnTo>
                  <a:lnTo>
                    <a:pt x="1515454" y="894259"/>
                  </a:lnTo>
                  <a:close/>
                </a:path>
              </a:pathLst>
            </a:custGeom>
            <a:solidFill>
              <a:srgbClr val="6B5C4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17475"/>
              <a:ext cx="1413854" cy="1467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65166" y="5405424"/>
            <a:ext cx="4528896" cy="45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b="true" sz="2449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🇺🇸 셰넌도어 국립공원 공식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31261" y="7275964"/>
            <a:ext cx="1382168" cy="85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091" spc="1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가중치 표:</a:t>
            </a:r>
          </a:p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091" spc="1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~ 15% : 1.0 (완만)</a:t>
            </a:r>
          </a:p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091" spc="1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15 ~ 25% : 1.2 (보통)</a:t>
            </a:r>
          </a:p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091" spc="1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25% ~ : 1.5 (급경사)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173570" y="7524543"/>
            <a:ext cx="2099312" cy="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0"/>
              </a:lnSpc>
              <a:spcBef>
                <a:spcPct val="0"/>
              </a:spcBef>
            </a:pPr>
            <a:r>
              <a:rPr lang="en-US" sz="2176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기초 난이도 점수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06321" y="8067887"/>
            <a:ext cx="2768959" cy="41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0"/>
              </a:lnSpc>
              <a:spcBef>
                <a:spcPct val="0"/>
              </a:spcBef>
            </a:pPr>
            <a:r>
              <a:rPr lang="en-US" sz="2176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누적</a:t>
            </a:r>
            <a:r>
              <a:rPr lang="en-US" sz="2176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상승 고도 (feet)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06321" y="8605442"/>
            <a:ext cx="2077905" cy="41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sz="2180" spc="21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총 거리 (miles)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30131" y="6514906"/>
            <a:ext cx="1528252" cy="881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b="true" sz="1814" spc="18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험준한</a:t>
            </a:r>
          </a:p>
          <a:p>
            <a:pPr algn="ctr">
              <a:lnSpc>
                <a:spcPts val="2358"/>
              </a:lnSpc>
            </a:pPr>
            <a:r>
              <a:rPr lang="en-US" b="true" sz="1814" spc="18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한국 산악지형</a:t>
            </a:r>
          </a:p>
          <a:p>
            <a:pPr algn="ctr">
              <a:lnSpc>
                <a:spcPts val="2358"/>
              </a:lnSpc>
            </a:pPr>
            <a:r>
              <a:rPr lang="en-US" b="true" sz="1814" spc="18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반영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51287" y="8250765"/>
            <a:ext cx="4173417" cy="94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  <a:spcBef>
                <a:spcPct val="0"/>
              </a:spcBef>
            </a:pPr>
            <a:r>
              <a:rPr lang="en-US" sz="1627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전체 거리의 절반(0.5)을 오르막으로 가정하여 평균 경사도를 구하고, </a:t>
            </a:r>
          </a:p>
          <a:p>
            <a:pPr algn="ctr">
              <a:lnSpc>
                <a:spcPts val="2587"/>
              </a:lnSpc>
              <a:spcBef>
                <a:spcPct val="0"/>
              </a:spcBef>
            </a:pPr>
            <a:r>
              <a:rPr lang="en-US" sz="1627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급경사일수록 점수를 최대 1.5배 높임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9069" y="1983976"/>
            <a:ext cx="6626101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난이도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9069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난이도 산출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0" y="1990473"/>
            <a:ext cx="18288000" cy="1356574"/>
            <a:chOff x="0" y="0"/>
            <a:chExt cx="4816593" cy="35728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0" y="2813390"/>
            <a:ext cx="18288000" cy="544789"/>
            <a:chOff x="0" y="0"/>
            <a:chExt cx="4816593" cy="1434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16966" y="3889718"/>
            <a:ext cx="5694286" cy="5508415"/>
            <a:chOff x="0" y="0"/>
            <a:chExt cx="1536562" cy="1486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36562" cy="1486406"/>
            </a:xfrm>
            <a:custGeom>
              <a:avLst/>
              <a:gdLst/>
              <a:ahLst/>
              <a:cxnLst/>
              <a:rect r="r" b="b" t="t" l="l"/>
              <a:pathLst>
                <a:path h="1486406" w="1536562">
                  <a:moveTo>
                    <a:pt x="69339" y="0"/>
                  </a:moveTo>
                  <a:lnTo>
                    <a:pt x="1467223" y="0"/>
                  </a:lnTo>
                  <a:cubicBezTo>
                    <a:pt x="1505518" y="0"/>
                    <a:pt x="1536562" y="31044"/>
                    <a:pt x="1536562" y="69339"/>
                  </a:cubicBezTo>
                  <a:lnTo>
                    <a:pt x="1536562" y="1417067"/>
                  </a:lnTo>
                  <a:cubicBezTo>
                    <a:pt x="1536562" y="1435457"/>
                    <a:pt x="1529257" y="1453094"/>
                    <a:pt x="1516253" y="1466097"/>
                  </a:cubicBezTo>
                  <a:cubicBezTo>
                    <a:pt x="1503249" y="1479101"/>
                    <a:pt x="1485613" y="1486406"/>
                    <a:pt x="1467223" y="1486406"/>
                  </a:cubicBezTo>
                  <a:lnTo>
                    <a:pt x="69339" y="1486406"/>
                  </a:lnTo>
                  <a:cubicBezTo>
                    <a:pt x="31044" y="1486406"/>
                    <a:pt x="0" y="1455362"/>
                    <a:pt x="0" y="1417067"/>
                  </a:cubicBezTo>
                  <a:lnTo>
                    <a:pt x="0" y="69339"/>
                  </a:lnTo>
                  <a:cubicBezTo>
                    <a:pt x="0" y="31044"/>
                    <a:pt x="31044" y="0"/>
                    <a:pt x="693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536562" cy="1553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2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7458" y="4984944"/>
            <a:ext cx="6078373" cy="4557065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779260" y="5491475"/>
            <a:ext cx="4372280" cy="2559430"/>
            <a:chOff x="0" y="0"/>
            <a:chExt cx="1324512" cy="7753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4512" cy="775338"/>
            </a:xfrm>
            <a:custGeom>
              <a:avLst/>
              <a:gdLst/>
              <a:ahLst/>
              <a:cxnLst/>
              <a:rect r="r" b="b" t="t" l="l"/>
              <a:pathLst>
                <a:path h="775338" w="1324512">
                  <a:moveTo>
                    <a:pt x="34584" y="0"/>
                  </a:moveTo>
                  <a:lnTo>
                    <a:pt x="1289928" y="0"/>
                  </a:lnTo>
                  <a:cubicBezTo>
                    <a:pt x="1309028" y="0"/>
                    <a:pt x="1324512" y="15484"/>
                    <a:pt x="1324512" y="34584"/>
                  </a:cubicBezTo>
                  <a:lnTo>
                    <a:pt x="1324512" y="740755"/>
                  </a:lnTo>
                  <a:cubicBezTo>
                    <a:pt x="1324512" y="759855"/>
                    <a:pt x="1309028" y="775338"/>
                    <a:pt x="1289928" y="775338"/>
                  </a:cubicBezTo>
                  <a:lnTo>
                    <a:pt x="34584" y="775338"/>
                  </a:lnTo>
                  <a:cubicBezTo>
                    <a:pt x="15484" y="775338"/>
                    <a:pt x="0" y="759855"/>
                    <a:pt x="0" y="740755"/>
                  </a:cubicBezTo>
                  <a:lnTo>
                    <a:pt x="0" y="34584"/>
                  </a:lnTo>
                  <a:cubicBezTo>
                    <a:pt x="0" y="15484"/>
                    <a:pt x="15484" y="0"/>
                    <a:pt x="345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324512" cy="861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9260" y="4647938"/>
            <a:ext cx="4372280" cy="713384"/>
            <a:chOff x="0" y="0"/>
            <a:chExt cx="1179828" cy="1925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9828" cy="192502"/>
            </a:xfrm>
            <a:custGeom>
              <a:avLst/>
              <a:gdLst/>
              <a:ahLst/>
              <a:cxnLst/>
              <a:rect r="r" b="b" t="t" l="l"/>
              <a:pathLst>
                <a:path h="192502" w="1179828">
                  <a:moveTo>
                    <a:pt x="56662" y="0"/>
                  </a:moveTo>
                  <a:lnTo>
                    <a:pt x="1123166" y="0"/>
                  </a:lnTo>
                  <a:cubicBezTo>
                    <a:pt x="1138194" y="0"/>
                    <a:pt x="1152606" y="5970"/>
                    <a:pt x="1163232" y="16596"/>
                  </a:cubicBezTo>
                  <a:cubicBezTo>
                    <a:pt x="1173859" y="27222"/>
                    <a:pt x="1179828" y="41634"/>
                    <a:pt x="1179828" y="56662"/>
                  </a:cubicBezTo>
                  <a:lnTo>
                    <a:pt x="1179828" y="135840"/>
                  </a:lnTo>
                  <a:cubicBezTo>
                    <a:pt x="1179828" y="167133"/>
                    <a:pt x="1154460" y="192502"/>
                    <a:pt x="1123166" y="192502"/>
                  </a:cubicBezTo>
                  <a:lnTo>
                    <a:pt x="56662" y="192502"/>
                  </a:lnTo>
                  <a:cubicBezTo>
                    <a:pt x="25368" y="192502"/>
                    <a:pt x="0" y="167133"/>
                    <a:pt x="0" y="135840"/>
                  </a:cubicBezTo>
                  <a:lnTo>
                    <a:pt x="0" y="56662"/>
                  </a:lnTo>
                  <a:cubicBezTo>
                    <a:pt x="0" y="25368"/>
                    <a:pt x="25368" y="0"/>
                    <a:pt x="5666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79828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77772" y="5491475"/>
            <a:ext cx="4811550" cy="2559430"/>
            <a:chOff x="0" y="0"/>
            <a:chExt cx="1457582" cy="7753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7582" cy="775338"/>
            </a:xfrm>
            <a:custGeom>
              <a:avLst/>
              <a:gdLst/>
              <a:ahLst/>
              <a:cxnLst/>
              <a:rect r="r" b="b" t="t" l="l"/>
              <a:pathLst>
                <a:path h="775338" w="1457582">
                  <a:moveTo>
                    <a:pt x="31426" y="0"/>
                  </a:moveTo>
                  <a:lnTo>
                    <a:pt x="1426156" y="0"/>
                  </a:lnTo>
                  <a:cubicBezTo>
                    <a:pt x="1443512" y="0"/>
                    <a:pt x="1457582" y="14070"/>
                    <a:pt x="1457582" y="31426"/>
                  </a:cubicBezTo>
                  <a:lnTo>
                    <a:pt x="1457582" y="743912"/>
                  </a:lnTo>
                  <a:cubicBezTo>
                    <a:pt x="1457582" y="752247"/>
                    <a:pt x="1454271" y="760240"/>
                    <a:pt x="1448377" y="766134"/>
                  </a:cubicBezTo>
                  <a:cubicBezTo>
                    <a:pt x="1442484" y="772027"/>
                    <a:pt x="1434490" y="775338"/>
                    <a:pt x="1426156" y="775338"/>
                  </a:cubicBezTo>
                  <a:lnTo>
                    <a:pt x="31426" y="775338"/>
                  </a:lnTo>
                  <a:cubicBezTo>
                    <a:pt x="23092" y="775338"/>
                    <a:pt x="15098" y="772027"/>
                    <a:pt x="9205" y="766134"/>
                  </a:cubicBezTo>
                  <a:cubicBezTo>
                    <a:pt x="3311" y="760240"/>
                    <a:pt x="0" y="752247"/>
                    <a:pt x="0" y="743912"/>
                  </a:cubicBezTo>
                  <a:lnTo>
                    <a:pt x="0" y="31426"/>
                  </a:lnTo>
                  <a:cubicBezTo>
                    <a:pt x="0" y="23092"/>
                    <a:pt x="3311" y="15098"/>
                    <a:pt x="9205" y="9205"/>
                  </a:cubicBezTo>
                  <a:cubicBezTo>
                    <a:pt x="15098" y="3311"/>
                    <a:pt x="23092" y="0"/>
                    <a:pt x="314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457582" cy="861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  <a:r>
                <a:rPr lang="en-US" sz="2300" spc="23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{{{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77772" y="4672109"/>
            <a:ext cx="4811550" cy="713384"/>
            <a:chOff x="0" y="0"/>
            <a:chExt cx="1298362" cy="1925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8362" cy="192502"/>
            </a:xfrm>
            <a:custGeom>
              <a:avLst/>
              <a:gdLst/>
              <a:ahLst/>
              <a:cxnLst/>
              <a:rect r="r" b="b" t="t" l="l"/>
              <a:pathLst>
                <a:path h="192502" w="1298362">
                  <a:moveTo>
                    <a:pt x="51489" y="0"/>
                  </a:moveTo>
                  <a:lnTo>
                    <a:pt x="1246873" y="0"/>
                  </a:lnTo>
                  <a:cubicBezTo>
                    <a:pt x="1275310" y="0"/>
                    <a:pt x="1298362" y="23052"/>
                    <a:pt x="1298362" y="51489"/>
                  </a:cubicBezTo>
                  <a:lnTo>
                    <a:pt x="1298362" y="141013"/>
                  </a:lnTo>
                  <a:cubicBezTo>
                    <a:pt x="1298362" y="169449"/>
                    <a:pt x="1275310" y="192502"/>
                    <a:pt x="1246873" y="192502"/>
                  </a:cubicBezTo>
                  <a:lnTo>
                    <a:pt x="51489" y="192502"/>
                  </a:lnTo>
                  <a:cubicBezTo>
                    <a:pt x="23052" y="192502"/>
                    <a:pt x="0" y="169449"/>
                    <a:pt x="0" y="141013"/>
                  </a:cubicBezTo>
                  <a:lnTo>
                    <a:pt x="0" y="51489"/>
                  </a:lnTo>
                  <a:cubicBezTo>
                    <a:pt x="0" y="23052"/>
                    <a:pt x="23052" y="0"/>
                    <a:pt x="51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98362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54904" y="6093828"/>
            <a:ext cx="720605" cy="883989"/>
            <a:chOff x="0" y="0"/>
            <a:chExt cx="662574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2574" cy="812800"/>
            </a:xfrm>
            <a:custGeom>
              <a:avLst/>
              <a:gdLst/>
              <a:ahLst/>
              <a:cxnLst/>
              <a:rect r="r" b="b" t="t" l="l"/>
              <a:pathLst>
                <a:path h="812800" w="662574">
                  <a:moveTo>
                    <a:pt x="662574" y="406400"/>
                  </a:moveTo>
                  <a:lnTo>
                    <a:pt x="256174" y="0"/>
                  </a:lnTo>
                  <a:lnTo>
                    <a:pt x="25617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56174" y="609600"/>
                  </a:lnTo>
                  <a:lnTo>
                    <a:pt x="256174" y="812800"/>
                  </a:lnTo>
                  <a:lnTo>
                    <a:pt x="662574" y="406400"/>
                  </a:lnTo>
                  <a:close/>
                </a:path>
              </a:pathLst>
            </a:custGeom>
            <a:solidFill>
              <a:srgbClr val="C6DAB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17475"/>
              <a:ext cx="56097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19624" y="4320943"/>
            <a:ext cx="5288969" cy="92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3"/>
              </a:lnSpc>
            </a:pPr>
            <a:r>
              <a:rPr lang="en-US" b="true" sz="2631" spc="-52">
                <a:solidFill>
                  <a:srgbClr val="6B5C4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정규분포에 가까운 </a:t>
            </a:r>
          </a:p>
          <a:p>
            <a:pPr algn="ctr">
              <a:lnSpc>
                <a:spcPts val="3683"/>
              </a:lnSpc>
            </a:pPr>
            <a:r>
              <a:rPr lang="en-US" b="true" sz="2631" spc="-52">
                <a:solidFill>
                  <a:srgbClr val="6B5C4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이상적 난이도 분포 모델링 완성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2343" y="6042832"/>
            <a:ext cx="3661479" cy="137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8"/>
              </a:lnSpc>
              <a:spcBef>
                <a:spcPct val="0"/>
              </a:spcBef>
            </a:pPr>
            <a:r>
              <a:rPr lang="en-US" sz="2319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절대적인 점수로 나누면 </a:t>
            </a:r>
          </a:p>
          <a:p>
            <a:pPr algn="ctr">
              <a:lnSpc>
                <a:spcPts val="3688"/>
              </a:lnSpc>
              <a:spcBef>
                <a:spcPct val="0"/>
              </a:spcBef>
            </a:pPr>
            <a:r>
              <a:rPr lang="en-US" sz="2319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특정 등급에만</a:t>
            </a:r>
          </a:p>
          <a:p>
            <a:pPr algn="ctr">
              <a:lnSpc>
                <a:spcPts val="3688"/>
              </a:lnSpc>
              <a:spcBef>
                <a:spcPct val="0"/>
              </a:spcBef>
            </a:pPr>
            <a:r>
              <a:rPr lang="en-US" sz="2319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코스가 없는 현상 발생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0782" y="4756619"/>
            <a:ext cx="3713040" cy="48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b="true" sz="2832" spc="-56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문제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00330" y="6008103"/>
            <a:ext cx="4366435" cy="137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2323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전체</a:t>
            </a:r>
            <a:r>
              <a:rPr lang="en-US" sz="2323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데이터의 분포를 분석하여</a:t>
            </a:r>
          </a:p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2323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백분위(%) 기준으로 </a:t>
            </a:r>
          </a:p>
          <a:p>
            <a:pPr algn="ctr">
              <a:lnSpc>
                <a:spcPts val="3694"/>
              </a:lnSpc>
              <a:spcBef>
                <a:spcPct val="0"/>
              </a:spcBef>
            </a:pPr>
            <a:r>
              <a:rPr lang="en-US" sz="2323" spc="23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17개 등급(입문 ~ 신)을 부여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9969" y="4756619"/>
            <a:ext cx="3543358" cy="48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6"/>
              </a:lnSpc>
            </a:pPr>
            <a:r>
              <a:rPr lang="en-US" b="true" sz="2832" spc="-56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해결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991586" y="6159078"/>
            <a:ext cx="720605" cy="883989"/>
            <a:chOff x="0" y="0"/>
            <a:chExt cx="662574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2574" cy="812800"/>
            </a:xfrm>
            <a:custGeom>
              <a:avLst/>
              <a:gdLst/>
              <a:ahLst/>
              <a:cxnLst/>
              <a:rect r="r" b="b" t="t" l="l"/>
              <a:pathLst>
                <a:path h="812800" w="662574">
                  <a:moveTo>
                    <a:pt x="662574" y="406400"/>
                  </a:moveTo>
                  <a:lnTo>
                    <a:pt x="256174" y="0"/>
                  </a:lnTo>
                  <a:lnTo>
                    <a:pt x="25617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56174" y="609600"/>
                  </a:lnTo>
                  <a:lnTo>
                    <a:pt x="256174" y="812800"/>
                  </a:lnTo>
                  <a:lnTo>
                    <a:pt x="662574" y="406400"/>
                  </a:lnTo>
                  <a:close/>
                </a:path>
              </a:pathLst>
            </a:custGeom>
            <a:solidFill>
              <a:srgbClr val="C6DAB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17475"/>
              <a:ext cx="56097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49042" y="1983976"/>
            <a:ext cx="6626101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난이도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분위수 기반 등급 시스템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0" y="1990473"/>
            <a:ext cx="18288000" cy="1356574"/>
            <a:chOff x="0" y="0"/>
            <a:chExt cx="4816593" cy="3572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0" y="2813390"/>
            <a:ext cx="18288000" cy="544789"/>
            <a:chOff x="0" y="0"/>
            <a:chExt cx="4816593" cy="1434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9616934" y="4163169"/>
            <a:ext cx="0" cy="5095131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112234" y="4667301"/>
            <a:ext cx="3362407" cy="3362407"/>
          </a:xfrm>
          <a:custGeom>
            <a:avLst/>
            <a:gdLst/>
            <a:ahLst/>
            <a:cxnLst/>
            <a:rect r="r" b="b" t="t" l="l"/>
            <a:pathLst>
              <a:path h="3362407" w="3362407">
                <a:moveTo>
                  <a:pt x="0" y="0"/>
                </a:moveTo>
                <a:lnTo>
                  <a:pt x="3362407" y="0"/>
                </a:lnTo>
                <a:lnTo>
                  <a:pt x="3362407" y="3362407"/>
                </a:lnTo>
                <a:lnTo>
                  <a:pt x="0" y="3362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9042" y="4832948"/>
            <a:ext cx="3390439" cy="3390439"/>
          </a:xfrm>
          <a:custGeom>
            <a:avLst/>
            <a:gdLst/>
            <a:ahLst/>
            <a:cxnLst/>
            <a:rect r="r" b="b" t="t" l="l"/>
            <a:pathLst>
              <a:path h="3390439" w="3390439">
                <a:moveTo>
                  <a:pt x="0" y="0"/>
                </a:moveTo>
                <a:lnTo>
                  <a:pt x="3390439" y="0"/>
                </a:lnTo>
                <a:lnTo>
                  <a:pt x="3390439" y="3390439"/>
                </a:lnTo>
                <a:lnTo>
                  <a:pt x="0" y="33904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02919" y="5286825"/>
            <a:ext cx="2482684" cy="24826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>
                <a:alpha val="11765"/>
              </a:srgbClr>
            </a:solidFill>
            <a:ln w="19050" cap="sq">
              <a:solidFill>
                <a:srgbClr val="FF000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02919" y="5286825"/>
            <a:ext cx="2482684" cy="24826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16455" y="6098621"/>
            <a:ext cx="850374" cy="850374"/>
            <a:chOff x="0" y="0"/>
            <a:chExt cx="351579" cy="3515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16455" y="6933427"/>
            <a:ext cx="850374" cy="850374"/>
            <a:chOff x="0" y="0"/>
            <a:chExt cx="351579" cy="3515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316455" y="5269983"/>
            <a:ext cx="850374" cy="850374"/>
            <a:chOff x="0" y="0"/>
            <a:chExt cx="351579" cy="3515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150639" y="6095537"/>
            <a:ext cx="850374" cy="850374"/>
            <a:chOff x="0" y="0"/>
            <a:chExt cx="351579" cy="3515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150639" y="6930343"/>
            <a:ext cx="850374" cy="850374"/>
            <a:chOff x="0" y="0"/>
            <a:chExt cx="351579" cy="3515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150639" y="5266899"/>
            <a:ext cx="850374" cy="850374"/>
            <a:chOff x="0" y="0"/>
            <a:chExt cx="351579" cy="3515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87509" y="6104256"/>
            <a:ext cx="850374" cy="850374"/>
            <a:chOff x="0" y="0"/>
            <a:chExt cx="351579" cy="3515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7509" y="6939063"/>
            <a:ext cx="850374" cy="850374"/>
            <a:chOff x="0" y="0"/>
            <a:chExt cx="351579" cy="3515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87509" y="5275619"/>
            <a:ext cx="850374" cy="850374"/>
            <a:chOff x="0" y="0"/>
            <a:chExt cx="351579" cy="3515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1579" cy="351579"/>
            </a:xfrm>
            <a:custGeom>
              <a:avLst/>
              <a:gdLst/>
              <a:ahLst/>
              <a:cxnLst/>
              <a:rect r="r" b="b" t="t" l="l"/>
              <a:pathLst>
                <a:path h="351579" w="351579">
                  <a:moveTo>
                    <a:pt x="0" y="0"/>
                  </a:moveTo>
                  <a:lnTo>
                    <a:pt x="351579" y="0"/>
                  </a:lnTo>
                  <a:lnTo>
                    <a:pt x="351579" y="351579"/>
                  </a:lnTo>
                  <a:lnTo>
                    <a:pt x="0" y="3515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351579" cy="43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2592938" y="6206640"/>
            <a:ext cx="302646" cy="452555"/>
          </a:xfrm>
          <a:custGeom>
            <a:avLst/>
            <a:gdLst/>
            <a:ahLst/>
            <a:cxnLst/>
            <a:rect r="r" b="b" t="t" l="l"/>
            <a:pathLst>
              <a:path h="452555" w="302646">
                <a:moveTo>
                  <a:pt x="0" y="0"/>
                </a:moveTo>
                <a:lnTo>
                  <a:pt x="302646" y="0"/>
                </a:lnTo>
                <a:lnTo>
                  <a:pt x="302646" y="452555"/>
                </a:lnTo>
                <a:lnTo>
                  <a:pt x="0" y="452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3639556" y="6785306"/>
            <a:ext cx="3619744" cy="81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5km 이내 등산로 연계</a:t>
            </a:r>
          </a:p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관광명소 도출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45969" y="6328143"/>
            <a:ext cx="4447470" cy="122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카카오맵의 수집 건수 제한 보완을 위해 검색 반경을 그리드(Grid)로 분할하여 데이터 누락 최소화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280237" y="5010387"/>
            <a:ext cx="3439768" cy="114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b="true" sz="2584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등산로 출·도착지 반경 5km 관광 인프라 수집</a:t>
            </a:r>
          </a:p>
          <a:p>
            <a:pPr algn="ctr">
              <a:lnSpc>
                <a:spcPts val="2713"/>
              </a:lnSpc>
            </a:pPr>
            <a:r>
              <a:rPr lang="en-US" b="true" sz="2170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[카카오맵 API]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75720" y="5743943"/>
            <a:ext cx="3547415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b="true" sz="2699" spc="2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지역별관광명소데이터</a:t>
            </a:r>
          </a:p>
          <a:p>
            <a:pPr algn="ctr">
              <a:lnSpc>
                <a:spcPts val="2875"/>
              </a:lnSpc>
            </a:pPr>
            <a:r>
              <a:rPr lang="en-US" b="true" sz="2300" spc="23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[한국문화정보원]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26874" y="7805243"/>
            <a:ext cx="3546493" cy="37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b="true" sz="1963" spc="19">
                <a:solidFill>
                  <a:srgbClr val="59895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( </a:t>
            </a:r>
            <a:r>
              <a:rPr lang="en-US" b="true" sz="1963" spc="19">
                <a:solidFill>
                  <a:srgbClr val="59895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최대 135건 &gt; 1,215건 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데이터 수집 및 전처리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49042" y="1982462"/>
            <a:ext cx="2390239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관광인프라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0263372" y="6149007"/>
            <a:ext cx="5085695" cy="0"/>
          </a:xfrm>
          <a:prstGeom prst="line">
            <a:avLst/>
          </a:prstGeom>
          <a:ln cap="flat" w="476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263372" y="6843568"/>
            <a:ext cx="5085695" cy="0"/>
          </a:xfrm>
          <a:prstGeom prst="line">
            <a:avLst/>
          </a:prstGeom>
          <a:ln cap="flat" w="2857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263372" y="7518304"/>
            <a:ext cx="5085695" cy="0"/>
          </a:xfrm>
          <a:prstGeom prst="line">
            <a:avLst/>
          </a:prstGeom>
          <a:ln cap="flat" w="2857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0822" y="4473769"/>
            <a:ext cx="6190795" cy="52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b="true" sz="3308" spc="33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[반경 </a:t>
            </a:r>
            <a:r>
              <a:rPr lang="en-US" b="true" sz="3308" spc="33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내 인프라 수 x 거리 가중치]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23286" y="5546179"/>
            <a:ext cx="1465826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거리 기준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43084" y="5539943"/>
            <a:ext cx="948376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가중치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23286" y="6192227"/>
            <a:ext cx="1465826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1km 이내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23286" y="6883309"/>
            <a:ext cx="2001051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1km ~ 3km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23286" y="7574390"/>
            <a:ext cx="2001051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3km ~ 5km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23509" y="6231880"/>
            <a:ext cx="667952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1.0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23509" y="6903135"/>
            <a:ext cx="667952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0.8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23509" y="7574390"/>
            <a:ext cx="667952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5"/>
              </a:lnSpc>
            </a:pPr>
            <a:r>
              <a:rPr lang="en-US" sz="2481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0.5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48126" y="8588597"/>
            <a:ext cx="6716188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b="true" sz="2481" spc="24">
                <a:solidFill>
                  <a:srgbClr val="59895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→ </a:t>
            </a:r>
            <a:r>
              <a:rPr lang="en-US" b="true" sz="2481" spc="24">
                <a:solidFill>
                  <a:srgbClr val="59895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가까운 인프라일수록 더 큰 영향을 주도록 설계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612327"/>
            <a:ext cx="7510596" cy="36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000">
                <a:solidFill>
                  <a:srgbClr val="6B5C4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인프라 수 = 음식점 수 + 카페 수 + 숙소 수 + 관광명소 수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664896" y="8470592"/>
            <a:ext cx="5886423" cy="971833"/>
            <a:chOff x="0" y="0"/>
            <a:chExt cx="7848564" cy="12957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35211" y="878980"/>
              <a:ext cx="7578141" cy="416798"/>
            </a:xfrm>
            <a:custGeom>
              <a:avLst/>
              <a:gdLst/>
              <a:ahLst/>
              <a:cxnLst/>
              <a:rect r="r" b="b" t="t" l="l"/>
              <a:pathLst>
                <a:path h="416798" w="7578141">
                  <a:moveTo>
                    <a:pt x="0" y="0"/>
                  </a:moveTo>
                  <a:lnTo>
                    <a:pt x="7578142" y="0"/>
                  </a:lnTo>
                  <a:lnTo>
                    <a:pt x="7578142" y="416798"/>
                  </a:lnTo>
                  <a:lnTo>
                    <a:pt x="0" y="416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-9525"/>
              <a:ext cx="7848564" cy="468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</a:pPr>
              <a:r>
                <a:rPr lang="en-US" b="true" sz="2281" spc="22">
                  <a:solidFill>
                    <a:srgbClr val="585049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각 거리 구간 별 인프라 수에 가중치를 곱해 합산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10408" y="4492819"/>
            <a:ext cx="4595399" cy="3882522"/>
            <a:chOff x="0" y="0"/>
            <a:chExt cx="6127199" cy="51766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1246" y="63201"/>
              <a:ext cx="5976730" cy="4990692"/>
            </a:xfrm>
            <a:custGeom>
              <a:avLst/>
              <a:gdLst/>
              <a:ahLst/>
              <a:cxnLst/>
              <a:rect r="r" b="b" t="t" l="l"/>
              <a:pathLst>
                <a:path h="4990692" w="5976730">
                  <a:moveTo>
                    <a:pt x="0" y="0"/>
                  </a:moveTo>
                  <a:lnTo>
                    <a:pt x="5976730" y="0"/>
                  </a:lnTo>
                  <a:lnTo>
                    <a:pt x="5976730" y="4990692"/>
                  </a:lnTo>
                  <a:lnTo>
                    <a:pt x="0" y="4990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0000"/>
              </a:blip>
              <a:stretch>
                <a:fillRect l="0" t="-8003" r="0" b="-11753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911386" y="452690"/>
              <a:ext cx="4256451" cy="425645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271709" y="1813013"/>
              <a:ext cx="1535805" cy="1535805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57"/>
                  </a:lnSpc>
                </a:pP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5351169" y="70070"/>
              <a:ext cx="687534" cy="885167"/>
            </a:xfrm>
            <a:prstGeom prst="line">
              <a:avLst/>
            </a:prstGeom>
            <a:ln cap="flat" w="26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V="true">
              <a:off x="86100" y="77603"/>
              <a:ext cx="719706" cy="859213"/>
            </a:xfrm>
            <a:prstGeom prst="line">
              <a:avLst/>
            </a:prstGeom>
            <a:ln cap="flat" w="26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 flipV="true">
              <a:off x="79805" y="4360671"/>
              <a:ext cx="859371" cy="719517"/>
            </a:xfrm>
            <a:prstGeom prst="line">
              <a:avLst/>
            </a:prstGeom>
            <a:ln cap="flat" w="26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 flipH="true">
              <a:off x="5241870" y="4304255"/>
              <a:ext cx="792535" cy="792535"/>
            </a:xfrm>
            <a:prstGeom prst="line">
              <a:avLst/>
            </a:prstGeom>
            <a:ln cap="flat" w="26365">
              <a:solidFill>
                <a:srgbClr val="FF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843618" y="2176727"/>
              <a:ext cx="391987" cy="586149"/>
            </a:xfrm>
            <a:custGeom>
              <a:avLst/>
              <a:gdLst/>
              <a:ahLst/>
              <a:cxnLst/>
              <a:rect r="r" b="b" t="t" l="l"/>
              <a:pathLst>
                <a:path h="586149" w="391987">
                  <a:moveTo>
                    <a:pt x="0" y="0"/>
                  </a:moveTo>
                  <a:lnTo>
                    <a:pt x="391987" y="0"/>
                  </a:lnTo>
                  <a:lnTo>
                    <a:pt x="391987" y="586149"/>
                  </a:lnTo>
                  <a:lnTo>
                    <a:pt x="0" y="586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49042" y="1982462"/>
            <a:ext cx="2390239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관광인프라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관광 인프라 지수 산출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9153525" y="4766964"/>
            <a:ext cx="0" cy="3375196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531385" y="3923993"/>
            <a:ext cx="5231292" cy="3485348"/>
          </a:xfrm>
          <a:custGeom>
            <a:avLst/>
            <a:gdLst/>
            <a:ahLst/>
            <a:cxnLst/>
            <a:rect r="r" b="b" t="t" l="l"/>
            <a:pathLst>
              <a:path h="3485348" w="5231292">
                <a:moveTo>
                  <a:pt x="0" y="0"/>
                </a:moveTo>
                <a:lnTo>
                  <a:pt x="5231292" y="0"/>
                </a:lnTo>
                <a:lnTo>
                  <a:pt x="5231292" y="3485348"/>
                </a:lnTo>
                <a:lnTo>
                  <a:pt x="0" y="3485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51457" y="4544577"/>
            <a:ext cx="5115053" cy="2377530"/>
          </a:xfrm>
          <a:custGeom>
            <a:avLst/>
            <a:gdLst/>
            <a:ahLst/>
            <a:cxnLst/>
            <a:rect r="r" b="b" t="t" l="l"/>
            <a:pathLst>
              <a:path h="2377530" w="5115053">
                <a:moveTo>
                  <a:pt x="0" y="0"/>
                </a:moveTo>
                <a:lnTo>
                  <a:pt x="5115053" y="0"/>
                </a:lnTo>
                <a:lnTo>
                  <a:pt x="5115053" y="2377530"/>
                </a:lnTo>
                <a:lnTo>
                  <a:pt x="0" y="2377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514" r="-82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50159" y="7161691"/>
            <a:ext cx="3559622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800" spc="28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등산로 출·도착지 반경 2km 주차장 수집</a:t>
            </a:r>
          </a:p>
          <a:p>
            <a:pPr algn="ctr">
              <a:lnSpc>
                <a:spcPts val="3000"/>
              </a:lnSpc>
            </a:pPr>
            <a:r>
              <a:rPr lang="en-US" b="true" sz="2400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[카카오맵 API]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26474" y="6979447"/>
            <a:ext cx="4641115" cy="8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800" spc="28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전국 버스정류장 </a:t>
            </a:r>
            <a:r>
              <a:rPr lang="en-US" b="true" sz="2800" spc="28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위치정보</a:t>
            </a:r>
          </a:p>
          <a:p>
            <a:pPr algn="ctr">
              <a:lnSpc>
                <a:spcPts val="3000"/>
              </a:lnSpc>
            </a:pPr>
            <a:r>
              <a:rPr lang="en-US" b="true" sz="2400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[국토교통부]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5253" y="7829334"/>
            <a:ext cx="3623557" cy="39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2km 반경 최근접 정류장 매칭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7031" y="1218571"/>
            <a:ext cx="4363659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200" spc="22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수집 반경을 2km로 잡은 이유는?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접근성 지수 - 주차장, 버스정류장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데이터 수집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2560" y="4475546"/>
            <a:ext cx="5481335" cy="97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카카오맵 API에 등록된 주차장 중</a:t>
            </a:r>
          </a:p>
          <a:p>
            <a:pPr algn="ctr">
              <a:lnSpc>
                <a:spcPts val="3975"/>
              </a:lnSpc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실제 사용 불가능한 사유지 다수 포함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0647" y="4475546"/>
            <a:ext cx="5029586" cy="97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LLM을 활용하여 등산객이 실제</a:t>
            </a:r>
          </a:p>
          <a:p>
            <a:pPr algn="ctr">
              <a:lnSpc>
                <a:spcPts val="3975"/>
              </a:lnSpc>
            </a:pP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 가능한 주차장인지 검증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42764" y="9008687"/>
            <a:ext cx="5165364" cy="46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5"/>
              </a:lnSpc>
            </a:pPr>
            <a:r>
              <a:rPr lang="en-US" b="true" sz="2500" spc="25">
                <a:solidFill>
                  <a:srgbClr val="59895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2단계 필터링으로 API 호출 최소화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53271" y="5803404"/>
            <a:ext cx="4772175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200" spc="22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1단계: 텍스트 기반 사전 필터링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8284" y="5803404"/>
            <a:ext cx="4772175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200" spc="22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</a:t>
            </a:r>
            <a:r>
              <a:rPr lang="en-US" sz="2200" spc="22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단계: 좌표 기반 위성 이미지 분석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59006" y="5992732"/>
            <a:ext cx="4548442" cy="3101681"/>
            <a:chOff x="0" y="0"/>
            <a:chExt cx="1282807" cy="8747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2807" cy="874774"/>
            </a:xfrm>
            <a:custGeom>
              <a:avLst/>
              <a:gdLst/>
              <a:ahLst/>
              <a:cxnLst/>
              <a:rect r="r" b="b" t="t" l="l"/>
              <a:pathLst>
                <a:path h="874774" w="1282807">
                  <a:moveTo>
                    <a:pt x="54467" y="0"/>
                  </a:moveTo>
                  <a:lnTo>
                    <a:pt x="1228340" y="0"/>
                  </a:lnTo>
                  <a:cubicBezTo>
                    <a:pt x="1258421" y="0"/>
                    <a:pt x="1282807" y="24386"/>
                    <a:pt x="1282807" y="54467"/>
                  </a:cubicBezTo>
                  <a:lnTo>
                    <a:pt x="1282807" y="820307"/>
                  </a:lnTo>
                  <a:cubicBezTo>
                    <a:pt x="1282807" y="850388"/>
                    <a:pt x="1258421" y="874774"/>
                    <a:pt x="1228340" y="874774"/>
                  </a:cubicBezTo>
                  <a:lnTo>
                    <a:pt x="54467" y="874774"/>
                  </a:lnTo>
                  <a:cubicBezTo>
                    <a:pt x="24386" y="874774"/>
                    <a:pt x="0" y="850388"/>
                    <a:pt x="0" y="820307"/>
                  </a:cubicBezTo>
                  <a:lnTo>
                    <a:pt x="0" y="54467"/>
                  </a:lnTo>
                  <a:cubicBezTo>
                    <a:pt x="0" y="24386"/>
                    <a:pt x="24386" y="0"/>
                    <a:pt x="54467" y="0"/>
                  </a:cubicBezTo>
                  <a:close/>
                </a:path>
              </a:pathLst>
            </a:custGeom>
            <a:solidFill>
              <a:srgbClr val="E2E1E1">
                <a:alpha val="4392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2807" cy="922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52408" y="6516145"/>
            <a:ext cx="8346063" cy="2149642"/>
            <a:chOff x="0" y="0"/>
            <a:chExt cx="2198140" cy="5661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8140" cy="566161"/>
            </a:xfrm>
            <a:custGeom>
              <a:avLst/>
              <a:gdLst/>
              <a:ahLst/>
              <a:cxnLst/>
              <a:rect r="r" b="b" t="t" l="l"/>
              <a:pathLst>
                <a:path h="566161" w="2198140">
                  <a:moveTo>
                    <a:pt x="29684" y="0"/>
                  </a:moveTo>
                  <a:lnTo>
                    <a:pt x="2168456" y="0"/>
                  </a:lnTo>
                  <a:cubicBezTo>
                    <a:pt x="2184850" y="0"/>
                    <a:pt x="2198140" y="13290"/>
                    <a:pt x="2198140" y="29684"/>
                  </a:cubicBezTo>
                  <a:lnTo>
                    <a:pt x="2198140" y="536477"/>
                  </a:lnTo>
                  <a:cubicBezTo>
                    <a:pt x="2198140" y="544350"/>
                    <a:pt x="2195013" y="551900"/>
                    <a:pt x="2189446" y="557467"/>
                  </a:cubicBezTo>
                  <a:cubicBezTo>
                    <a:pt x="2183879" y="563034"/>
                    <a:pt x="2176329" y="566161"/>
                    <a:pt x="2168456" y="566161"/>
                  </a:cubicBezTo>
                  <a:lnTo>
                    <a:pt x="29684" y="566161"/>
                  </a:lnTo>
                  <a:cubicBezTo>
                    <a:pt x="13290" y="566161"/>
                    <a:pt x="0" y="552871"/>
                    <a:pt x="0" y="536477"/>
                  </a:cubicBezTo>
                  <a:lnTo>
                    <a:pt x="0" y="29684"/>
                  </a:lnTo>
                  <a:cubicBezTo>
                    <a:pt x="0" y="13290"/>
                    <a:pt x="13290" y="0"/>
                    <a:pt x="296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>
                  <a:alpha val="53725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8140" cy="613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75139" y="7222510"/>
            <a:ext cx="1140916" cy="451440"/>
            <a:chOff x="0" y="0"/>
            <a:chExt cx="312335" cy="1235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상업시설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10671" y="7222510"/>
            <a:ext cx="1140916" cy="451440"/>
            <a:chOff x="0" y="0"/>
            <a:chExt cx="312335" cy="1235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주거시설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52646" y="7222510"/>
            <a:ext cx="1140916" cy="451440"/>
            <a:chOff x="0" y="0"/>
            <a:chExt cx="312335" cy="1235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의료시설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10671" y="7775866"/>
            <a:ext cx="1140916" cy="451440"/>
            <a:chOff x="0" y="0"/>
            <a:chExt cx="312335" cy="1235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회사 전용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78484" y="7775866"/>
            <a:ext cx="1140916" cy="451440"/>
            <a:chOff x="0" y="0"/>
            <a:chExt cx="312335" cy="1235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종교시설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52646" y="7775866"/>
            <a:ext cx="1140916" cy="451440"/>
            <a:chOff x="0" y="0"/>
            <a:chExt cx="312335" cy="1235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학교시설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248013" y="7187151"/>
            <a:ext cx="1140916" cy="451440"/>
            <a:chOff x="0" y="0"/>
            <a:chExt cx="312335" cy="1235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공영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83545" y="7187151"/>
            <a:ext cx="1140916" cy="451440"/>
            <a:chOff x="0" y="0"/>
            <a:chExt cx="312335" cy="1235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공공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725521" y="7187151"/>
            <a:ext cx="1140916" cy="451440"/>
            <a:chOff x="0" y="0"/>
            <a:chExt cx="312335" cy="1235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국립공원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83545" y="7740507"/>
            <a:ext cx="1140916" cy="451440"/>
            <a:chOff x="0" y="0"/>
            <a:chExt cx="312335" cy="1235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자연휴양림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251358" y="7740507"/>
            <a:ext cx="1140916" cy="451440"/>
            <a:chOff x="0" y="0"/>
            <a:chExt cx="312335" cy="1235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명승지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725521" y="7740507"/>
            <a:ext cx="1140916" cy="451440"/>
            <a:chOff x="0" y="0"/>
            <a:chExt cx="312335" cy="1235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2335" cy="123586"/>
            </a:xfrm>
            <a:custGeom>
              <a:avLst/>
              <a:gdLst/>
              <a:ahLst/>
              <a:cxnLst/>
              <a:rect r="r" b="b" t="t" l="l"/>
              <a:pathLst>
                <a:path h="123586" w="312335">
                  <a:moveTo>
                    <a:pt x="61793" y="0"/>
                  </a:moveTo>
                  <a:lnTo>
                    <a:pt x="250543" y="0"/>
                  </a:lnTo>
                  <a:cubicBezTo>
                    <a:pt x="284670" y="0"/>
                    <a:pt x="312335" y="27666"/>
                    <a:pt x="312335" y="61793"/>
                  </a:cubicBezTo>
                  <a:lnTo>
                    <a:pt x="312335" y="61793"/>
                  </a:lnTo>
                  <a:cubicBezTo>
                    <a:pt x="312335" y="95920"/>
                    <a:pt x="284670" y="123586"/>
                    <a:pt x="250543" y="123586"/>
                  </a:cubicBezTo>
                  <a:lnTo>
                    <a:pt x="61793" y="123586"/>
                  </a:lnTo>
                  <a:cubicBezTo>
                    <a:pt x="27666" y="123586"/>
                    <a:pt x="0" y="95920"/>
                    <a:pt x="0" y="61793"/>
                  </a:cubicBezTo>
                  <a:lnTo>
                    <a:pt x="0" y="61793"/>
                  </a:lnTo>
                  <a:cubicBezTo>
                    <a:pt x="0" y="27666"/>
                    <a:pt x="27666" y="0"/>
                    <a:pt x="61793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2335" cy="16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6B5C4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관광지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122978" y="6723345"/>
            <a:ext cx="1874937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 가능 (True)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87041" y="6766146"/>
            <a:ext cx="219462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 불가능 (False)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329531" y="6203477"/>
            <a:ext cx="3407392" cy="221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예시)</a:t>
            </a:r>
          </a:p>
          <a:p>
            <a:pPr algn="ctr">
              <a:lnSpc>
                <a:spcPts val="1197"/>
              </a:lnSpc>
            </a:pPr>
          </a:p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ㅇㅇ</a:t>
            </a: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산관광호텔 주차장</a:t>
            </a:r>
          </a:p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은혜와진리교회 주차장</a:t>
            </a:r>
          </a:p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더샵센트럴시티 주차장</a:t>
            </a:r>
          </a:p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맥도날드 ㅇㅇ점 주차장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937977" y="8433089"/>
            <a:ext cx="315087" cy="50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100" spc="21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...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접근성 지수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데이터 전처리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413226" y="5803404"/>
            <a:ext cx="710115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200" spc="22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330991" y="7222510"/>
            <a:ext cx="720605" cy="883989"/>
            <a:chOff x="0" y="0"/>
            <a:chExt cx="662574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2574" cy="812800"/>
            </a:xfrm>
            <a:custGeom>
              <a:avLst/>
              <a:gdLst/>
              <a:ahLst/>
              <a:cxnLst/>
              <a:rect r="r" b="b" t="t" l="l"/>
              <a:pathLst>
                <a:path h="812800" w="662574">
                  <a:moveTo>
                    <a:pt x="662574" y="406400"/>
                  </a:moveTo>
                  <a:lnTo>
                    <a:pt x="256174" y="0"/>
                  </a:lnTo>
                  <a:lnTo>
                    <a:pt x="25617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56174" y="609600"/>
                  </a:lnTo>
                  <a:lnTo>
                    <a:pt x="256174" y="812800"/>
                  </a:lnTo>
                  <a:lnTo>
                    <a:pt x="662574" y="406400"/>
                  </a:lnTo>
                  <a:close/>
                </a:path>
              </a:pathLst>
            </a:custGeom>
            <a:solidFill>
              <a:srgbClr val="C6DAB8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117475"/>
              <a:ext cx="56097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95277" y="4609865"/>
            <a:ext cx="4870659" cy="730904"/>
            <a:chOff x="0" y="0"/>
            <a:chExt cx="1282807" cy="1925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807" cy="192502"/>
            </a:xfrm>
            <a:custGeom>
              <a:avLst/>
              <a:gdLst/>
              <a:ahLst/>
              <a:cxnLst/>
              <a:rect r="r" b="b" t="t" l="l"/>
              <a:pathLst>
                <a:path h="192502" w="1282807">
                  <a:moveTo>
                    <a:pt x="50864" y="0"/>
                  </a:moveTo>
                  <a:lnTo>
                    <a:pt x="1231943" y="0"/>
                  </a:lnTo>
                  <a:cubicBezTo>
                    <a:pt x="1260035" y="0"/>
                    <a:pt x="1282807" y="22773"/>
                    <a:pt x="1282807" y="50864"/>
                  </a:cubicBezTo>
                  <a:lnTo>
                    <a:pt x="1282807" y="141637"/>
                  </a:lnTo>
                  <a:cubicBezTo>
                    <a:pt x="1282807" y="169729"/>
                    <a:pt x="1260035" y="192502"/>
                    <a:pt x="1231943" y="192502"/>
                  </a:cubicBezTo>
                  <a:lnTo>
                    <a:pt x="50864" y="192502"/>
                  </a:lnTo>
                  <a:cubicBezTo>
                    <a:pt x="22773" y="192502"/>
                    <a:pt x="0" y="169729"/>
                    <a:pt x="0" y="141637"/>
                  </a:cubicBezTo>
                  <a:lnTo>
                    <a:pt x="0" y="50864"/>
                  </a:lnTo>
                  <a:cubicBezTo>
                    <a:pt x="0" y="22773"/>
                    <a:pt x="22773" y="0"/>
                    <a:pt x="50864" y="0"/>
                  </a:cubicBezTo>
                  <a:close/>
                </a:path>
              </a:pathLst>
            </a:custGeom>
            <a:solidFill>
              <a:srgbClr val="92B885">
                <a:alpha val="7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2807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46272" y="4722619"/>
            <a:ext cx="3079955" cy="4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b="true" sz="2602" spc="-52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접근성 지수 산출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40916" y="3946892"/>
            <a:ext cx="7342956" cy="4914792"/>
            <a:chOff x="0" y="0"/>
            <a:chExt cx="1933947" cy="12944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3947" cy="1294431"/>
            </a:xfrm>
            <a:custGeom>
              <a:avLst/>
              <a:gdLst/>
              <a:ahLst/>
              <a:cxnLst/>
              <a:rect r="r" b="b" t="t" l="l"/>
              <a:pathLst>
                <a:path h="1294431" w="1933947">
                  <a:moveTo>
                    <a:pt x="33739" y="0"/>
                  </a:moveTo>
                  <a:lnTo>
                    <a:pt x="1900209" y="0"/>
                  </a:lnTo>
                  <a:cubicBezTo>
                    <a:pt x="1909157" y="0"/>
                    <a:pt x="1917738" y="3555"/>
                    <a:pt x="1924066" y="9882"/>
                  </a:cubicBezTo>
                  <a:cubicBezTo>
                    <a:pt x="1930393" y="16209"/>
                    <a:pt x="1933947" y="24791"/>
                    <a:pt x="1933947" y="33739"/>
                  </a:cubicBezTo>
                  <a:lnTo>
                    <a:pt x="1933947" y="1260692"/>
                  </a:lnTo>
                  <a:cubicBezTo>
                    <a:pt x="1933947" y="1269640"/>
                    <a:pt x="1930393" y="1278222"/>
                    <a:pt x="1924066" y="1284549"/>
                  </a:cubicBezTo>
                  <a:cubicBezTo>
                    <a:pt x="1917738" y="1290876"/>
                    <a:pt x="1909157" y="1294431"/>
                    <a:pt x="1900209" y="1294431"/>
                  </a:cubicBezTo>
                  <a:lnTo>
                    <a:pt x="33739" y="1294431"/>
                  </a:lnTo>
                  <a:cubicBezTo>
                    <a:pt x="24791" y="1294431"/>
                    <a:pt x="16209" y="1290876"/>
                    <a:pt x="9882" y="1284549"/>
                  </a:cubicBezTo>
                  <a:cubicBezTo>
                    <a:pt x="3555" y="1278222"/>
                    <a:pt x="0" y="1269640"/>
                    <a:pt x="0" y="1260692"/>
                  </a:cubicBezTo>
                  <a:lnTo>
                    <a:pt x="0" y="33739"/>
                  </a:lnTo>
                  <a:cubicBezTo>
                    <a:pt x="0" y="24791"/>
                    <a:pt x="3555" y="16209"/>
                    <a:pt x="9882" y="9882"/>
                  </a:cubicBezTo>
                  <a:cubicBezTo>
                    <a:pt x="16209" y="3555"/>
                    <a:pt x="24791" y="0"/>
                    <a:pt x="33739" y="0"/>
                  </a:cubicBezTo>
                  <a:close/>
                </a:path>
              </a:pathLst>
            </a:custGeom>
            <a:solidFill>
              <a:srgbClr val="F6EFE7">
                <a:alpha val="92941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33947" cy="134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2121421" y="5846478"/>
            <a:ext cx="6564867" cy="0"/>
          </a:xfrm>
          <a:prstGeom prst="line">
            <a:avLst/>
          </a:prstGeom>
          <a:ln cap="flat" w="2857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121421" y="6525227"/>
            <a:ext cx="6564867" cy="0"/>
          </a:xfrm>
          <a:prstGeom prst="line">
            <a:avLst/>
          </a:prstGeom>
          <a:ln cap="flat" w="2857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121421" y="7184600"/>
            <a:ext cx="6564867" cy="0"/>
          </a:xfrm>
          <a:prstGeom prst="line">
            <a:avLst/>
          </a:prstGeom>
          <a:ln cap="flat" w="2857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3365368" y="4228891"/>
            <a:ext cx="4094050" cy="5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1"/>
              </a:lnSpc>
            </a:pPr>
            <a:r>
              <a:rPr lang="en-US" b="true" sz="3233" spc="3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[*거리 기준</a:t>
            </a:r>
            <a:r>
              <a:rPr lang="en-US" b="true" sz="3233" spc="3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점수 배점]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48424" y="5245520"/>
            <a:ext cx="1432452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425" spc="24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거리 기준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92115" y="5245520"/>
            <a:ext cx="742488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b="true" sz="2425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점수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48424" y="5876859"/>
            <a:ext cx="1631490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400m 이내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48424" y="6552206"/>
            <a:ext cx="2188285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400m ~ 800m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48424" y="7227553"/>
            <a:ext cx="2438577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800m ~ 1200m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81860" y="5941532"/>
            <a:ext cx="652744" cy="46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b="true" sz="2425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10점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81860" y="6597504"/>
            <a:ext cx="652744" cy="46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b="true" sz="2425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8점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81860" y="7253476"/>
            <a:ext cx="652744" cy="46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b="true" sz="2425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25414" y="5848284"/>
            <a:ext cx="5921670" cy="127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1"/>
              </a:lnSpc>
            </a:pPr>
            <a:r>
              <a:rPr lang="en-US" b="true" sz="3265" spc="32">
                <a:solidFill>
                  <a:srgbClr val="6B5C4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거리를 4개 구간으로 구간화하여 각 구간에 점수 배점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2121421" y="7808748"/>
            <a:ext cx="6564867" cy="0"/>
          </a:xfrm>
          <a:prstGeom prst="line">
            <a:avLst/>
          </a:prstGeom>
          <a:ln cap="flat" w="2857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2648424" y="7851701"/>
            <a:ext cx="2438577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1200m ~ 2000m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81860" y="7877625"/>
            <a:ext cx="652744" cy="46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b="true" sz="2425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2점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12394" y="5245520"/>
            <a:ext cx="1200824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b="true" sz="2425" spc="2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보행권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86433" y="5941532"/>
            <a:ext cx="652744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5분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86433" y="6597504"/>
            <a:ext cx="652744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10분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86433" y="7253476"/>
            <a:ext cx="652744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15분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553745" y="7877625"/>
            <a:ext cx="918121" cy="4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425" spc="24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그 외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21421" y="8918834"/>
            <a:ext cx="6148302" cy="33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62"/>
              </a:lnSpc>
            </a:pPr>
            <a:r>
              <a:rPr lang="en-US" sz="1800" spc="18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*CIHT(영국 교통도로협회) 가이드라인의 단계별 거리 기준 참고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접근성 지수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3. 접근성 지수 산출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73747" y="5243529"/>
            <a:ext cx="3086100" cy="2959223"/>
            <a:chOff x="0" y="0"/>
            <a:chExt cx="812800" cy="7793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79384"/>
            </a:xfrm>
            <a:custGeom>
              <a:avLst/>
              <a:gdLst/>
              <a:ahLst/>
              <a:cxnLst/>
              <a:rect r="r" b="b" t="t" l="l"/>
              <a:pathLst>
                <a:path h="779384" w="812800">
                  <a:moveTo>
                    <a:pt x="60207" y="0"/>
                  </a:moveTo>
                  <a:lnTo>
                    <a:pt x="752593" y="0"/>
                  </a:lnTo>
                  <a:cubicBezTo>
                    <a:pt x="768561" y="0"/>
                    <a:pt x="783875" y="6343"/>
                    <a:pt x="795166" y="17634"/>
                  </a:cubicBezTo>
                  <a:cubicBezTo>
                    <a:pt x="806457" y="28925"/>
                    <a:pt x="812800" y="44239"/>
                    <a:pt x="812800" y="60207"/>
                  </a:cubicBezTo>
                  <a:lnTo>
                    <a:pt x="812800" y="719177"/>
                  </a:lnTo>
                  <a:cubicBezTo>
                    <a:pt x="812800" y="735145"/>
                    <a:pt x="806457" y="750459"/>
                    <a:pt x="795166" y="761750"/>
                  </a:cubicBezTo>
                  <a:cubicBezTo>
                    <a:pt x="783875" y="773041"/>
                    <a:pt x="768561" y="779384"/>
                    <a:pt x="752593" y="779384"/>
                  </a:cubicBezTo>
                  <a:lnTo>
                    <a:pt x="60207" y="779384"/>
                  </a:lnTo>
                  <a:cubicBezTo>
                    <a:pt x="44239" y="779384"/>
                    <a:pt x="28925" y="773041"/>
                    <a:pt x="17634" y="761750"/>
                  </a:cubicBezTo>
                  <a:cubicBezTo>
                    <a:pt x="6343" y="750459"/>
                    <a:pt x="0" y="735145"/>
                    <a:pt x="0" y="719177"/>
                  </a:cubicBezTo>
                  <a:lnTo>
                    <a:pt x="0" y="60207"/>
                  </a:lnTo>
                  <a:cubicBezTo>
                    <a:pt x="0" y="44239"/>
                    <a:pt x="6343" y="28925"/>
                    <a:pt x="17634" y="17634"/>
                  </a:cubicBezTo>
                  <a:cubicBezTo>
                    <a:pt x="28925" y="6343"/>
                    <a:pt x="44239" y="0"/>
                    <a:pt x="6020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17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7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407333" y="6777963"/>
            <a:ext cx="1791105" cy="0"/>
          </a:xfrm>
          <a:prstGeom prst="line">
            <a:avLst/>
          </a:prstGeom>
          <a:ln cap="flat" w="476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157918" y="4678473"/>
            <a:ext cx="6687204" cy="4157475"/>
            <a:chOff x="0" y="0"/>
            <a:chExt cx="1562078" cy="971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62078" cy="971153"/>
            </a:xfrm>
            <a:custGeom>
              <a:avLst/>
              <a:gdLst/>
              <a:ahLst/>
              <a:cxnLst/>
              <a:rect r="r" b="b" t="t" l="l"/>
              <a:pathLst>
                <a:path h="971153" w="1562078">
                  <a:moveTo>
                    <a:pt x="23154" y="0"/>
                  </a:moveTo>
                  <a:lnTo>
                    <a:pt x="1538924" y="0"/>
                  </a:lnTo>
                  <a:cubicBezTo>
                    <a:pt x="1551711" y="0"/>
                    <a:pt x="1562078" y="10367"/>
                    <a:pt x="1562078" y="23154"/>
                  </a:cubicBezTo>
                  <a:lnTo>
                    <a:pt x="1562078" y="947999"/>
                  </a:lnTo>
                  <a:cubicBezTo>
                    <a:pt x="1562078" y="960787"/>
                    <a:pt x="1551711" y="971153"/>
                    <a:pt x="1538924" y="971153"/>
                  </a:cubicBezTo>
                  <a:lnTo>
                    <a:pt x="23154" y="971153"/>
                  </a:lnTo>
                  <a:cubicBezTo>
                    <a:pt x="10367" y="971153"/>
                    <a:pt x="0" y="960787"/>
                    <a:pt x="0" y="947999"/>
                  </a:cubicBezTo>
                  <a:lnTo>
                    <a:pt x="0" y="23154"/>
                  </a:lnTo>
                  <a:cubicBezTo>
                    <a:pt x="0" y="10367"/>
                    <a:pt x="10367" y="0"/>
                    <a:pt x="231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BE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562078" cy="971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2390693" y="6786855"/>
            <a:ext cx="6202603" cy="0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491995" y="4954501"/>
            <a:ext cx="0" cy="3605419"/>
          </a:xfrm>
          <a:prstGeom prst="line">
            <a:avLst/>
          </a:prstGeom>
          <a:ln cap="flat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924423" y="5067177"/>
            <a:ext cx="1914735" cy="607560"/>
          </a:xfrm>
          <a:custGeom>
            <a:avLst/>
            <a:gdLst/>
            <a:ahLst/>
            <a:cxnLst/>
            <a:rect r="r" b="b" t="t" l="l"/>
            <a:pathLst>
              <a:path h="607560" w="1914735">
                <a:moveTo>
                  <a:pt x="0" y="0"/>
                </a:moveTo>
                <a:lnTo>
                  <a:pt x="1914735" y="0"/>
                </a:lnTo>
                <a:lnTo>
                  <a:pt x="1914735" y="607560"/>
                </a:lnTo>
                <a:lnTo>
                  <a:pt x="0" y="60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5000"/>
            </a:blip>
            <a:stretch>
              <a:fillRect l="-19" t="-16292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55248" y="5069509"/>
            <a:ext cx="2265935" cy="605228"/>
          </a:xfrm>
          <a:custGeom>
            <a:avLst/>
            <a:gdLst/>
            <a:ahLst/>
            <a:cxnLst/>
            <a:rect r="r" b="b" t="t" l="l"/>
            <a:pathLst>
              <a:path h="605228" w="2265935">
                <a:moveTo>
                  <a:pt x="0" y="0"/>
                </a:moveTo>
                <a:lnTo>
                  <a:pt x="2265934" y="0"/>
                </a:lnTo>
                <a:lnTo>
                  <a:pt x="2265934" y="605228"/>
                </a:lnTo>
                <a:lnTo>
                  <a:pt x="0" y="6052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</a:blip>
            <a:stretch>
              <a:fillRect l="0" t="-54934" r="0" b="-5566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24423" y="7139280"/>
            <a:ext cx="1914735" cy="551698"/>
          </a:xfrm>
          <a:custGeom>
            <a:avLst/>
            <a:gdLst/>
            <a:ahLst/>
            <a:cxnLst/>
            <a:rect r="r" b="b" t="t" l="l"/>
            <a:pathLst>
              <a:path h="551698" w="1914735">
                <a:moveTo>
                  <a:pt x="0" y="0"/>
                </a:moveTo>
                <a:lnTo>
                  <a:pt x="1914735" y="0"/>
                </a:lnTo>
                <a:lnTo>
                  <a:pt x="1914735" y="551698"/>
                </a:lnTo>
                <a:lnTo>
                  <a:pt x="0" y="551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5000"/>
            </a:blip>
            <a:stretch>
              <a:fillRect l="-19248" t="-72297" r="-19712" b="-7969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840897" y="7139280"/>
            <a:ext cx="2494635" cy="551698"/>
          </a:xfrm>
          <a:custGeom>
            <a:avLst/>
            <a:gdLst/>
            <a:ahLst/>
            <a:cxnLst/>
            <a:rect r="r" b="b" t="t" l="l"/>
            <a:pathLst>
              <a:path h="551698" w="2494635">
                <a:moveTo>
                  <a:pt x="0" y="0"/>
                </a:moveTo>
                <a:lnTo>
                  <a:pt x="2494636" y="0"/>
                </a:lnTo>
                <a:lnTo>
                  <a:pt x="2494636" y="551698"/>
                </a:lnTo>
                <a:lnTo>
                  <a:pt x="0" y="551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5000"/>
            </a:blip>
            <a:stretch>
              <a:fillRect l="-71569" t="-217719" r="-69717" b="-215523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69888" y="4412427"/>
            <a:ext cx="3086100" cy="5194049"/>
            <a:chOff x="0" y="0"/>
            <a:chExt cx="812800" cy="13679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367980"/>
            </a:xfrm>
            <a:custGeom>
              <a:avLst/>
              <a:gdLst/>
              <a:ahLst/>
              <a:cxnLst/>
              <a:rect r="r" b="b" t="t" l="l"/>
              <a:pathLst>
                <a:path h="136798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40039"/>
                  </a:lnTo>
                  <a:cubicBezTo>
                    <a:pt x="812800" y="1273971"/>
                    <a:pt x="799321" y="1306513"/>
                    <a:pt x="775327" y="1330507"/>
                  </a:cubicBezTo>
                  <a:cubicBezTo>
                    <a:pt x="751333" y="1354501"/>
                    <a:pt x="718791" y="1367980"/>
                    <a:pt x="684859" y="1367980"/>
                  </a:cubicBezTo>
                  <a:lnTo>
                    <a:pt x="127941" y="1367980"/>
                  </a:lnTo>
                  <a:cubicBezTo>
                    <a:pt x="94009" y="1367980"/>
                    <a:pt x="61467" y="1354501"/>
                    <a:pt x="37473" y="1330507"/>
                  </a:cubicBezTo>
                  <a:cubicBezTo>
                    <a:pt x="13479" y="1306513"/>
                    <a:pt x="0" y="1273971"/>
                    <a:pt x="0" y="124003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9FAF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812800" cy="1358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21972" y="4949230"/>
            <a:ext cx="5990996" cy="3759278"/>
            <a:chOff x="0" y="0"/>
            <a:chExt cx="7987995" cy="501237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987995" cy="1407214"/>
              <a:chOff x="0" y="0"/>
              <a:chExt cx="1577876" cy="27796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77875" cy="277968"/>
              </a:xfrm>
              <a:custGeom>
                <a:avLst/>
                <a:gdLst/>
                <a:ahLst/>
                <a:cxnLst/>
                <a:rect r="r" b="b" t="t" l="l"/>
                <a:pathLst>
                  <a:path h="277968" w="1577875">
                    <a:moveTo>
                      <a:pt x="32306" y="0"/>
                    </a:moveTo>
                    <a:lnTo>
                      <a:pt x="1545569" y="0"/>
                    </a:lnTo>
                    <a:cubicBezTo>
                      <a:pt x="1554137" y="0"/>
                      <a:pt x="1562355" y="3404"/>
                      <a:pt x="1568413" y="9462"/>
                    </a:cubicBezTo>
                    <a:cubicBezTo>
                      <a:pt x="1574472" y="15521"/>
                      <a:pt x="1577875" y="23738"/>
                      <a:pt x="1577875" y="32306"/>
                    </a:cubicBezTo>
                    <a:lnTo>
                      <a:pt x="1577875" y="245662"/>
                    </a:lnTo>
                    <a:cubicBezTo>
                      <a:pt x="1577875" y="263504"/>
                      <a:pt x="1563411" y="277968"/>
                      <a:pt x="1545569" y="277968"/>
                    </a:cubicBezTo>
                    <a:lnTo>
                      <a:pt x="32306" y="277968"/>
                    </a:lnTo>
                    <a:cubicBezTo>
                      <a:pt x="23738" y="277968"/>
                      <a:pt x="15521" y="274565"/>
                      <a:pt x="9462" y="268506"/>
                    </a:cubicBezTo>
                    <a:cubicBezTo>
                      <a:pt x="3404" y="262447"/>
                      <a:pt x="0" y="254230"/>
                      <a:pt x="0" y="245662"/>
                    </a:cubicBezTo>
                    <a:lnTo>
                      <a:pt x="0" y="32306"/>
                    </a:lnTo>
                    <a:cubicBezTo>
                      <a:pt x="0" y="23738"/>
                      <a:pt x="3404" y="15521"/>
                      <a:pt x="9462" y="9462"/>
                    </a:cubicBezTo>
                    <a:cubicBezTo>
                      <a:pt x="15521" y="3404"/>
                      <a:pt x="23738" y="0"/>
                      <a:pt x="32306" y="0"/>
                    </a:cubicBezTo>
                    <a:close/>
                  </a:path>
                </a:pathLst>
              </a:custGeom>
              <a:solidFill>
                <a:srgbClr val="F6EFE7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577876" cy="3160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7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804242"/>
              <a:ext cx="7987995" cy="1407214"/>
              <a:chOff x="0" y="0"/>
              <a:chExt cx="1577876" cy="27796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577875" cy="277968"/>
              </a:xfrm>
              <a:custGeom>
                <a:avLst/>
                <a:gdLst/>
                <a:ahLst/>
                <a:cxnLst/>
                <a:rect r="r" b="b" t="t" l="l"/>
                <a:pathLst>
                  <a:path h="277968" w="1577875">
                    <a:moveTo>
                      <a:pt x="32306" y="0"/>
                    </a:moveTo>
                    <a:lnTo>
                      <a:pt x="1545569" y="0"/>
                    </a:lnTo>
                    <a:cubicBezTo>
                      <a:pt x="1554137" y="0"/>
                      <a:pt x="1562355" y="3404"/>
                      <a:pt x="1568413" y="9462"/>
                    </a:cubicBezTo>
                    <a:cubicBezTo>
                      <a:pt x="1574472" y="15521"/>
                      <a:pt x="1577875" y="23738"/>
                      <a:pt x="1577875" y="32306"/>
                    </a:cubicBezTo>
                    <a:lnTo>
                      <a:pt x="1577875" y="245662"/>
                    </a:lnTo>
                    <a:cubicBezTo>
                      <a:pt x="1577875" y="263504"/>
                      <a:pt x="1563411" y="277968"/>
                      <a:pt x="1545569" y="277968"/>
                    </a:cubicBezTo>
                    <a:lnTo>
                      <a:pt x="32306" y="277968"/>
                    </a:lnTo>
                    <a:cubicBezTo>
                      <a:pt x="23738" y="277968"/>
                      <a:pt x="15521" y="274565"/>
                      <a:pt x="9462" y="268506"/>
                    </a:cubicBezTo>
                    <a:cubicBezTo>
                      <a:pt x="3404" y="262447"/>
                      <a:pt x="0" y="254230"/>
                      <a:pt x="0" y="245662"/>
                    </a:cubicBezTo>
                    <a:lnTo>
                      <a:pt x="0" y="32306"/>
                    </a:lnTo>
                    <a:cubicBezTo>
                      <a:pt x="0" y="23738"/>
                      <a:pt x="3404" y="15521"/>
                      <a:pt x="9462" y="9462"/>
                    </a:cubicBezTo>
                    <a:cubicBezTo>
                      <a:pt x="15521" y="3404"/>
                      <a:pt x="23738" y="0"/>
                      <a:pt x="32306" y="0"/>
                    </a:cubicBezTo>
                    <a:close/>
                  </a:path>
                </a:pathLst>
              </a:custGeom>
              <a:solidFill>
                <a:srgbClr val="F6EED9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577876" cy="3160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3605156"/>
              <a:ext cx="7987995" cy="1407214"/>
              <a:chOff x="0" y="0"/>
              <a:chExt cx="1577876" cy="27796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577875" cy="277968"/>
              </a:xfrm>
              <a:custGeom>
                <a:avLst/>
                <a:gdLst/>
                <a:ahLst/>
                <a:cxnLst/>
                <a:rect r="r" b="b" t="t" l="l"/>
                <a:pathLst>
                  <a:path h="277968" w="1577875">
                    <a:moveTo>
                      <a:pt x="32306" y="0"/>
                    </a:moveTo>
                    <a:lnTo>
                      <a:pt x="1545569" y="0"/>
                    </a:lnTo>
                    <a:cubicBezTo>
                      <a:pt x="1554137" y="0"/>
                      <a:pt x="1562355" y="3404"/>
                      <a:pt x="1568413" y="9462"/>
                    </a:cubicBezTo>
                    <a:cubicBezTo>
                      <a:pt x="1574472" y="15521"/>
                      <a:pt x="1577875" y="23738"/>
                      <a:pt x="1577875" y="32306"/>
                    </a:cubicBezTo>
                    <a:lnTo>
                      <a:pt x="1577875" y="245662"/>
                    </a:lnTo>
                    <a:cubicBezTo>
                      <a:pt x="1577875" y="263504"/>
                      <a:pt x="1563411" y="277968"/>
                      <a:pt x="1545569" y="277968"/>
                    </a:cubicBezTo>
                    <a:lnTo>
                      <a:pt x="32306" y="277968"/>
                    </a:lnTo>
                    <a:cubicBezTo>
                      <a:pt x="23738" y="277968"/>
                      <a:pt x="15521" y="274565"/>
                      <a:pt x="9462" y="268506"/>
                    </a:cubicBezTo>
                    <a:cubicBezTo>
                      <a:pt x="3404" y="262447"/>
                      <a:pt x="0" y="254230"/>
                      <a:pt x="0" y="245662"/>
                    </a:cubicBezTo>
                    <a:lnTo>
                      <a:pt x="0" y="32306"/>
                    </a:lnTo>
                    <a:cubicBezTo>
                      <a:pt x="0" y="23738"/>
                      <a:pt x="3404" y="15521"/>
                      <a:pt x="9462" y="9462"/>
                    </a:cubicBezTo>
                    <a:cubicBezTo>
                      <a:pt x="15521" y="3404"/>
                      <a:pt x="23738" y="0"/>
                      <a:pt x="32306" y="0"/>
                    </a:cubicBezTo>
                    <a:close/>
                  </a:path>
                </a:pathLst>
              </a:custGeom>
              <a:solidFill>
                <a:srgbClr val="CED1C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577876" cy="3160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57"/>
                  </a:lnSpc>
                </a:pPr>
              </a:p>
            </p:txBody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13274247" y="8012428"/>
            <a:ext cx="259948" cy="380823"/>
          </a:xfrm>
          <a:custGeom>
            <a:avLst/>
            <a:gdLst/>
            <a:ahLst/>
            <a:cxnLst/>
            <a:rect r="r" b="b" t="t" l="l"/>
            <a:pathLst>
              <a:path h="380823" w="259948">
                <a:moveTo>
                  <a:pt x="0" y="0"/>
                </a:moveTo>
                <a:lnTo>
                  <a:pt x="259947" y="0"/>
                </a:lnTo>
                <a:lnTo>
                  <a:pt x="259947" y="380824"/>
                </a:lnTo>
                <a:lnTo>
                  <a:pt x="0" y="3808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06597" y="5965002"/>
            <a:ext cx="2750388" cy="55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네이버 블로그 등산 후기</a:t>
            </a:r>
          </a:p>
          <a:p>
            <a:pPr algn="ctr">
              <a:lnSpc>
                <a:spcPts val="2229"/>
              </a:lnSpc>
              <a:spcBef>
                <a:spcPct val="0"/>
              </a:spcBef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[네이버 API +</a:t>
            </a: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웹크롤링]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02415" y="5965002"/>
            <a:ext cx="2404089" cy="55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유튜브 등산 영상 댓글</a:t>
            </a:r>
          </a:p>
          <a:p>
            <a:pPr algn="ctr">
              <a:lnSpc>
                <a:spcPts val="2229"/>
              </a:lnSpc>
              <a:spcBef>
                <a:spcPct val="0"/>
              </a:spcBef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[유튜브 API</a:t>
            </a: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]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108311" y="7908516"/>
            <a:ext cx="1458548" cy="55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카카오맵 리뷰</a:t>
            </a:r>
          </a:p>
          <a:p>
            <a:pPr algn="ctr">
              <a:lnSpc>
                <a:spcPts val="2229"/>
              </a:lnSpc>
              <a:spcBef>
                <a:spcPct val="0"/>
              </a:spcBef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</a:t>
            </a: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웹크롤링]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238036" y="7908516"/>
            <a:ext cx="1700357" cy="55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네이버 지도 리뷰</a:t>
            </a:r>
          </a:p>
          <a:p>
            <a:pPr algn="ctr">
              <a:lnSpc>
                <a:spcPts val="2229"/>
              </a:lnSpc>
              <a:spcBef>
                <a:spcPct val="0"/>
              </a:spcBef>
            </a:pP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</a:t>
            </a:r>
            <a:r>
              <a:rPr lang="en-US" b="true" sz="1905" spc="19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웹크롤링]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매력 지수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1. 데이터 수집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60080" y="5157804"/>
            <a:ext cx="5495751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5"/>
              </a:lnSpc>
              <a:spcBef>
                <a:spcPct val="0"/>
              </a:spcBef>
            </a:pPr>
            <a:r>
              <a:rPr lang="en-US" sz="2500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블로그(8,516)        상세한 경험 묘사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03213" y="6538547"/>
            <a:ext cx="5841964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5"/>
              </a:lnSpc>
              <a:spcBef>
                <a:spcPct val="0"/>
              </a:spcBef>
            </a:pPr>
            <a:r>
              <a:rPr lang="en-US" sz="2500" spc="-1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유튜브 댓글(17,739)         즉각적인 감정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03213" y="7926527"/>
            <a:ext cx="5841964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5"/>
              </a:lnSpc>
              <a:spcBef>
                <a:spcPct val="0"/>
              </a:spcBef>
            </a:pPr>
            <a:r>
              <a:rPr lang="en-US" sz="2500" spc="-1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지도 장소 리뷰(7,485)       컴펙트한 평가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3173615" y="6624448"/>
            <a:ext cx="259948" cy="380823"/>
          </a:xfrm>
          <a:custGeom>
            <a:avLst/>
            <a:gdLst/>
            <a:ahLst/>
            <a:cxnLst/>
            <a:rect r="r" b="b" t="t" l="l"/>
            <a:pathLst>
              <a:path h="380823" w="259948">
                <a:moveTo>
                  <a:pt x="0" y="0"/>
                </a:moveTo>
                <a:lnTo>
                  <a:pt x="259947" y="0"/>
                </a:lnTo>
                <a:lnTo>
                  <a:pt x="259947" y="380824"/>
                </a:lnTo>
                <a:lnTo>
                  <a:pt x="0" y="3808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550347" y="5257890"/>
            <a:ext cx="259948" cy="380823"/>
          </a:xfrm>
          <a:custGeom>
            <a:avLst/>
            <a:gdLst/>
            <a:ahLst/>
            <a:cxnLst/>
            <a:rect r="r" b="b" t="t" l="l"/>
            <a:pathLst>
              <a:path h="380823" w="259948">
                <a:moveTo>
                  <a:pt x="0" y="0"/>
                </a:moveTo>
                <a:lnTo>
                  <a:pt x="259947" y="0"/>
                </a:lnTo>
                <a:lnTo>
                  <a:pt x="259947" y="380823"/>
                </a:lnTo>
                <a:lnTo>
                  <a:pt x="0" y="3808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1864" y="4800588"/>
            <a:ext cx="4397239" cy="3957219"/>
            <a:chOff x="0" y="0"/>
            <a:chExt cx="1211955" cy="1090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1955" cy="1090678"/>
            </a:xfrm>
            <a:custGeom>
              <a:avLst/>
              <a:gdLst/>
              <a:ahLst/>
              <a:cxnLst/>
              <a:rect r="r" b="b" t="t" l="l"/>
              <a:pathLst>
                <a:path h="1090678" w="1211955">
                  <a:moveTo>
                    <a:pt x="61622" y="0"/>
                  </a:moveTo>
                  <a:lnTo>
                    <a:pt x="1150333" y="0"/>
                  </a:lnTo>
                  <a:cubicBezTo>
                    <a:pt x="1184366" y="0"/>
                    <a:pt x="1211955" y="27589"/>
                    <a:pt x="1211955" y="61622"/>
                  </a:cubicBezTo>
                  <a:lnTo>
                    <a:pt x="1211955" y="1029056"/>
                  </a:lnTo>
                  <a:cubicBezTo>
                    <a:pt x="1211955" y="1045399"/>
                    <a:pt x="1205463" y="1061073"/>
                    <a:pt x="1193906" y="1072629"/>
                  </a:cubicBezTo>
                  <a:cubicBezTo>
                    <a:pt x="1182350" y="1084185"/>
                    <a:pt x="1166676" y="1090678"/>
                    <a:pt x="1150333" y="1090678"/>
                  </a:cubicBezTo>
                  <a:lnTo>
                    <a:pt x="61622" y="1090678"/>
                  </a:lnTo>
                  <a:cubicBezTo>
                    <a:pt x="45279" y="1090678"/>
                    <a:pt x="29605" y="1084185"/>
                    <a:pt x="18049" y="1072629"/>
                  </a:cubicBezTo>
                  <a:cubicBezTo>
                    <a:pt x="6492" y="1061073"/>
                    <a:pt x="0" y="1045399"/>
                    <a:pt x="0" y="1029056"/>
                  </a:cubicBezTo>
                  <a:lnTo>
                    <a:pt x="0" y="61622"/>
                  </a:lnTo>
                  <a:cubicBezTo>
                    <a:pt x="0" y="27589"/>
                    <a:pt x="27589" y="0"/>
                    <a:pt x="616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11955" cy="1119253"/>
            </a:xfrm>
            <a:prstGeom prst="rect">
              <a:avLst/>
            </a:prstGeom>
          </p:spPr>
          <p:txBody>
            <a:bodyPr anchor="ctr" rtlCol="false" tIns="48543" lIns="48543" bIns="48543" rIns="48543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2523835" y="6779197"/>
            <a:ext cx="3773449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370483" y="5157113"/>
            <a:ext cx="0" cy="3272608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24659" y="6117423"/>
            <a:ext cx="1711819" cy="3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5"/>
              </a:lnSpc>
              <a:spcBef>
                <a:spcPct val="0"/>
              </a:spcBef>
            </a:pP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평가 체계 설계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91463" y="6055668"/>
            <a:ext cx="1541678" cy="58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프롬프트</a:t>
            </a:r>
          </a:p>
          <a:p>
            <a:pPr algn="ctr">
              <a:lnSpc>
                <a:spcPts val="2321"/>
              </a:lnSpc>
            </a:pP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엔지니어링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40959" y="7906923"/>
            <a:ext cx="1711819" cy="58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대량</a:t>
            </a: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데이터 </a:t>
            </a:r>
          </a:p>
          <a:p>
            <a:pPr algn="ctr">
              <a:lnSpc>
                <a:spcPts val="2321"/>
              </a:lnSpc>
            </a:pP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처리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4359" y="7991429"/>
            <a:ext cx="1453687" cy="2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품질</a:t>
            </a:r>
            <a:r>
              <a:rPr lang="en-US" sz="1984" spc="1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검증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40959" y="4897453"/>
            <a:ext cx="1711819" cy="11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7"/>
              </a:lnSpc>
              <a:spcBef>
                <a:spcPct val="0"/>
              </a:spcBef>
            </a:pPr>
            <a:r>
              <a:rPr lang="en-US" sz="5853" spc="5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06392" y="4867358"/>
            <a:ext cx="1711819" cy="11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7"/>
              </a:lnSpc>
              <a:spcBef>
                <a:spcPct val="0"/>
              </a:spcBef>
            </a:pPr>
            <a:r>
              <a:rPr lang="en-US" sz="5853" spc="5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24659" y="6749097"/>
            <a:ext cx="1711819" cy="11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7"/>
              </a:lnSpc>
              <a:spcBef>
                <a:spcPct val="0"/>
              </a:spcBef>
            </a:pPr>
            <a:r>
              <a:rPr lang="en-US" sz="5853" spc="5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📦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06392" y="6749097"/>
            <a:ext cx="1711819" cy="11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7"/>
              </a:lnSpc>
              <a:spcBef>
                <a:spcPct val="0"/>
              </a:spcBef>
            </a:pPr>
            <a:r>
              <a:rPr lang="en-US" sz="5853" spc="5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🔍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5031" y="4709048"/>
            <a:ext cx="8986817" cy="404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b="true" sz="2700" spc="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1단계: 실질적 등산 후기 필터링</a:t>
            </a:r>
          </a:p>
          <a:p>
            <a:pPr algn="just" marL="539767" indent="-269884" lvl="1">
              <a:lnSpc>
                <a:spcPts val="3500"/>
              </a:lnSpc>
              <a:buFont typeface="Arial"/>
              <a:buChar char="•"/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광고성·정보성 문구를 제외하고</a:t>
            </a:r>
          </a:p>
          <a:p>
            <a:pPr algn="just" marL="539767" indent="-269884" lvl="1">
              <a:lnSpc>
                <a:spcPts val="3500"/>
              </a:lnSpc>
              <a:buFont typeface="Arial"/>
              <a:buChar char="•"/>
            </a:pP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실제 등산 경험이 담긴 후기 텍스트만 선별</a:t>
            </a:r>
          </a:p>
          <a:p>
            <a:pPr algn="just" marL="539767" indent="-269884" lvl="1">
              <a:lnSpc>
                <a:spcPts val="3500"/>
              </a:lnSpc>
              <a:buFont typeface="Arial"/>
              <a:buChar char="•"/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LLM을 활용해 </a:t>
            </a: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후기 맥락과 서술 여부 기반 필터링</a:t>
            </a: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수행</a:t>
            </a:r>
          </a:p>
          <a:p>
            <a:pPr algn="just">
              <a:lnSpc>
                <a:spcPts val="3780"/>
              </a:lnSpc>
            </a:pPr>
          </a:p>
          <a:p>
            <a:pPr algn="just">
              <a:lnSpc>
                <a:spcPts val="3780"/>
              </a:lnSpc>
            </a:pPr>
            <a:r>
              <a:rPr lang="en-US" b="true" sz="2700" spc="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2단계:</a:t>
            </a:r>
            <a:r>
              <a:rPr lang="en-US" b="true" sz="2700" spc="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매력 점수+ 키워드 추출</a:t>
            </a:r>
          </a:p>
          <a:p>
            <a:pPr algn="just" marL="539767" indent="-269884" lvl="1">
              <a:lnSpc>
                <a:spcPts val="3500"/>
              </a:lnSpc>
              <a:buFont typeface="Arial"/>
              <a:buChar char="•"/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필터링된 후기에서 </a:t>
            </a: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등산로의 정성적 매력 요소</a:t>
            </a: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분석</a:t>
            </a:r>
          </a:p>
          <a:p>
            <a:pPr algn="just" marL="539767" indent="-269884" lvl="1">
              <a:lnSpc>
                <a:spcPts val="3500"/>
              </a:lnSpc>
              <a:buFont typeface="Arial"/>
              <a:buChar char="•"/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자연경관·힐링·성취감 등 </a:t>
            </a: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매력 요소를 점수화</a:t>
            </a:r>
          </a:p>
          <a:p>
            <a:pPr algn="just" marL="539767" indent="-269884" lvl="1">
              <a:lnSpc>
                <a:spcPts val="3500"/>
              </a:lnSpc>
              <a:buFont typeface="Arial"/>
              <a:buChar char="•"/>
            </a:pPr>
            <a:r>
              <a:rPr lang="en-US" sz="2500" spc="2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후기에서 반복적으로 언급되는 </a:t>
            </a:r>
            <a:r>
              <a:rPr lang="en-US" b="true" sz="2500" spc="2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대표 키워드 자동 추출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매력 지수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2. LLM 기반 등산 리뷰 자연어분석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04592" y="4164777"/>
            <a:ext cx="5143523" cy="5345999"/>
            <a:chOff x="0" y="0"/>
            <a:chExt cx="1491363" cy="1550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1363" cy="1550071"/>
            </a:xfrm>
            <a:custGeom>
              <a:avLst/>
              <a:gdLst/>
              <a:ahLst/>
              <a:cxnLst/>
              <a:rect r="r" b="b" t="t" l="l"/>
              <a:pathLst>
                <a:path h="1550071" w="1491363">
                  <a:moveTo>
                    <a:pt x="0" y="0"/>
                  </a:moveTo>
                  <a:lnTo>
                    <a:pt x="1491363" y="0"/>
                  </a:lnTo>
                  <a:lnTo>
                    <a:pt x="1491363" y="1550071"/>
                  </a:lnTo>
                  <a:lnTo>
                    <a:pt x="0" y="15500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491363" cy="1616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51583" y="4451062"/>
            <a:ext cx="5165682" cy="371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7"/>
              </a:lnSpc>
            </a:pPr>
            <a:r>
              <a:rPr lang="en-US" b="true" sz="2470" spc="-10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산별 항목 평균 점수 산정</a:t>
            </a:r>
          </a:p>
          <a:p>
            <a:pPr algn="just">
              <a:lnSpc>
                <a:spcPts val="3491"/>
              </a:lnSpc>
            </a:pPr>
          </a:p>
          <a:p>
            <a:pPr algn="just" marL="434537" indent="-217269" lvl="1">
              <a:lnSpc>
                <a:spcPts val="3200"/>
              </a:lnSpc>
              <a:buFont typeface="Arial"/>
              <a:buChar char="•"/>
            </a:pP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후기에서 추출된 </a:t>
            </a: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항목별 매력점수</a:t>
            </a: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산정</a:t>
            </a:r>
          </a:p>
          <a:p>
            <a:pPr algn="just" marL="434537" indent="-217269" lvl="1">
              <a:lnSpc>
                <a:spcPts val="3200"/>
              </a:lnSpc>
              <a:buFont typeface="Arial"/>
              <a:buChar char="•"/>
            </a:pP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신뢰도 반영하기 위해</a:t>
            </a:r>
          </a:p>
          <a:p>
            <a:pPr algn="just">
              <a:lnSpc>
                <a:spcPts val="3200"/>
              </a:lnSpc>
            </a:pP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</a:t>
            </a: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신뢰도 가중 평균 방식</a:t>
            </a: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 적용</a:t>
            </a:r>
          </a:p>
          <a:p>
            <a:pPr algn="just" marL="434537" indent="-217269" lvl="1">
              <a:lnSpc>
                <a:spcPts val="3200"/>
              </a:lnSpc>
              <a:buFont typeface="Arial"/>
              <a:buChar char="•"/>
            </a:pP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산별 항목 평균 = </a:t>
            </a:r>
          </a:p>
          <a:p>
            <a:pPr algn="just">
              <a:lnSpc>
                <a:spcPts val="3200"/>
              </a:lnSpc>
            </a:pP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 </a:t>
            </a: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Σ(리뷰 점수 × 신뢰도 가중치) / 리뷰 수 </a:t>
            </a:r>
          </a:p>
          <a:p>
            <a:pPr algn="just" marL="434537" indent="-217269" lvl="1">
              <a:lnSpc>
                <a:spcPts val="3200"/>
              </a:lnSpc>
              <a:buFont typeface="Arial"/>
              <a:buChar char="•"/>
            </a:pP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신뢰도 가중치 기준</a:t>
            </a:r>
          </a:p>
          <a:p>
            <a:pPr algn="just">
              <a:lnSpc>
                <a:spcPts val="3200"/>
              </a:lnSpc>
            </a:pP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</a:t>
            </a: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HIGH</a:t>
            </a: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: 1.0 , </a:t>
            </a: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MEDIUM</a:t>
            </a: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: 0.6 , </a:t>
            </a:r>
            <a:r>
              <a:rPr lang="en-US" b="true" sz="2012" spc="-86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LOW</a:t>
            </a:r>
            <a:r>
              <a:rPr lang="en-US" sz="2012" spc="-86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: 0.2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39814" y="4164777"/>
            <a:ext cx="5145447" cy="5345999"/>
            <a:chOff x="0" y="0"/>
            <a:chExt cx="1491921" cy="1550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1921" cy="1550071"/>
            </a:xfrm>
            <a:custGeom>
              <a:avLst/>
              <a:gdLst/>
              <a:ahLst/>
              <a:cxnLst/>
              <a:rect r="r" b="b" t="t" l="l"/>
              <a:pathLst>
                <a:path h="1550071" w="1491921">
                  <a:moveTo>
                    <a:pt x="0" y="0"/>
                  </a:moveTo>
                  <a:lnTo>
                    <a:pt x="1491921" y="0"/>
                  </a:lnTo>
                  <a:lnTo>
                    <a:pt x="1491921" y="1550071"/>
                  </a:lnTo>
                  <a:lnTo>
                    <a:pt x="0" y="15500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491921" cy="1616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6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54482" y="7367588"/>
            <a:ext cx="4579806" cy="2259909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837004" y="9081933"/>
            <a:ext cx="2414763" cy="27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453" spc="-62">
                <a:solidFill>
                  <a:srgbClr val="847B7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6가지 매력지수 언급률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78344" y="4460587"/>
            <a:ext cx="4732081" cy="295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9"/>
              </a:lnSpc>
            </a:pPr>
            <a:r>
              <a:rPr lang="en-US" sz="2452" spc="-10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452" spc="-10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</a:t>
            </a:r>
            <a:r>
              <a:rPr lang="en-US" b="true" sz="2452" spc="-10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항목별 가중 점수 산정</a:t>
            </a:r>
          </a:p>
          <a:p>
            <a:pPr algn="just">
              <a:lnSpc>
                <a:spcPts val="3899"/>
              </a:lnSpc>
            </a:pPr>
          </a:p>
          <a:p>
            <a:pPr algn="just" marL="431463" indent="-215732" lvl="1">
              <a:lnSpc>
                <a:spcPts val="3177"/>
              </a:lnSpc>
              <a:buFont typeface="Arial"/>
              <a:buChar char="•"/>
            </a:pPr>
            <a:r>
              <a:rPr lang="en-US" b="true" sz="1998" spc="-8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얼마나 자주 언급되는지</a:t>
            </a:r>
            <a:r>
              <a:rPr lang="en-US" sz="1998" spc="-8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 따라</a:t>
            </a:r>
          </a:p>
          <a:p>
            <a:pPr algn="just">
              <a:lnSpc>
                <a:spcPts val="3177"/>
              </a:lnSpc>
            </a:pPr>
            <a:r>
              <a:rPr lang="en-US" sz="1998" spc="-8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</a:t>
            </a:r>
            <a:r>
              <a:rPr lang="en-US" sz="1998" spc="-8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중요도가 달라질 수 있음</a:t>
            </a:r>
          </a:p>
          <a:p>
            <a:pPr algn="just" marL="431463" indent="-215732" lvl="1">
              <a:lnSpc>
                <a:spcPts val="3177"/>
              </a:lnSpc>
              <a:buFont typeface="Arial"/>
              <a:buChar char="•"/>
            </a:pPr>
            <a:r>
              <a:rPr lang="en-US" sz="1998" spc="-8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항목별 평균점수에 </a:t>
            </a:r>
            <a:r>
              <a:rPr lang="en-US" b="true" sz="1998" spc="-8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언급률 가중치</a:t>
            </a:r>
            <a:r>
              <a:rPr lang="en-US" sz="1998" spc="-8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적용해</a:t>
            </a:r>
          </a:p>
          <a:p>
            <a:pPr algn="just">
              <a:lnSpc>
                <a:spcPts val="3177"/>
              </a:lnSpc>
            </a:pPr>
            <a:r>
              <a:rPr lang="en-US" sz="1998" spc="-85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</a:t>
            </a:r>
            <a:r>
              <a:rPr lang="en-US" b="true" sz="1998" spc="-8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가중 점수 계산= </a:t>
            </a:r>
          </a:p>
          <a:p>
            <a:pPr algn="just">
              <a:lnSpc>
                <a:spcPts val="3177"/>
              </a:lnSpc>
            </a:pPr>
            <a:r>
              <a:rPr lang="en-US" b="true" sz="1998" spc="-8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 </a:t>
            </a:r>
            <a:r>
              <a:rPr lang="en-US" b="true" sz="1998" spc="-85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산별 항목 평균 x 언급량 가중치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76959" y="4164777"/>
            <a:ext cx="5459370" cy="5345999"/>
            <a:chOff x="0" y="0"/>
            <a:chExt cx="1582943" cy="15500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2943" cy="1550071"/>
            </a:xfrm>
            <a:custGeom>
              <a:avLst/>
              <a:gdLst/>
              <a:ahLst/>
              <a:cxnLst/>
              <a:rect r="r" b="b" t="t" l="l"/>
              <a:pathLst>
                <a:path h="1550071" w="1582943">
                  <a:moveTo>
                    <a:pt x="0" y="0"/>
                  </a:moveTo>
                  <a:lnTo>
                    <a:pt x="1582943" y="0"/>
                  </a:lnTo>
                  <a:lnTo>
                    <a:pt x="1582943" y="1550071"/>
                  </a:lnTo>
                  <a:lnTo>
                    <a:pt x="0" y="15500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82943" cy="1616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6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034847" y="4392480"/>
            <a:ext cx="5143594" cy="474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2"/>
              </a:lnSpc>
            </a:pPr>
            <a:r>
              <a:rPr lang="en-US" b="true" sz="2473" spc="-158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3. 최종 매력지수 산정</a:t>
            </a:r>
          </a:p>
          <a:p>
            <a:pPr algn="just">
              <a:lnSpc>
                <a:spcPts val="3932"/>
              </a:lnSpc>
            </a:pPr>
          </a:p>
          <a:p>
            <a:pPr algn="just" marL="431799" indent="-215899" lvl="1">
              <a:lnSpc>
                <a:spcPts val="3179"/>
              </a:lnSpc>
              <a:buFont typeface="Arial"/>
              <a:buChar char="•"/>
            </a:pPr>
            <a:r>
              <a:rPr lang="en-US" sz="1999" spc="-12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총 </a:t>
            </a:r>
            <a:r>
              <a:rPr lang="en-US" b="true" sz="1999" spc="-1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6개 매력 항목</a:t>
            </a:r>
            <a:r>
              <a:rPr lang="en-US" sz="1999" spc="-12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 대해 산출된 가중점수를 종합</a:t>
            </a:r>
          </a:p>
          <a:p>
            <a:pPr algn="just" marL="431799" indent="-215899" lvl="1">
              <a:lnSpc>
                <a:spcPts val="3179"/>
              </a:lnSpc>
              <a:buFont typeface="Arial"/>
              <a:buChar char="•"/>
            </a:pPr>
            <a:r>
              <a:rPr lang="en-US" sz="1999" spc="-12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과도한 편중을 방지하기위해 </a:t>
            </a:r>
            <a:r>
              <a:rPr lang="en-US" b="true" sz="1999" spc="-1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단순 평균방식</a:t>
            </a:r>
            <a:r>
              <a:rPr lang="en-US" sz="1999" spc="-12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으로</a:t>
            </a:r>
          </a:p>
          <a:p>
            <a:pPr algn="just">
              <a:lnSpc>
                <a:spcPts val="3179"/>
              </a:lnSpc>
            </a:pPr>
            <a:r>
              <a:rPr lang="en-US" sz="1999" spc="-12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</a:t>
            </a:r>
            <a:r>
              <a:rPr lang="en-US" b="true" sz="1999" spc="-1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최종 매력지수 계산 = </a:t>
            </a:r>
          </a:p>
          <a:p>
            <a:pPr algn="just">
              <a:lnSpc>
                <a:spcPts val="3179"/>
              </a:lnSpc>
            </a:pPr>
            <a:r>
              <a:rPr lang="en-US" b="true" sz="1999" spc="-127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 Σ(6개 항목 가중 점수) / 6 </a:t>
            </a:r>
          </a:p>
          <a:p>
            <a:pPr algn="just">
              <a:lnSpc>
                <a:spcPts val="3203"/>
              </a:lnSpc>
            </a:pPr>
          </a:p>
          <a:p>
            <a:pPr algn="just">
              <a:lnSpc>
                <a:spcPts val="3203"/>
              </a:lnSpc>
            </a:pPr>
          </a:p>
          <a:p>
            <a:pPr algn="ctr">
              <a:lnSpc>
                <a:spcPts val="3839"/>
              </a:lnSpc>
            </a:pPr>
            <a:r>
              <a:rPr lang="en-US" b="true" sz="2415" spc="-15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“등산객의 실제 경험과 체감 매력을</a:t>
            </a:r>
          </a:p>
          <a:p>
            <a:pPr algn="ctr">
              <a:lnSpc>
                <a:spcPts val="3839"/>
              </a:lnSpc>
            </a:pPr>
            <a:r>
              <a:rPr lang="en-US" b="true" sz="2415" spc="-15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반영한 후기 기반 종합 매력지수”</a:t>
            </a:r>
          </a:p>
          <a:p>
            <a:pPr algn="just">
              <a:lnSpc>
                <a:spcPts val="3203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매력 지수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3. 매력지수 산출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546622" y="6606570"/>
            <a:ext cx="3764280" cy="3473636"/>
            <a:chOff x="0" y="0"/>
            <a:chExt cx="88080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0808" cy="812800"/>
            </a:xfrm>
            <a:custGeom>
              <a:avLst/>
              <a:gdLst/>
              <a:ahLst/>
              <a:cxnLst/>
              <a:rect r="r" b="b" t="t" l="l"/>
              <a:pathLst>
                <a:path h="812800" w="880808">
                  <a:moveTo>
                    <a:pt x="0" y="0"/>
                  </a:moveTo>
                  <a:lnTo>
                    <a:pt x="880808" y="0"/>
                  </a:lnTo>
                  <a:lnTo>
                    <a:pt x="88080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ED1C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880808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267742" y="6606570"/>
            <a:ext cx="3764530" cy="3473636"/>
            <a:chOff x="0" y="0"/>
            <a:chExt cx="88086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0867" cy="812800"/>
            </a:xfrm>
            <a:custGeom>
              <a:avLst/>
              <a:gdLst/>
              <a:ahLst/>
              <a:cxnLst/>
              <a:rect r="r" b="b" t="t" l="l"/>
              <a:pathLst>
                <a:path h="812800" w="880867">
                  <a:moveTo>
                    <a:pt x="0" y="0"/>
                  </a:moveTo>
                  <a:lnTo>
                    <a:pt x="880867" y="0"/>
                  </a:lnTo>
                  <a:lnTo>
                    <a:pt x="8808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ED1C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880867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28302" y="2976762"/>
            <a:ext cx="3764530" cy="3473636"/>
            <a:chOff x="0" y="0"/>
            <a:chExt cx="88086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0867" cy="812800"/>
            </a:xfrm>
            <a:custGeom>
              <a:avLst/>
              <a:gdLst/>
              <a:ahLst/>
              <a:cxnLst/>
              <a:rect r="r" b="b" t="t" l="l"/>
              <a:pathLst>
                <a:path h="812800" w="880867">
                  <a:moveTo>
                    <a:pt x="0" y="0"/>
                  </a:moveTo>
                  <a:lnTo>
                    <a:pt x="880867" y="0"/>
                  </a:lnTo>
                  <a:lnTo>
                    <a:pt x="8808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ED1C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880867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07182" y="2976762"/>
            <a:ext cx="3764280" cy="3473636"/>
            <a:chOff x="0" y="0"/>
            <a:chExt cx="880808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0808" cy="812800"/>
            </a:xfrm>
            <a:custGeom>
              <a:avLst/>
              <a:gdLst/>
              <a:ahLst/>
              <a:cxnLst/>
              <a:rect r="r" b="b" t="t" l="l"/>
              <a:pathLst>
                <a:path h="812800" w="880808">
                  <a:moveTo>
                    <a:pt x="0" y="0"/>
                  </a:moveTo>
                  <a:lnTo>
                    <a:pt x="880808" y="0"/>
                  </a:lnTo>
                  <a:lnTo>
                    <a:pt x="88080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ED1C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80808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86063" y="2976762"/>
            <a:ext cx="3764280" cy="3473636"/>
            <a:chOff x="0" y="0"/>
            <a:chExt cx="880808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0808" cy="812800"/>
            </a:xfrm>
            <a:custGeom>
              <a:avLst/>
              <a:gdLst/>
              <a:ahLst/>
              <a:cxnLst/>
              <a:rect r="r" b="b" t="t" l="l"/>
              <a:pathLst>
                <a:path h="812800" w="880808">
                  <a:moveTo>
                    <a:pt x="0" y="0"/>
                  </a:moveTo>
                  <a:lnTo>
                    <a:pt x="880808" y="0"/>
                  </a:lnTo>
                  <a:lnTo>
                    <a:pt x="88080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ED1C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880808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85080" y="3936706"/>
            <a:ext cx="795901" cy="1134056"/>
            <a:chOff x="0" y="0"/>
            <a:chExt cx="1061202" cy="15120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1202" cy="1512075"/>
            </a:xfrm>
            <a:custGeom>
              <a:avLst/>
              <a:gdLst/>
              <a:ahLst/>
              <a:cxnLst/>
              <a:rect r="r" b="b" t="t" l="l"/>
              <a:pathLst>
                <a:path h="1512075" w="1061202">
                  <a:moveTo>
                    <a:pt x="0" y="0"/>
                  </a:moveTo>
                  <a:lnTo>
                    <a:pt x="1061202" y="0"/>
                  </a:lnTo>
                  <a:lnTo>
                    <a:pt x="1061202" y="1512075"/>
                  </a:lnTo>
                  <a:lnTo>
                    <a:pt x="0" y="1512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V="true">
              <a:off x="530601" y="1059117"/>
              <a:ext cx="0" cy="452958"/>
            </a:xfrm>
            <a:prstGeom prst="line">
              <a:avLst/>
            </a:prstGeom>
            <a:ln cap="flat" w="635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59187" y="4316256"/>
            <a:ext cx="200675" cy="196621"/>
            <a:chOff x="0" y="0"/>
            <a:chExt cx="251460" cy="2463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0" y="50746"/>
              <a:ext cx="148590" cy="147163"/>
            </a:xfrm>
            <a:custGeom>
              <a:avLst/>
              <a:gdLst/>
              <a:ahLst/>
              <a:cxnLst/>
              <a:rect r="r" b="b" t="t" l="l"/>
              <a:pathLst>
                <a:path h="147163" w="148590">
                  <a:moveTo>
                    <a:pt x="148590" y="52124"/>
                  </a:moveTo>
                  <a:cubicBezTo>
                    <a:pt x="129540" y="132134"/>
                    <a:pt x="120650" y="139754"/>
                    <a:pt x="107950" y="143564"/>
                  </a:cubicBezTo>
                  <a:cubicBezTo>
                    <a:pt x="90170" y="149914"/>
                    <a:pt x="53340" y="147374"/>
                    <a:pt x="36830" y="139754"/>
                  </a:cubicBezTo>
                  <a:cubicBezTo>
                    <a:pt x="25400" y="134674"/>
                    <a:pt x="17780" y="124514"/>
                    <a:pt x="11430" y="114354"/>
                  </a:cubicBezTo>
                  <a:cubicBezTo>
                    <a:pt x="5080" y="104194"/>
                    <a:pt x="0" y="92764"/>
                    <a:pt x="0" y="78794"/>
                  </a:cubicBezTo>
                  <a:cubicBezTo>
                    <a:pt x="1270" y="61014"/>
                    <a:pt x="16510" y="27994"/>
                    <a:pt x="29210" y="14024"/>
                  </a:cubicBezTo>
                  <a:cubicBezTo>
                    <a:pt x="39370" y="5134"/>
                    <a:pt x="49530" y="54"/>
                    <a:pt x="62230" y="54"/>
                  </a:cubicBezTo>
                  <a:cubicBezTo>
                    <a:pt x="81280" y="-1216"/>
                    <a:pt x="130810" y="20374"/>
                    <a:pt x="130810" y="20374"/>
                  </a:cubicBezTo>
                </a:path>
              </a:pathLst>
            </a:custGeom>
            <a:solidFill>
              <a:srgbClr val="F9FAF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260201" y="4301053"/>
            <a:ext cx="200675" cy="196621"/>
            <a:chOff x="0" y="0"/>
            <a:chExt cx="251460" cy="2463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637" y="50749"/>
              <a:ext cx="148753" cy="147533"/>
            </a:xfrm>
            <a:custGeom>
              <a:avLst/>
              <a:gdLst/>
              <a:ahLst/>
              <a:cxnLst/>
              <a:rect r="r" b="b" t="t" l="l"/>
              <a:pathLst>
                <a:path h="147533" w="148753">
                  <a:moveTo>
                    <a:pt x="148753" y="52121"/>
                  </a:moveTo>
                  <a:cubicBezTo>
                    <a:pt x="129703" y="133401"/>
                    <a:pt x="119543" y="141021"/>
                    <a:pt x="106843" y="144831"/>
                  </a:cubicBezTo>
                  <a:cubicBezTo>
                    <a:pt x="90333" y="149911"/>
                    <a:pt x="53503" y="147371"/>
                    <a:pt x="36993" y="141021"/>
                  </a:cubicBezTo>
                  <a:cubicBezTo>
                    <a:pt x="24293" y="134671"/>
                    <a:pt x="16673" y="124511"/>
                    <a:pt x="11593" y="114351"/>
                  </a:cubicBezTo>
                  <a:cubicBezTo>
                    <a:pt x="5243" y="104191"/>
                    <a:pt x="-1107" y="92761"/>
                    <a:pt x="163" y="80061"/>
                  </a:cubicBezTo>
                  <a:cubicBezTo>
                    <a:pt x="1433" y="61011"/>
                    <a:pt x="16673" y="27991"/>
                    <a:pt x="29373" y="15291"/>
                  </a:cubicBezTo>
                  <a:cubicBezTo>
                    <a:pt x="38263" y="6401"/>
                    <a:pt x="49693" y="1321"/>
                    <a:pt x="62393" y="51"/>
                  </a:cubicBezTo>
                  <a:cubicBezTo>
                    <a:pt x="81443" y="-1219"/>
                    <a:pt x="129703" y="21641"/>
                    <a:pt x="129703" y="21641"/>
                  </a:cubicBezTo>
                </a:path>
              </a:pathLst>
            </a:custGeom>
            <a:solidFill>
              <a:srgbClr val="F9FAF5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3232137" y="4005598"/>
            <a:ext cx="697515" cy="697515"/>
          </a:xfrm>
          <a:custGeom>
            <a:avLst/>
            <a:gdLst/>
            <a:ahLst/>
            <a:cxnLst/>
            <a:rect r="r" b="b" t="t" l="l"/>
            <a:pathLst>
              <a:path h="697515" w="697515">
                <a:moveTo>
                  <a:pt x="0" y="0"/>
                </a:moveTo>
                <a:lnTo>
                  <a:pt x="697515" y="0"/>
                </a:lnTo>
                <a:lnTo>
                  <a:pt x="697515" y="697515"/>
                </a:lnTo>
                <a:lnTo>
                  <a:pt x="0" y="6975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83100" y="7585671"/>
            <a:ext cx="1133815" cy="826268"/>
          </a:xfrm>
          <a:custGeom>
            <a:avLst/>
            <a:gdLst/>
            <a:ahLst/>
            <a:cxnLst/>
            <a:rect r="r" b="b" t="t" l="l"/>
            <a:pathLst>
              <a:path h="826268" w="1133815">
                <a:moveTo>
                  <a:pt x="0" y="0"/>
                </a:moveTo>
                <a:lnTo>
                  <a:pt x="1133815" y="0"/>
                </a:lnTo>
                <a:lnTo>
                  <a:pt x="1133815" y="826267"/>
                </a:lnTo>
                <a:lnTo>
                  <a:pt x="0" y="826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538767" y="4033421"/>
            <a:ext cx="858640" cy="811805"/>
          </a:xfrm>
          <a:custGeom>
            <a:avLst/>
            <a:gdLst/>
            <a:ahLst/>
            <a:cxnLst/>
            <a:rect r="r" b="b" t="t" l="l"/>
            <a:pathLst>
              <a:path h="811805" w="858640">
                <a:moveTo>
                  <a:pt x="0" y="0"/>
                </a:moveTo>
                <a:lnTo>
                  <a:pt x="858640" y="0"/>
                </a:lnTo>
                <a:lnTo>
                  <a:pt x="858640" y="811805"/>
                </a:lnTo>
                <a:lnTo>
                  <a:pt x="0" y="8118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27588" y="3271889"/>
            <a:ext cx="3165958" cy="42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b="true" sz="223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100대 명산 등산로 테이블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33115" y="5118387"/>
            <a:ext cx="2954904" cy="98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[등산로 구분, 코스 유형,</a:t>
            </a:r>
          </a:p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최고 고도, 시간, 위/경도,</a:t>
            </a:r>
          </a:p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난이도, 난이도 지수]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36072" y="3271889"/>
            <a:ext cx="3283779" cy="42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b="true" sz="223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버스 정류장 테이블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94555" y="4807196"/>
            <a:ext cx="3166813" cy="15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[등산로 구분, 코스 유형,</a:t>
            </a:r>
          </a:p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코스출발지/도착지</a:t>
            </a:r>
          </a:p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(가까운 버스정류장 이름, 도시코드, 위경도, 정류장까지의거리),</a:t>
            </a:r>
          </a:p>
          <a:p>
            <a:pPr algn="ctr">
              <a:lnSpc>
                <a:spcPts val="2537"/>
              </a:lnSpc>
              <a:spcBef>
                <a:spcPct val="0"/>
              </a:spcBef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접근성지수-버스]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78729" y="3271889"/>
            <a:ext cx="3283779" cy="42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b="true" sz="223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주차장 테이블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23510" y="5118387"/>
            <a:ext cx="3114770" cy="98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[산 이름 , 등산로 구분, 코스 유형, 장소id, 이름, 카테고리, 위도,</a:t>
            </a:r>
          </a:p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경도, 거리, 주소]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508118" y="6893689"/>
            <a:ext cx="3283779" cy="42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b="true" sz="223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관광인프라 지수 테이블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32967" y="8738891"/>
            <a:ext cx="3034080" cy="98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[산이름, 등산로 구분, 코스유형, 장소id, 장소 이름, 카테고리,</a:t>
            </a:r>
          </a:p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1702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위도, 경도, 거리, 주소]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75512" y="6873419"/>
            <a:ext cx="3283779" cy="42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b="true" sz="223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매력지수 산정 테이블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55754" y="8696222"/>
            <a:ext cx="3346017" cy="107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5"/>
              </a:lnSpc>
              <a:spcBef>
                <a:spcPct val="0"/>
              </a:spcBef>
            </a:pPr>
            <a:r>
              <a:rPr lang="en-US" sz="1821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[산이름, 최종점수, 전경 점수,</a:t>
            </a:r>
          </a:p>
          <a:p>
            <a:pPr algn="ctr">
              <a:lnSpc>
                <a:spcPts val="2895"/>
              </a:lnSpc>
              <a:spcBef>
                <a:spcPct val="0"/>
              </a:spcBef>
            </a:pPr>
            <a:r>
              <a:rPr lang="en-US" sz="1821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힐링 점수, 사진 점수,</a:t>
            </a:r>
          </a:p>
          <a:p>
            <a:pPr algn="ctr">
              <a:lnSpc>
                <a:spcPts val="2895"/>
              </a:lnSpc>
              <a:spcBef>
                <a:spcPct val="0"/>
              </a:spcBef>
            </a:pPr>
            <a:r>
              <a:rPr lang="en-US" sz="1821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관리 점수, 재미 점수, 계절 점수]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85708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157918" y="607761"/>
            <a:ext cx="441118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0985080" y="7613490"/>
            <a:ext cx="893649" cy="830332"/>
          </a:xfrm>
          <a:custGeom>
            <a:avLst/>
            <a:gdLst/>
            <a:ahLst/>
            <a:cxnLst/>
            <a:rect r="r" b="b" t="t" l="l"/>
            <a:pathLst>
              <a:path h="830332" w="893649">
                <a:moveTo>
                  <a:pt x="0" y="0"/>
                </a:moveTo>
                <a:lnTo>
                  <a:pt x="893649" y="0"/>
                </a:lnTo>
                <a:lnTo>
                  <a:pt x="893649" y="830331"/>
                </a:lnTo>
                <a:lnTo>
                  <a:pt x="0" y="8303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1943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최종 데이터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0" y="1998578"/>
            <a:ext cx="18288000" cy="792734"/>
            <a:chOff x="0" y="0"/>
            <a:chExt cx="4816593" cy="20878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16592" cy="208786"/>
            </a:xfrm>
            <a:custGeom>
              <a:avLst/>
              <a:gdLst/>
              <a:ahLst/>
              <a:cxnLst/>
              <a:rect r="r" b="b" t="t" l="l"/>
              <a:pathLst>
                <a:path h="208786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204553"/>
                  </a:lnTo>
                  <a:cubicBezTo>
                    <a:pt x="4816592" y="205675"/>
                    <a:pt x="4816146" y="206752"/>
                    <a:pt x="4815353" y="207546"/>
                  </a:cubicBezTo>
                  <a:cubicBezTo>
                    <a:pt x="4814558" y="208340"/>
                    <a:pt x="4813482" y="208786"/>
                    <a:pt x="4812359" y="208786"/>
                  </a:cubicBezTo>
                  <a:lnTo>
                    <a:pt x="4233" y="208786"/>
                  </a:lnTo>
                  <a:cubicBezTo>
                    <a:pt x="3111" y="208786"/>
                    <a:pt x="2034" y="208340"/>
                    <a:pt x="1240" y="207546"/>
                  </a:cubicBezTo>
                  <a:cubicBezTo>
                    <a:pt x="446" y="206752"/>
                    <a:pt x="0" y="205675"/>
                    <a:pt x="0" y="204553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4816593" cy="256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197057" y="3659952"/>
            <a:ext cx="7901424" cy="5149521"/>
            <a:chOff x="0" y="0"/>
            <a:chExt cx="10535232" cy="686602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203936"/>
              <a:ext cx="3147109" cy="3662091"/>
              <a:chOff x="0" y="0"/>
              <a:chExt cx="6985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6EE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39700"/>
                <a:ext cx="698500" cy="533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879929" y="0"/>
              <a:ext cx="3147109" cy="3662091"/>
              <a:chOff x="0" y="0"/>
              <a:chExt cx="6985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6EE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39700"/>
                <a:ext cx="698500" cy="533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674625" y="3203936"/>
              <a:ext cx="3147109" cy="3662091"/>
              <a:chOff x="0" y="0"/>
              <a:chExt cx="6985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6EE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39700"/>
                <a:ext cx="698500" cy="533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539754" y="695"/>
              <a:ext cx="3147109" cy="3662091"/>
              <a:chOff x="0" y="0"/>
              <a:chExt cx="6985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6EE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39700"/>
                <a:ext cx="698500" cy="533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388122" y="3178716"/>
              <a:ext cx="3147109" cy="3662091"/>
              <a:chOff x="0" y="0"/>
              <a:chExt cx="6985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solidFill>
                <a:srgbClr val="F6EE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39700"/>
                <a:ext cx="698500" cy="533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95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108533" y="5220610"/>
              <a:ext cx="930044" cy="930044"/>
            </a:xfrm>
            <a:custGeom>
              <a:avLst/>
              <a:gdLst/>
              <a:ahLst/>
              <a:cxnLst/>
              <a:rect r="r" b="b" t="t" l="l"/>
              <a:pathLst>
                <a:path h="930044" w="930044">
                  <a:moveTo>
                    <a:pt x="0" y="0"/>
                  </a:moveTo>
                  <a:lnTo>
                    <a:pt x="930044" y="0"/>
                  </a:lnTo>
                  <a:lnTo>
                    <a:pt x="930044" y="930045"/>
                  </a:lnTo>
                  <a:lnTo>
                    <a:pt x="0" y="930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895997" y="1859855"/>
              <a:ext cx="1114974" cy="1114974"/>
            </a:xfrm>
            <a:custGeom>
              <a:avLst/>
              <a:gdLst/>
              <a:ahLst/>
              <a:cxnLst/>
              <a:rect r="r" b="b" t="t" l="l"/>
              <a:pathLst>
                <a:path h="1114974" w="1114974">
                  <a:moveTo>
                    <a:pt x="0" y="0"/>
                  </a:moveTo>
                  <a:lnTo>
                    <a:pt x="1114974" y="0"/>
                  </a:lnTo>
                  <a:lnTo>
                    <a:pt x="1114974" y="1114975"/>
                  </a:lnTo>
                  <a:lnTo>
                    <a:pt x="0" y="1114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636586" y="4929815"/>
              <a:ext cx="1220839" cy="1220839"/>
            </a:xfrm>
            <a:custGeom>
              <a:avLst/>
              <a:gdLst/>
              <a:ahLst/>
              <a:cxnLst/>
              <a:rect r="r" b="b" t="t" l="l"/>
              <a:pathLst>
                <a:path h="1220839" w="1220839">
                  <a:moveTo>
                    <a:pt x="0" y="0"/>
                  </a:moveTo>
                  <a:lnTo>
                    <a:pt x="1220840" y="0"/>
                  </a:lnTo>
                  <a:lnTo>
                    <a:pt x="1220840" y="1220840"/>
                  </a:lnTo>
                  <a:lnTo>
                    <a:pt x="0" y="1220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8336130" y="4771779"/>
              <a:ext cx="1369250" cy="1378876"/>
            </a:xfrm>
            <a:custGeom>
              <a:avLst/>
              <a:gdLst/>
              <a:ahLst/>
              <a:cxnLst/>
              <a:rect r="r" b="b" t="t" l="l"/>
              <a:pathLst>
                <a:path h="1378876" w="1369250">
                  <a:moveTo>
                    <a:pt x="0" y="0"/>
                  </a:moveTo>
                  <a:lnTo>
                    <a:pt x="1369250" y="0"/>
                  </a:lnTo>
                  <a:lnTo>
                    <a:pt x="1369250" y="1378876"/>
                  </a:lnTo>
                  <a:lnTo>
                    <a:pt x="0" y="137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1" t="0" r="-351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95922" y="1846824"/>
              <a:ext cx="1482152" cy="1067149"/>
            </a:xfrm>
            <a:custGeom>
              <a:avLst/>
              <a:gdLst/>
              <a:ahLst/>
              <a:cxnLst/>
              <a:rect r="r" b="b" t="t" l="l"/>
              <a:pathLst>
                <a:path h="1067149" w="1482152">
                  <a:moveTo>
                    <a:pt x="0" y="0"/>
                  </a:moveTo>
                  <a:lnTo>
                    <a:pt x="1482152" y="0"/>
                  </a:lnTo>
                  <a:lnTo>
                    <a:pt x="1482152" y="1067150"/>
                  </a:lnTo>
                  <a:lnTo>
                    <a:pt x="0" y="1067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887378" y="4127239"/>
              <a:ext cx="1372354" cy="403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2"/>
                </a:lnSpc>
                <a:spcBef>
                  <a:spcPct val="0"/>
                </a:spcBef>
              </a:pPr>
              <a:r>
                <a:rPr lang="en-US" b="true" sz="2010" spc="20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산행 경험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73766" y="4643715"/>
              <a:ext cx="2399577" cy="321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5"/>
                </a:lnSpc>
                <a:spcBef>
                  <a:spcPct val="0"/>
                </a:spcBef>
              </a:pPr>
              <a:r>
                <a:rPr lang="en-US" sz="1621" spc="16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등산로 관리 + 성취감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649828" y="818237"/>
              <a:ext cx="1607312" cy="403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2"/>
                </a:lnSpc>
                <a:spcBef>
                  <a:spcPct val="0"/>
                </a:spcBef>
              </a:pPr>
              <a:r>
                <a:rPr lang="en-US" b="true" sz="2010" spc="20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관광편의성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242015" y="1313591"/>
              <a:ext cx="2422937" cy="321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5"/>
                </a:lnSpc>
                <a:spcBef>
                  <a:spcPct val="0"/>
                </a:spcBef>
              </a:pPr>
              <a:r>
                <a:rPr lang="en-US" sz="1621" spc="16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관광 인프라 + 접근성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429674" y="818237"/>
              <a:ext cx="1367270" cy="403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2"/>
                </a:lnSpc>
                <a:spcBef>
                  <a:spcPct val="0"/>
                </a:spcBef>
              </a:pPr>
              <a:r>
                <a:rPr lang="en-US" b="true" sz="2010" spc="20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경관 감성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372615" y="1334713"/>
              <a:ext cx="1481388" cy="321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45"/>
                </a:lnSpc>
                <a:spcBef>
                  <a:spcPct val="0"/>
                </a:spcBef>
              </a:pPr>
              <a:r>
                <a:rPr lang="en-US" sz="1621" spc="16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전망 + 사진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563841" y="3974839"/>
              <a:ext cx="1366329" cy="558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024" spc="60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계절매력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235763" y="4033380"/>
              <a:ext cx="1451829" cy="558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024" spc="60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힐링 안정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57918" y="607761"/>
            <a:ext cx="3239489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705468" y="9003560"/>
            <a:ext cx="8884602" cy="730904"/>
            <a:chOff x="0" y="0"/>
            <a:chExt cx="11846135" cy="97453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1846135" cy="974539"/>
              <a:chOff x="0" y="0"/>
              <a:chExt cx="2339977" cy="19250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339977" cy="192502"/>
              </a:xfrm>
              <a:custGeom>
                <a:avLst/>
                <a:gdLst/>
                <a:ahLst/>
                <a:cxnLst/>
                <a:rect r="r" b="b" t="t" l="l"/>
                <a:pathLst>
                  <a:path h="192502" w="2339977">
                    <a:moveTo>
                      <a:pt x="27884" y="0"/>
                    </a:moveTo>
                    <a:lnTo>
                      <a:pt x="2312093" y="0"/>
                    </a:lnTo>
                    <a:cubicBezTo>
                      <a:pt x="2319488" y="0"/>
                      <a:pt x="2326581" y="2938"/>
                      <a:pt x="2331810" y="8167"/>
                    </a:cubicBezTo>
                    <a:cubicBezTo>
                      <a:pt x="2337040" y="13396"/>
                      <a:pt x="2339977" y="20489"/>
                      <a:pt x="2339977" y="27884"/>
                    </a:cubicBezTo>
                    <a:lnTo>
                      <a:pt x="2339977" y="164617"/>
                    </a:lnTo>
                    <a:cubicBezTo>
                      <a:pt x="2339977" y="180017"/>
                      <a:pt x="2327493" y="192502"/>
                      <a:pt x="2312093" y="192502"/>
                    </a:cubicBezTo>
                    <a:lnTo>
                      <a:pt x="27884" y="192502"/>
                    </a:lnTo>
                    <a:cubicBezTo>
                      <a:pt x="12484" y="192502"/>
                      <a:pt x="0" y="180017"/>
                      <a:pt x="0" y="164617"/>
                    </a:cubicBezTo>
                    <a:lnTo>
                      <a:pt x="0" y="27884"/>
                    </a:lnTo>
                    <a:cubicBezTo>
                      <a:pt x="0" y="12484"/>
                      <a:pt x="12484" y="0"/>
                      <a:pt x="27884" y="0"/>
                    </a:cubicBezTo>
                    <a:close/>
                  </a:path>
                </a:pathLst>
              </a:custGeom>
              <a:solidFill>
                <a:srgbClr val="EFEFE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47625"/>
                <a:ext cx="2339977" cy="240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58843" y="284069"/>
              <a:ext cx="1012844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5"/>
                </a:lnSpc>
                <a:spcBef>
                  <a:spcPct val="0"/>
                </a:spcBef>
              </a:pPr>
              <a:r>
                <a:rPr lang="en-US" b="true" sz="2029" spc="20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추천시스템에 적합한 해석력과 분석 효율을 위해 선정한 5개 핵심 피처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042" y="2815306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피처(Feature) 선정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96923" y="4300537"/>
            <a:ext cx="6054704" cy="4792210"/>
            <a:chOff x="0" y="0"/>
            <a:chExt cx="1594655" cy="1262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4655" cy="1262146"/>
            </a:xfrm>
            <a:custGeom>
              <a:avLst/>
              <a:gdLst/>
              <a:ahLst/>
              <a:cxnLst/>
              <a:rect r="r" b="b" t="t" l="l"/>
              <a:pathLst>
                <a:path h="1262146" w="1594655">
                  <a:moveTo>
                    <a:pt x="21737" y="0"/>
                  </a:moveTo>
                  <a:lnTo>
                    <a:pt x="1572917" y="0"/>
                  </a:lnTo>
                  <a:cubicBezTo>
                    <a:pt x="1578683" y="0"/>
                    <a:pt x="1584211" y="2290"/>
                    <a:pt x="1588288" y="6367"/>
                  </a:cubicBezTo>
                  <a:cubicBezTo>
                    <a:pt x="1592365" y="10443"/>
                    <a:pt x="1594655" y="15972"/>
                    <a:pt x="1594655" y="21737"/>
                  </a:cubicBezTo>
                  <a:lnTo>
                    <a:pt x="1594655" y="1240408"/>
                  </a:lnTo>
                  <a:cubicBezTo>
                    <a:pt x="1594655" y="1246174"/>
                    <a:pt x="1592365" y="1251702"/>
                    <a:pt x="1588288" y="1255779"/>
                  </a:cubicBezTo>
                  <a:cubicBezTo>
                    <a:pt x="1584211" y="1259856"/>
                    <a:pt x="1578683" y="1262146"/>
                    <a:pt x="1572917" y="1262146"/>
                  </a:cubicBezTo>
                  <a:lnTo>
                    <a:pt x="21737" y="1262146"/>
                  </a:lnTo>
                  <a:cubicBezTo>
                    <a:pt x="15972" y="1262146"/>
                    <a:pt x="10443" y="1259856"/>
                    <a:pt x="6367" y="1255779"/>
                  </a:cubicBezTo>
                  <a:cubicBezTo>
                    <a:pt x="2290" y="1251702"/>
                    <a:pt x="0" y="1246174"/>
                    <a:pt x="0" y="1240408"/>
                  </a:cubicBezTo>
                  <a:lnTo>
                    <a:pt x="0" y="21737"/>
                  </a:lnTo>
                  <a:cubicBezTo>
                    <a:pt x="0" y="15972"/>
                    <a:pt x="2290" y="10443"/>
                    <a:pt x="6367" y="6367"/>
                  </a:cubicBezTo>
                  <a:cubicBezTo>
                    <a:pt x="10443" y="2290"/>
                    <a:pt x="15972" y="0"/>
                    <a:pt x="217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94655" cy="1262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36372" y="4300537"/>
            <a:ext cx="6054704" cy="4792210"/>
            <a:chOff x="0" y="0"/>
            <a:chExt cx="1594655" cy="12621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4655" cy="1262146"/>
            </a:xfrm>
            <a:custGeom>
              <a:avLst/>
              <a:gdLst/>
              <a:ahLst/>
              <a:cxnLst/>
              <a:rect r="r" b="b" t="t" l="l"/>
              <a:pathLst>
                <a:path h="1262146" w="1594655">
                  <a:moveTo>
                    <a:pt x="21737" y="0"/>
                  </a:moveTo>
                  <a:lnTo>
                    <a:pt x="1572917" y="0"/>
                  </a:lnTo>
                  <a:cubicBezTo>
                    <a:pt x="1578683" y="0"/>
                    <a:pt x="1584211" y="2290"/>
                    <a:pt x="1588288" y="6367"/>
                  </a:cubicBezTo>
                  <a:cubicBezTo>
                    <a:pt x="1592365" y="10443"/>
                    <a:pt x="1594655" y="15972"/>
                    <a:pt x="1594655" y="21737"/>
                  </a:cubicBezTo>
                  <a:lnTo>
                    <a:pt x="1594655" y="1240408"/>
                  </a:lnTo>
                  <a:cubicBezTo>
                    <a:pt x="1594655" y="1246174"/>
                    <a:pt x="1592365" y="1251702"/>
                    <a:pt x="1588288" y="1255779"/>
                  </a:cubicBezTo>
                  <a:cubicBezTo>
                    <a:pt x="1584211" y="1259856"/>
                    <a:pt x="1578683" y="1262146"/>
                    <a:pt x="1572917" y="1262146"/>
                  </a:cubicBezTo>
                  <a:lnTo>
                    <a:pt x="21737" y="1262146"/>
                  </a:lnTo>
                  <a:cubicBezTo>
                    <a:pt x="15972" y="1262146"/>
                    <a:pt x="10443" y="1259856"/>
                    <a:pt x="6367" y="1255779"/>
                  </a:cubicBezTo>
                  <a:cubicBezTo>
                    <a:pt x="2290" y="1251702"/>
                    <a:pt x="0" y="1246174"/>
                    <a:pt x="0" y="1240408"/>
                  </a:cubicBezTo>
                  <a:lnTo>
                    <a:pt x="0" y="21737"/>
                  </a:lnTo>
                  <a:cubicBezTo>
                    <a:pt x="0" y="15972"/>
                    <a:pt x="2290" y="10443"/>
                    <a:pt x="6367" y="6367"/>
                  </a:cubicBezTo>
                  <a:cubicBezTo>
                    <a:pt x="10443" y="2290"/>
                    <a:pt x="15972" y="0"/>
                    <a:pt x="2173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94655" cy="1262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33146" y="4550844"/>
            <a:ext cx="243758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303" spc="23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유클리드 거리</a:t>
            </a:r>
          </a:p>
          <a:p>
            <a:pPr algn="l">
              <a:lnSpc>
                <a:spcPts val="2763"/>
              </a:lnSpc>
            </a:pPr>
            <a:r>
              <a:rPr lang="en-US" sz="2303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StandardScaler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8198" y="4550844"/>
            <a:ext cx="396636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  <a:spcBef>
                <a:spcPct val="0"/>
              </a:spcBef>
            </a:pPr>
            <a:r>
              <a:rPr lang="en-US" b="true" sz="2303" spc="2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코사인 유사도</a:t>
            </a:r>
          </a:p>
          <a:p>
            <a:pPr algn="l">
              <a:lnSpc>
                <a:spcPts val="2763"/>
              </a:lnSpc>
              <a:spcBef>
                <a:spcPct val="0"/>
              </a:spcBef>
            </a:pPr>
            <a:r>
              <a:rPr lang="en-US" sz="2303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StandardScaler + L2정규화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88765" y="5941494"/>
            <a:ext cx="5071021" cy="258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b="true" sz="2003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변환 방법: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각 변수를 평균 0, 표준편차 1로 표준화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변수 간 스케일 차이 제거</a:t>
            </a:r>
          </a:p>
          <a:p>
            <a:pPr algn="l">
              <a:lnSpc>
                <a:spcPts val="2604"/>
              </a:lnSpc>
            </a:pPr>
          </a:p>
          <a:p>
            <a:pPr algn="l">
              <a:lnSpc>
                <a:spcPts val="2604"/>
              </a:lnSpc>
            </a:pPr>
            <a:r>
              <a:rPr lang="en-US" b="true" sz="2003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특징:</a:t>
            </a:r>
          </a:p>
          <a:p>
            <a:pPr algn="l">
              <a:lnSpc>
                <a:spcPts val="2604"/>
              </a:lnSpc>
            </a:pPr>
            <a:r>
              <a:rPr lang="en-US" b="true" sz="2003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절대적 크기 차이 중시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실제 점수 차이 반영 (예: 난이도 30점 vs 80점)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군집 간 명확한 경계선 형성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9203" y="5779569"/>
            <a:ext cx="5209042" cy="290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b="true" sz="2003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변환 방법: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표준화 후 벡터를 단위 길이로 정규화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방향성(패턴) 강조</a:t>
            </a:r>
          </a:p>
          <a:p>
            <a:pPr algn="l">
              <a:lnSpc>
                <a:spcPts val="2604"/>
              </a:lnSpc>
            </a:pPr>
          </a:p>
          <a:p>
            <a:pPr algn="l">
              <a:lnSpc>
                <a:spcPts val="2604"/>
              </a:lnSpc>
            </a:pPr>
            <a:r>
              <a:rPr lang="en-US" b="true" sz="2003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특징:</a:t>
            </a:r>
          </a:p>
          <a:p>
            <a:pPr algn="l">
              <a:lnSpc>
                <a:spcPts val="2604"/>
              </a:lnSpc>
            </a:pPr>
            <a:r>
              <a:rPr lang="en-US" b="true" sz="2003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패턴 유사성 중시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절댓값보다 변수 간 상대적 비율 중요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유사한 특성 프로필 그룹화</a:t>
            </a:r>
          </a:p>
          <a:p>
            <a:pPr algn="l">
              <a:lnSpc>
                <a:spcPts val="2604"/>
              </a:lnSpc>
            </a:pPr>
            <a:r>
              <a:rPr lang="en-US" sz="2003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(예: 전망↑접근성↓ vs 전망↓접근성↑)</a:t>
            </a:r>
          </a:p>
        </p:txBody>
      </p:sp>
      <p:sp>
        <p:nvSpPr>
          <p:cNvPr name="AutoShape 15" id="15"/>
          <p:cNvSpPr/>
          <p:nvPr/>
        </p:nvSpPr>
        <p:spPr>
          <a:xfrm>
            <a:off x="2780653" y="5465244"/>
            <a:ext cx="5674413" cy="0"/>
          </a:xfrm>
          <a:prstGeom prst="line">
            <a:avLst/>
          </a:prstGeom>
          <a:ln cap="flat" w="95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817430" y="5465244"/>
            <a:ext cx="5674413" cy="0"/>
          </a:xfrm>
          <a:prstGeom prst="line">
            <a:avLst/>
          </a:prstGeom>
          <a:ln cap="flat" w="95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49042" y="2815306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데이터 스케일링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84220" y="4828614"/>
            <a:ext cx="4705614" cy="3374507"/>
            <a:chOff x="0" y="0"/>
            <a:chExt cx="1239339" cy="8887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9339" cy="888759"/>
            </a:xfrm>
            <a:custGeom>
              <a:avLst/>
              <a:gdLst/>
              <a:ahLst/>
              <a:cxnLst/>
              <a:rect r="r" b="b" t="t" l="l"/>
              <a:pathLst>
                <a:path h="888759" w="1239339">
                  <a:moveTo>
                    <a:pt x="27969" y="0"/>
                  </a:moveTo>
                  <a:lnTo>
                    <a:pt x="1211369" y="0"/>
                  </a:lnTo>
                  <a:cubicBezTo>
                    <a:pt x="1218787" y="0"/>
                    <a:pt x="1225902" y="2947"/>
                    <a:pt x="1231147" y="8192"/>
                  </a:cubicBezTo>
                  <a:cubicBezTo>
                    <a:pt x="1236392" y="13437"/>
                    <a:pt x="1239339" y="20551"/>
                    <a:pt x="1239339" y="27969"/>
                  </a:cubicBezTo>
                  <a:lnTo>
                    <a:pt x="1239339" y="860790"/>
                  </a:lnTo>
                  <a:cubicBezTo>
                    <a:pt x="1239339" y="868208"/>
                    <a:pt x="1236392" y="875322"/>
                    <a:pt x="1231147" y="880567"/>
                  </a:cubicBezTo>
                  <a:cubicBezTo>
                    <a:pt x="1225902" y="885812"/>
                    <a:pt x="1218787" y="888759"/>
                    <a:pt x="1211369" y="888759"/>
                  </a:cubicBezTo>
                  <a:lnTo>
                    <a:pt x="27969" y="888759"/>
                  </a:lnTo>
                  <a:cubicBezTo>
                    <a:pt x="20551" y="888759"/>
                    <a:pt x="13437" y="885812"/>
                    <a:pt x="8192" y="880567"/>
                  </a:cubicBezTo>
                  <a:cubicBezTo>
                    <a:pt x="2947" y="875322"/>
                    <a:pt x="0" y="868208"/>
                    <a:pt x="0" y="860790"/>
                  </a:cubicBezTo>
                  <a:lnTo>
                    <a:pt x="0" y="27969"/>
                  </a:lnTo>
                  <a:cubicBezTo>
                    <a:pt x="0" y="20551"/>
                    <a:pt x="2947" y="13437"/>
                    <a:pt x="8192" y="8192"/>
                  </a:cubicBezTo>
                  <a:cubicBezTo>
                    <a:pt x="13437" y="2947"/>
                    <a:pt x="20551" y="0"/>
                    <a:pt x="279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39339" cy="888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1340" y="5317978"/>
            <a:ext cx="397515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b="true" sz="3303" spc="33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1단계 </a:t>
            </a:r>
          </a:p>
          <a:p>
            <a:pPr algn="ctr">
              <a:lnSpc>
                <a:spcPts val="3123"/>
              </a:lnSpc>
            </a:pPr>
          </a:p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603" spc="26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Kruskal-Wallis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9450" y="7156303"/>
            <a:ext cx="397515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603" spc="26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차이가 있는가?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794496" y="4828614"/>
            <a:ext cx="4705614" cy="3374507"/>
            <a:chOff x="0" y="0"/>
            <a:chExt cx="1239339" cy="8887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9339" cy="888759"/>
            </a:xfrm>
            <a:custGeom>
              <a:avLst/>
              <a:gdLst/>
              <a:ahLst/>
              <a:cxnLst/>
              <a:rect r="r" b="b" t="t" l="l"/>
              <a:pathLst>
                <a:path h="888759" w="1239339">
                  <a:moveTo>
                    <a:pt x="27969" y="0"/>
                  </a:moveTo>
                  <a:lnTo>
                    <a:pt x="1211369" y="0"/>
                  </a:lnTo>
                  <a:cubicBezTo>
                    <a:pt x="1218787" y="0"/>
                    <a:pt x="1225902" y="2947"/>
                    <a:pt x="1231147" y="8192"/>
                  </a:cubicBezTo>
                  <a:cubicBezTo>
                    <a:pt x="1236392" y="13437"/>
                    <a:pt x="1239339" y="20551"/>
                    <a:pt x="1239339" y="27969"/>
                  </a:cubicBezTo>
                  <a:lnTo>
                    <a:pt x="1239339" y="860790"/>
                  </a:lnTo>
                  <a:cubicBezTo>
                    <a:pt x="1239339" y="868208"/>
                    <a:pt x="1236392" y="875322"/>
                    <a:pt x="1231147" y="880567"/>
                  </a:cubicBezTo>
                  <a:cubicBezTo>
                    <a:pt x="1225902" y="885812"/>
                    <a:pt x="1218787" y="888759"/>
                    <a:pt x="1211369" y="888759"/>
                  </a:cubicBezTo>
                  <a:lnTo>
                    <a:pt x="27969" y="888759"/>
                  </a:lnTo>
                  <a:cubicBezTo>
                    <a:pt x="20551" y="888759"/>
                    <a:pt x="13437" y="885812"/>
                    <a:pt x="8192" y="880567"/>
                  </a:cubicBezTo>
                  <a:cubicBezTo>
                    <a:pt x="2947" y="875322"/>
                    <a:pt x="0" y="868208"/>
                    <a:pt x="0" y="860790"/>
                  </a:cubicBezTo>
                  <a:lnTo>
                    <a:pt x="0" y="27969"/>
                  </a:lnTo>
                  <a:cubicBezTo>
                    <a:pt x="0" y="20551"/>
                    <a:pt x="2947" y="13437"/>
                    <a:pt x="8192" y="8192"/>
                  </a:cubicBezTo>
                  <a:cubicBezTo>
                    <a:pt x="13437" y="2947"/>
                    <a:pt x="20551" y="0"/>
                    <a:pt x="279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239339" cy="888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171615" y="5317978"/>
            <a:ext cx="397515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b="true" sz="3303" spc="33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  <a:r>
              <a:rPr lang="en-US" b="true" sz="3303" spc="33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단계 </a:t>
            </a:r>
          </a:p>
          <a:p>
            <a:pPr algn="ctr">
              <a:lnSpc>
                <a:spcPts val="3123"/>
              </a:lnSpc>
            </a:pPr>
          </a:p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603" spc="26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</a:t>
            </a:r>
            <a:r>
              <a:rPr lang="en-US" b="true" sz="2603" spc="26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unn + Bonferroni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71615" y="7156303"/>
            <a:ext cx="397515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603" spc="26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어떤 군집이 다른가?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04961" y="4828614"/>
            <a:ext cx="4705614" cy="3374507"/>
            <a:chOff x="0" y="0"/>
            <a:chExt cx="1239339" cy="8887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9339" cy="888759"/>
            </a:xfrm>
            <a:custGeom>
              <a:avLst/>
              <a:gdLst/>
              <a:ahLst/>
              <a:cxnLst/>
              <a:rect r="r" b="b" t="t" l="l"/>
              <a:pathLst>
                <a:path h="888759" w="1239339">
                  <a:moveTo>
                    <a:pt x="27969" y="0"/>
                  </a:moveTo>
                  <a:lnTo>
                    <a:pt x="1211369" y="0"/>
                  </a:lnTo>
                  <a:cubicBezTo>
                    <a:pt x="1218787" y="0"/>
                    <a:pt x="1225902" y="2947"/>
                    <a:pt x="1231147" y="8192"/>
                  </a:cubicBezTo>
                  <a:cubicBezTo>
                    <a:pt x="1236392" y="13437"/>
                    <a:pt x="1239339" y="20551"/>
                    <a:pt x="1239339" y="27969"/>
                  </a:cubicBezTo>
                  <a:lnTo>
                    <a:pt x="1239339" y="860790"/>
                  </a:lnTo>
                  <a:cubicBezTo>
                    <a:pt x="1239339" y="868208"/>
                    <a:pt x="1236392" y="875322"/>
                    <a:pt x="1231147" y="880567"/>
                  </a:cubicBezTo>
                  <a:cubicBezTo>
                    <a:pt x="1225902" y="885812"/>
                    <a:pt x="1218787" y="888759"/>
                    <a:pt x="1211369" y="888759"/>
                  </a:cubicBezTo>
                  <a:lnTo>
                    <a:pt x="27969" y="888759"/>
                  </a:lnTo>
                  <a:cubicBezTo>
                    <a:pt x="20551" y="888759"/>
                    <a:pt x="13437" y="885812"/>
                    <a:pt x="8192" y="880567"/>
                  </a:cubicBezTo>
                  <a:cubicBezTo>
                    <a:pt x="2947" y="875322"/>
                    <a:pt x="0" y="868208"/>
                    <a:pt x="0" y="860790"/>
                  </a:cubicBezTo>
                  <a:lnTo>
                    <a:pt x="0" y="27969"/>
                  </a:lnTo>
                  <a:cubicBezTo>
                    <a:pt x="0" y="20551"/>
                    <a:pt x="2947" y="13437"/>
                    <a:pt x="8192" y="8192"/>
                  </a:cubicBezTo>
                  <a:cubicBezTo>
                    <a:pt x="13437" y="2947"/>
                    <a:pt x="20551" y="0"/>
                    <a:pt x="27969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239339" cy="888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582080" y="5317978"/>
            <a:ext cx="397515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b="true" sz="3303" spc="33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</a:t>
            </a:r>
            <a:r>
              <a:rPr lang="en-US" b="true" sz="3303" spc="33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단계 </a:t>
            </a:r>
          </a:p>
          <a:p>
            <a:pPr algn="ctr">
              <a:lnSpc>
                <a:spcPts val="3123"/>
              </a:lnSpc>
            </a:pPr>
          </a:p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603" spc="26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Cliff's D</a:t>
            </a:r>
            <a:r>
              <a:rPr lang="en-US" b="true" sz="2603" spc="26">
                <a:solidFill>
                  <a:srgbClr val="2E2E2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elta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0190" y="7156303"/>
            <a:ext cx="397515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603" spc="26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얼마나 다른가?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49042" y="2815306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3단계 검증 프로세스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174448" y="6188132"/>
            <a:ext cx="534323" cy="655470"/>
            <a:chOff x="0" y="0"/>
            <a:chExt cx="662574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2574" cy="812800"/>
            </a:xfrm>
            <a:custGeom>
              <a:avLst/>
              <a:gdLst/>
              <a:ahLst/>
              <a:cxnLst/>
              <a:rect r="r" b="b" t="t" l="l"/>
              <a:pathLst>
                <a:path h="812800" w="662574">
                  <a:moveTo>
                    <a:pt x="662574" y="406400"/>
                  </a:moveTo>
                  <a:lnTo>
                    <a:pt x="256174" y="0"/>
                  </a:lnTo>
                  <a:lnTo>
                    <a:pt x="25617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56174" y="609600"/>
                  </a:lnTo>
                  <a:lnTo>
                    <a:pt x="256174" y="812800"/>
                  </a:lnTo>
                  <a:lnTo>
                    <a:pt x="662574" y="406400"/>
                  </a:lnTo>
                  <a:close/>
                </a:path>
              </a:pathLst>
            </a:custGeom>
            <a:solidFill>
              <a:srgbClr val="C6DAB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17475"/>
              <a:ext cx="56097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85836" y="6188132"/>
            <a:ext cx="534323" cy="655470"/>
            <a:chOff x="0" y="0"/>
            <a:chExt cx="662574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2574" cy="812800"/>
            </a:xfrm>
            <a:custGeom>
              <a:avLst/>
              <a:gdLst/>
              <a:ahLst/>
              <a:cxnLst/>
              <a:rect r="r" b="b" t="t" l="l"/>
              <a:pathLst>
                <a:path h="812800" w="662574">
                  <a:moveTo>
                    <a:pt x="662574" y="406400"/>
                  </a:moveTo>
                  <a:lnTo>
                    <a:pt x="256174" y="0"/>
                  </a:lnTo>
                  <a:lnTo>
                    <a:pt x="25617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56174" y="609600"/>
                  </a:lnTo>
                  <a:lnTo>
                    <a:pt x="256174" y="812800"/>
                  </a:lnTo>
                  <a:lnTo>
                    <a:pt x="662574" y="406400"/>
                  </a:lnTo>
                  <a:close/>
                </a:path>
              </a:pathLst>
            </a:custGeom>
            <a:solidFill>
              <a:srgbClr val="C6DAB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17475"/>
              <a:ext cx="56097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39851" y="4345441"/>
            <a:ext cx="7698165" cy="5146101"/>
            <a:chOff x="0" y="0"/>
            <a:chExt cx="2027500" cy="13553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7500" cy="1355352"/>
            </a:xfrm>
            <a:custGeom>
              <a:avLst/>
              <a:gdLst/>
              <a:ahLst/>
              <a:cxnLst/>
              <a:rect r="r" b="b" t="t" l="l"/>
              <a:pathLst>
                <a:path h="1355352" w="2027500">
                  <a:moveTo>
                    <a:pt x="17097" y="0"/>
                  </a:moveTo>
                  <a:lnTo>
                    <a:pt x="2010404" y="0"/>
                  </a:lnTo>
                  <a:cubicBezTo>
                    <a:pt x="2014938" y="0"/>
                    <a:pt x="2019287" y="1801"/>
                    <a:pt x="2022493" y="5007"/>
                  </a:cubicBezTo>
                  <a:cubicBezTo>
                    <a:pt x="2025699" y="8214"/>
                    <a:pt x="2027500" y="12562"/>
                    <a:pt x="2027500" y="17097"/>
                  </a:cubicBezTo>
                  <a:lnTo>
                    <a:pt x="2027500" y="1338255"/>
                  </a:lnTo>
                  <a:cubicBezTo>
                    <a:pt x="2027500" y="1347697"/>
                    <a:pt x="2019846" y="1355352"/>
                    <a:pt x="2010404" y="1355352"/>
                  </a:cubicBezTo>
                  <a:lnTo>
                    <a:pt x="17097" y="1355352"/>
                  </a:lnTo>
                  <a:cubicBezTo>
                    <a:pt x="12562" y="1355352"/>
                    <a:pt x="8214" y="1353550"/>
                    <a:pt x="5007" y="1350344"/>
                  </a:cubicBezTo>
                  <a:cubicBezTo>
                    <a:pt x="1801" y="1347138"/>
                    <a:pt x="0" y="1342789"/>
                    <a:pt x="0" y="1338255"/>
                  </a:cubicBezTo>
                  <a:lnTo>
                    <a:pt x="0" y="17097"/>
                  </a:lnTo>
                  <a:cubicBezTo>
                    <a:pt x="0" y="7654"/>
                    <a:pt x="7654" y="0"/>
                    <a:pt x="1709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27500" cy="135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9790" y="4836130"/>
            <a:ext cx="650426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b="true" sz="2803" spc="28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1. </a:t>
            </a:r>
            <a:r>
              <a:rPr lang="en-US" b="true" sz="2803" spc="28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Kruskal-Wallis 검정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49984" y="4345441"/>
            <a:ext cx="7698165" cy="5146101"/>
            <a:chOff x="0" y="0"/>
            <a:chExt cx="2027500" cy="13553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7500" cy="1355352"/>
            </a:xfrm>
            <a:custGeom>
              <a:avLst/>
              <a:gdLst/>
              <a:ahLst/>
              <a:cxnLst/>
              <a:rect r="r" b="b" t="t" l="l"/>
              <a:pathLst>
                <a:path h="1355352" w="2027500">
                  <a:moveTo>
                    <a:pt x="17097" y="0"/>
                  </a:moveTo>
                  <a:lnTo>
                    <a:pt x="2010404" y="0"/>
                  </a:lnTo>
                  <a:cubicBezTo>
                    <a:pt x="2014938" y="0"/>
                    <a:pt x="2019287" y="1801"/>
                    <a:pt x="2022493" y="5007"/>
                  </a:cubicBezTo>
                  <a:cubicBezTo>
                    <a:pt x="2025699" y="8214"/>
                    <a:pt x="2027500" y="12562"/>
                    <a:pt x="2027500" y="17097"/>
                  </a:cubicBezTo>
                  <a:lnTo>
                    <a:pt x="2027500" y="1338255"/>
                  </a:lnTo>
                  <a:cubicBezTo>
                    <a:pt x="2027500" y="1347697"/>
                    <a:pt x="2019846" y="1355352"/>
                    <a:pt x="2010404" y="1355352"/>
                  </a:cubicBezTo>
                  <a:lnTo>
                    <a:pt x="17097" y="1355352"/>
                  </a:lnTo>
                  <a:cubicBezTo>
                    <a:pt x="12562" y="1355352"/>
                    <a:pt x="8214" y="1353550"/>
                    <a:pt x="5007" y="1350344"/>
                  </a:cubicBezTo>
                  <a:cubicBezTo>
                    <a:pt x="1801" y="1347138"/>
                    <a:pt x="0" y="1342789"/>
                    <a:pt x="0" y="1338255"/>
                  </a:cubicBezTo>
                  <a:lnTo>
                    <a:pt x="0" y="17097"/>
                  </a:lnTo>
                  <a:cubicBezTo>
                    <a:pt x="0" y="7654"/>
                    <a:pt x="7654" y="0"/>
                    <a:pt x="17097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027500" cy="1355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78669" y="4836130"/>
            <a:ext cx="641551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b="true" sz="2803" spc="28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2. </a:t>
            </a:r>
            <a:r>
              <a:rPr lang="en-US" b="true" sz="2803" spc="28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Dunn test 사후검정 + holm 보정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0996" y="5306033"/>
            <a:ext cx="6321847" cy="56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b="true" sz="2500" spc="7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목적: 여러 군집 중 적어도 하나가 다른지 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6145" y="6509351"/>
            <a:ext cx="6765727" cy="21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3개 이상 그룹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중앙값 차이를 검정하는 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비모수 검정</a:t>
            </a:r>
          </a:p>
          <a:p>
            <a:pPr algn="l">
              <a:lnSpc>
                <a:spcPts val="4399"/>
              </a:lnSpc>
            </a:pP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정규분포 가정 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불필요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(ANOVA의 비모수 대안)</a:t>
            </a:r>
          </a:p>
          <a:p>
            <a:pPr algn="l">
              <a:lnSpc>
                <a:spcPts val="4399"/>
              </a:lnSpc>
            </a:pP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 &lt; 0.05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: "최소 한 쌍 이상의 군집이 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통계적으로 다름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"</a:t>
            </a:r>
          </a:p>
          <a:p>
            <a:pPr algn="l">
              <a:lnSpc>
                <a:spcPts val="4399"/>
              </a:lnSpc>
            </a:pPr>
            <a:r>
              <a:rPr lang="en-US" b="true" sz="2199" spc="65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한계 :</a:t>
            </a:r>
            <a:r>
              <a:rPr lang="en-US" sz="2199" spc="65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199" spc="65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어떤</a:t>
            </a:r>
            <a:r>
              <a:rPr lang="en-US" sz="2199" spc="65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군집이 다른지는 모름 </a:t>
            </a:r>
            <a:r>
              <a:rPr lang="en-US" b="true" sz="2199" spc="65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→ 사후검정 필요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54869" y="5490176"/>
            <a:ext cx="604227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b="true" sz="2503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목적: 구체적으로 어느 군집 쌍이 다른지 찾기</a:t>
            </a:r>
          </a:p>
          <a:p>
            <a:pPr algn="l">
              <a:lnSpc>
                <a:spcPts val="3003"/>
              </a:lnSpc>
              <a:spcBef>
                <a:spcPct val="0"/>
              </a:spcBef>
            </a:pPr>
            <a:r>
              <a:rPr lang="en-US" b="true" sz="2503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    + 다중비교 오류 통제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78669" y="6509351"/>
            <a:ext cx="6967716" cy="270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199" spc="65" b="true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다중비교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오류 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동일한 검정을 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반복 수행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하므로 전체 분석에서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오류 발생 확률이 증가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함</a:t>
            </a:r>
          </a:p>
          <a:p>
            <a:pPr algn="l">
              <a:lnSpc>
                <a:spcPts val="4399"/>
              </a:lnSpc>
            </a:pP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holm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보정 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전체 분석 수준에서 제1종 오류(</a:t>
            </a:r>
            <a:r>
              <a:rPr lang="en-US" b="true" sz="2199" spc="6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FWER</a:t>
            </a: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)를</a:t>
            </a:r>
          </a:p>
          <a:p>
            <a:pPr algn="l">
              <a:lnSpc>
                <a:spcPts val="4399"/>
              </a:lnSpc>
            </a:pPr>
            <a:r>
              <a:rPr lang="en-US" sz="2199" spc="6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5% 이내로 제어</a:t>
            </a:r>
          </a:p>
          <a:p>
            <a:pPr algn="l">
              <a:lnSpc>
                <a:spcPts val="4399"/>
              </a:lnSpc>
            </a:pPr>
            <a:r>
              <a:rPr lang="en-US" b="true" sz="2199" spc="65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한계: </a:t>
            </a:r>
            <a:r>
              <a:rPr lang="en-US" sz="2199" spc="65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차</a:t>
            </a:r>
            <a:r>
              <a:rPr lang="en-US" sz="2199" spc="65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이가 </a:t>
            </a:r>
            <a:r>
              <a:rPr lang="en-US" b="true" sz="2199" spc="65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얼마나</a:t>
            </a:r>
            <a:r>
              <a:rPr lang="en-US" sz="2199" spc="65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큰지는 모름</a:t>
            </a:r>
            <a:r>
              <a:rPr lang="en-US" b="true" sz="2199" spc="65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→ 효과크기 측정 필요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49042" y="2815306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핵심 통계 기법 정의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778574" y="4079052"/>
            <a:ext cx="14730851" cy="5317551"/>
            <a:chOff x="0" y="0"/>
            <a:chExt cx="3879730" cy="1400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9730" cy="1400507"/>
            </a:xfrm>
            <a:custGeom>
              <a:avLst/>
              <a:gdLst/>
              <a:ahLst/>
              <a:cxnLst/>
              <a:rect r="r" b="b" t="t" l="l"/>
              <a:pathLst>
                <a:path h="1400507" w="3879730">
                  <a:moveTo>
                    <a:pt x="8934" y="0"/>
                  </a:moveTo>
                  <a:lnTo>
                    <a:pt x="3870796" y="0"/>
                  </a:lnTo>
                  <a:cubicBezTo>
                    <a:pt x="3875730" y="0"/>
                    <a:pt x="3879730" y="4000"/>
                    <a:pt x="3879730" y="8934"/>
                  </a:cubicBezTo>
                  <a:lnTo>
                    <a:pt x="3879730" y="1391573"/>
                  </a:lnTo>
                  <a:cubicBezTo>
                    <a:pt x="3879730" y="1396507"/>
                    <a:pt x="3875730" y="1400507"/>
                    <a:pt x="3870796" y="1400507"/>
                  </a:cubicBezTo>
                  <a:lnTo>
                    <a:pt x="8934" y="1400507"/>
                  </a:lnTo>
                  <a:cubicBezTo>
                    <a:pt x="4000" y="1400507"/>
                    <a:pt x="0" y="1396507"/>
                    <a:pt x="0" y="1391573"/>
                  </a:cubicBezTo>
                  <a:lnTo>
                    <a:pt x="0" y="8934"/>
                  </a:lnTo>
                  <a:cubicBezTo>
                    <a:pt x="0" y="4000"/>
                    <a:pt x="4000" y="0"/>
                    <a:pt x="8934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879730" cy="1400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5733" y="4983927"/>
            <a:ext cx="588287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3"/>
              </a:lnSpc>
              <a:spcBef>
                <a:spcPct val="0"/>
              </a:spcBef>
            </a:pPr>
            <a:r>
              <a:rPr lang="en-US" b="true" sz="2503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목적 : 두 군집 간 실질적 차이의</a:t>
            </a:r>
            <a:r>
              <a:rPr lang="en-US" b="true" sz="2503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크기를 측정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274" y="4326702"/>
            <a:ext cx="296189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b="true" sz="2803" spc="28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3. Cliff's Delta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10352" y="5422077"/>
            <a:ext cx="11543455" cy="338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2200" spc="22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수식 :</a:t>
            </a: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δ = (A가 B보다 큰 횟수 - A가 B보다 작은 횟수) / 전체 비교 횟수</a:t>
            </a:r>
          </a:p>
          <a:p>
            <a:pPr algn="l">
              <a:lnSpc>
                <a:spcPts val="4400"/>
              </a:lnSpc>
            </a:pPr>
            <a:r>
              <a:rPr lang="en-US" b="true" sz="2200" spc="22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범위 : -1 ~ +1</a:t>
            </a:r>
          </a:p>
          <a:p>
            <a:pPr algn="l">
              <a:lnSpc>
                <a:spcPts val="4400"/>
              </a:lnSpc>
            </a:pPr>
            <a:r>
              <a:rPr lang="en-US" b="true" sz="2200" spc="22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효과크기 해석 :</a:t>
            </a: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0.00~0.15: negligible (무시할만함)</a:t>
            </a:r>
          </a:p>
          <a:p>
            <a:pPr algn="l">
              <a:lnSpc>
                <a:spcPts val="3234"/>
              </a:lnSpc>
            </a:pP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                </a:t>
            </a: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0.15~0.33 : small (작은 차이)</a:t>
            </a:r>
          </a:p>
          <a:p>
            <a:pPr algn="l">
              <a:lnSpc>
                <a:spcPts val="3234"/>
              </a:lnSpc>
            </a:pP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                </a:t>
            </a: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0.33~0.47 : medium (중간 차이)</a:t>
            </a:r>
          </a:p>
          <a:p>
            <a:pPr algn="l">
              <a:lnSpc>
                <a:spcPts val="3234"/>
              </a:lnSpc>
            </a:pP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                </a:t>
            </a:r>
            <a:r>
              <a:rPr lang="en-US" sz="2200" spc="22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≥0.47 : large (큰 차이)</a:t>
            </a:r>
          </a:p>
          <a:p>
            <a:pPr algn="l">
              <a:lnSpc>
                <a:spcPts val="4400"/>
              </a:lnSpc>
            </a:pPr>
            <a:r>
              <a:rPr lang="en-US" b="true" sz="2200" spc="22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한계 : </a:t>
            </a:r>
            <a:r>
              <a:rPr lang="en-US" sz="2200" spc="22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효과크기만으로는</a:t>
            </a:r>
            <a:r>
              <a:rPr lang="en-US" b="true" sz="2200" spc="22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통계적 유의성</a:t>
            </a:r>
            <a:r>
              <a:rPr lang="en-US" sz="2200" spc="22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</a:t>
            </a:r>
            <a:r>
              <a:rPr lang="en-US" b="true" sz="2200" spc="22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2200" spc="22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알 수 없음</a:t>
            </a:r>
            <a:r>
              <a:rPr lang="en-US" b="true" sz="2200" spc="22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(p-value</a:t>
            </a:r>
            <a:r>
              <a:rPr lang="en-US" sz="2200" spc="22">
                <a:solidFill>
                  <a:srgbClr val="005D2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함께 봐야 함</a:t>
            </a:r>
            <a:r>
              <a:rPr lang="en-US" b="true" sz="2200" spc="22">
                <a:solidFill>
                  <a:srgbClr val="005D2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9042" y="2815306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핵심 통계 기법 정의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3" id="3"/>
          <p:cNvGraphicFramePr/>
          <p:nvPr/>
        </p:nvGraphicFramePr>
        <p:xfrm>
          <a:off x="1148090" y="4212091"/>
          <a:ext cx="3771900" cy="3143250"/>
        </p:xfrm>
        <a:graphic>
          <a:graphicData uri="http://schemas.openxmlformats.org/presentationml/2006/ole">
            <p:oleObj imgW="4521200" imgH="3886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6382325" y="4212091"/>
          <a:ext cx="11315700" cy="3771900"/>
        </p:xfrm>
        <a:graphic>
          <a:graphicData uri="http://schemas.openxmlformats.org/presentationml/2006/ole">
            <p:oleObj imgW="13576300" imgH="60325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2230967" y="8920053"/>
            <a:ext cx="13826067" cy="905093"/>
            <a:chOff x="0" y="0"/>
            <a:chExt cx="3496848" cy="2289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6849" cy="228914"/>
            </a:xfrm>
            <a:custGeom>
              <a:avLst/>
              <a:gdLst/>
              <a:ahLst/>
              <a:cxnLst/>
              <a:rect r="r" b="b" t="t" l="l"/>
              <a:pathLst>
                <a:path h="228914" w="3496849">
                  <a:moveTo>
                    <a:pt x="9519" y="0"/>
                  </a:moveTo>
                  <a:lnTo>
                    <a:pt x="3487329" y="0"/>
                  </a:lnTo>
                  <a:cubicBezTo>
                    <a:pt x="3489854" y="0"/>
                    <a:pt x="3492275" y="1003"/>
                    <a:pt x="3494060" y="2788"/>
                  </a:cubicBezTo>
                  <a:cubicBezTo>
                    <a:pt x="3495846" y="4573"/>
                    <a:pt x="3496849" y="6995"/>
                    <a:pt x="3496849" y="9519"/>
                  </a:cubicBezTo>
                  <a:lnTo>
                    <a:pt x="3496849" y="219394"/>
                  </a:lnTo>
                  <a:cubicBezTo>
                    <a:pt x="3496849" y="221919"/>
                    <a:pt x="3495846" y="224340"/>
                    <a:pt x="3494060" y="226125"/>
                  </a:cubicBezTo>
                  <a:cubicBezTo>
                    <a:pt x="3492275" y="227911"/>
                    <a:pt x="3489854" y="228914"/>
                    <a:pt x="3487329" y="228914"/>
                  </a:cubicBezTo>
                  <a:lnTo>
                    <a:pt x="9519" y="228914"/>
                  </a:lnTo>
                  <a:cubicBezTo>
                    <a:pt x="6995" y="228914"/>
                    <a:pt x="4573" y="227911"/>
                    <a:pt x="2788" y="226125"/>
                  </a:cubicBezTo>
                  <a:cubicBezTo>
                    <a:pt x="1003" y="224340"/>
                    <a:pt x="0" y="221919"/>
                    <a:pt x="0" y="219394"/>
                  </a:cubicBezTo>
                  <a:lnTo>
                    <a:pt x="0" y="9519"/>
                  </a:lnTo>
                  <a:cubicBezTo>
                    <a:pt x="0" y="6995"/>
                    <a:pt x="1003" y="4573"/>
                    <a:pt x="2788" y="2788"/>
                  </a:cubicBezTo>
                  <a:cubicBezTo>
                    <a:pt x="4573" y="1003"/>
                    <a:pt x="6995" y="0"/>
                    <a:pt x="951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6848" cy="228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11850" y="4212091"/>
            <a:ext cx="3628268" cy="4126862"/>
            <a:chOff x="0" y="0"/>
            <a:chExt cx="955593" cy="10869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5593" cy="1086910"/>
            </a:xfrm>
            <a:custGeom>
              <a:avLst/>
              <a:gdLst/>
              <a:ahLst/>
              <a:cxnLst/>
              <a:rect r="r" b="b" t="t" l="l"/>
              <a:pathLst>
                <a:path h="1086910" w="955593">
                  <a:moveTo>
                    <a:pt x="0" y="0"/>
                  </a:moveTo>
                  <a:lnTo>
                    <a:pt x="955593" y="0"/>
                  </a:lnTo>
                  <a:lnTo>
                    <a:pt x="955593" y="1086910"/>
                  </a:lnTo>
                  <a:lnTo>
                    <a:pt x="0" y="1086910"/>
                  </a:lnTo>
                  <a:close/>
                </a:path>
              </a:pathLst>
            </a:custGeom>
            <a:solidFill>
              <a:srgbClr val="E5E2DF">
                <a:alpha val="4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55593" cy="108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1342" y="9169264"/>
            <a:ext cx="8026660" cy="40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3"/>
              </a:lnSpc>
              <a:spcBef>
                <a:spcPct val="0"/>
              </a:spcBef>
            </a:pPr>
            <a:r>
              <a:rPr lang="en-US" b="true" sz="2710" spc="27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M.A.D, score 위주 비교 → 등사니 조합(6군집) 선정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25" y="1998578"/>
            <a:ext cx="18288000" cy="1356574"/>
            <a:chOff x="0" y="0"/>
            <a:chExt cx="4816593" cy="3572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9042" y="2815306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차별성 평가 지표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2325" y="2812279"/>
            <a:ext cx="4080660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홈 보정된 다중 비교 결과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3" id="3"/>
          <p:cNvGraphicFramePr/>
          <p:nvPr/>
        </p:nvGraphicFramePr>
        <p:xfrm>
          <a:off x="3210341" y="3668093"/>
          <a:ext cx="13201650" cy="6286500"/>
        </p:xfrm>
        <a:graphic>
          <a:graphicData uri="http://schemas.openxmlformats.org/presentationml/2006/ole">
            <p:oleObj imgW="15836900" imgH="89154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99984" y="9073759"/>
            <a:ext cx="13888032" cy="759031"/>
            <a:chOff x="0" y="0"/>
            <a:chExt cx="2821008" cy="154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21008" cy="154178"/>
            </a:xfrm>
            <a:custGeom>
              <a:avLst/>
              <a:gdLst/>
              <a:ahLst/>
              <a:cxnLst/>
              <a:rect r="r" b="b" t="t" l="l"/>
              <a:pathLst>
                <a:path h="154178" w="2821008">
                  <a:moveTo>
                    <a:pt x="9477" y="0"/>
                  </a:moveTo>
                  <a:lnTo>
                    <a:pt x="2811531" y="0"/>
                  </a:lnTo>
                  <a:cubicBezTo>
                    <a:pt x="2814045" y="0"/>
                    <a:pt x="2816455" y="998"/>
                    <a:pt x="2818232" y="2776"/>
                  </a:cubicBezTo>
                  <a:cubicBezTo>
                    <a:pt x="2820009" y="4553"/>
                    <a:pt x="2821008" y="6963"/>
                    <a:pt x="2821008" y="9477"/>
                  </a:cubicBezTo>
                  <a:lnTo>
                    <a:pt x="2821008" y="144702"/>
                  </a:lnTo>
                  <a:cubicBezTo>
                    <a:pt x="2821008" y="147215"/>
                    <a:pt x="2820009" y="149625"/>
                    <a:pt x="2818232" y="151403"/>
                  </a:cubicBezTo>
                  <a:cubicBezTo>
                    <a:pt x="2816455" y="153180"/>
                    <a:pt x="2814045" y="154178"/>
                    <a:pt x="2811531" y="154178"/>
                  </a:cubicBezTo>
                  <a:lnTo>
                    <a:pt x="9477" y="154178"/>
                  </a:lnTo>
                  <a:cubicBezTo>
                    <a:pt x="6963" y="154178"/>
                    <a:pt x="4553" y="153180"/>
                    <a:pt x="2776" y="151403"/>
                  </a:cubicBezTo>
                  <a:cubicBezTo>
                    <a:pt x="998" y="149625"/>
                    <a:pt x="0" y="147215"/>
                    <a:pt x="0" y="144702"/>
                  </a:cubicBezTo>
                  <a:lnTo>
                    <a:pt x="0" y="9477"/>
                  </a:lnTo>
                  <a:cubicBezTo>
                    <a:pt x="0" y="6963"/>
                    <a:pt x="998" y="4553"/>
                    <a:pt x="2776" y="2776"/>
                  </a:cubicBezTo>
                  <a:cubicBezTo>
                    <a:pt x="4553" y="998"/>
                    <a:pt x="6963" y="0"/>
                    <a:pt x="947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821008" cy="154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99984" y="9216077"/>
            <a:ext cx="13793995" cy="47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5"/>
              </a:lnSpc>
              <a:spcBef>
                <a:spcPct val="0"/>
              </a:spcBef>
            </a:pPr>
            <a:r>
              <a:rPr lang="en-US" sz="3112" spc="3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1위 항목을 보유한 군집 수가 가장 많아, </a:t>
            </a:r>
            <a:r>
              <a:rPr lang="en-US" b="true" sz="3112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다양한 유형으로 세분화</a:t>
            </a:r>
            <a:r>
              <a:rPr lang="en-US" sz="3112" spc="3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가능한 데이터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042" y="2815306"/>
            <a:ext cx="4704481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Cliff’s Delta 기반 효과크기 순위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95943" y="6674231"/>
            <a:ext cx="4377154" cy="2563820"/>
            <a:chOff x="0" y="0"/>
            <a:chExt cx="1509596" cy="8842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9596" cy="884212"/>
            </a:xfrm>
            <a:custGeom>
              <a:avLst/>
              <a:gdLst/>
              <a:ahLst/>
              <a:cxnLst/>
              <a:rect r="r" b="b" t="t" l="l"/>
              <a:pathLst>
                <a:path h="884212" w="1509596">
                  <a:moveTo>
                    <a:pt x="30068" y="0"/>
                  </a:moveTo>
                  <a:lnTo>
                    <a:pt x="1479528" y="0"/>
                  </a:lnTo>
                  <a:cubicBezTo>
                    <a:pt x="1487503" y="0"/>
                    <a:pt x="1495151" y="3168"/>
                    <a:pt x="1500790" y="8807"/>
                  </a:cubicBezTo>
                  <a:cubicBezTo>
                    <a:pt x="1506428" y="14446"/>
                    <a:pt x="1509596" y="22094"/>
                    <a:pt x="1509596" y="30068"/>
                  </a:cubicBezTo>
                  <a:lnTo>
                    <a:pt x="1509596" y="854144"/>
                  </a:lnTo>
                  <a:cubicBezTo>
                    <a:pt x="1509596" y="870750"/>
                    <a:pt x="1496134" y="884212"/>
                    <a:pt x="1479528" y="884212"/>
                  </a:cubicBezTo>
                  <a:lnTo>
                    <a:pt x="30068" y="884212"/>
                  </a:lnTo>
                  <a:cubicBezTo>
                    <a:pt x="13462" y="884212"/>
                    <a:pt x="0" y="870750"/>
                    <a:pt x="0" y="854144"/>
                  </a:cubicBezTo>
                  <a:lnTo>
                    <a:pt x="0" y="30068"/>
                  </a:lnTo>
                  <a:cubicBezTo>
                    <a:pt x="0" y="13462"/>
                    <a:pt x="13462" y="0"/>
                    <a:pt x="300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09596" cy="884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45197" y="6694480"/>
            <a:ext cx="4377154" cy="2563820"/>
            <a:chOff x="0" y="0"/>
            <a:chExt cx="1509596" cy="8842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09596" cy="884212"/>
            </a:xfrm>
            <a:custGeom>
              <a:avLst/>
              <a:gdLst/>
              <a:ahLst/>
              <a:cxnLst/>
              <a:rect r="r" b="b" t="t" l="l"/>
              <a:pathLst>
                <a:path h="884212" w="1509596">
                  <a:moveTo>
                    <a:pt x="30068" y="0"/>
                  </a:moveTo>
                  <a:lnTo>
                    <a:pt x="1479528" y="0"/>
                  </a:lnTo>
                  <a:cubicBezTo>
                    <a:pt x="1487503" y="0"/>
                    <a:pt x="1495151" y="3168"/>
                    <a:pt x="1500790" y="8807"/>
                  </a:cubicBezTo>
                  <a:cubicBezTo>
                    <a:pt x="1506428" y="14446"/>
                    <a:pt x="1509596" y="22094"/>
                    <a:pt x="1509596" y="30068"/>
                  </a:cubicBezTo>
                  <a:lnTo>
                    <a:pt x="1509596" y="854144"/>
                  </a:lnTo>
                  <a:cubicBezTo>
                    <a:pt x="1509596" y="870750"/>
                    <a:pt x="1496134" y="884212"/>
                    <a:pt x="1479528" y="884212"/>
                  </a:cubicBezTo>
                  <a:lnTo>
                    <a:pt x="30068" y="884212"/>
                  </a:lnTo>
                  <a:cubicBezTo>
                    <a:pt x="13462" y="884212"/>
                    <a:pt x="0" y="870750"/>
                    <a:pt x="0" y="854144"/>
                  </a:cubicBezTo>
                  <a:lnTo>
                    <a:pt x="0" y="30068"/>
                  </a:lnTo>
                  <a:cubicBezTo>
                    <a:pt x="0" y="13462"/>
                    <a:pt x="13462" y="0"/>
                    <a:pt x="300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09596" cy="884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95943" y="3809404"/>
            <a:ext cx="4377154" cy="2563820"/>
            <a:chOff x="0" y="0"/>
            <a:chExt cx="1509596" cy="8842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09596" cy="884212"/>
            </a:xfrm>
            <a:custGeom>
              <a:avLst/>
              <a:gdLst/>
              <a:ahLst/>
              <a:cxnLst/>
              <a:rect r="r" b="b" t="t" l="l"/>
              <a:pathLst>
                <a:path h="884212" w="1509596">
                  <a:moveTo>
                    <a:pt x="30068" y="0"/>
                  </a:moveTo>
                  <a:lnTo>
                    <a:pt x="1479528" y="0"/>
                  </a:lnTo>
                  <a:cubicBezTo>
                    <a:pt x="1487503" y="0"/>
                    <a:pt x="1495151" y="3168"/>
                    <a:pt x="1500790" y="8807"/>
                  </a:cubicBezTo>
                  <a:cubicBezTo>
                    <a:pt x="1506428" y="14446"/>
                    <a:pt x="1509596" y="22094"/>
                    <a:pt x="1509596" y="30068"/>
                  </a:cubicBezTo>
                  <a:lnTo>
                    <a:pt x="1509596" y="854144"/>
                  </a:lnTo>
                  <a:cubicBezTo>
                    <a:pt x="1509596" y="870750"/>
                    <a:pt x="1496134" y="884212"/>
                    <a:pt x="1479528" y="884212"/>
                  </a:cubicBezTo>
                  <a:lnTo>
                    <a:pt x="30068" y="884212"/>
                  </a:lnTo>
                  <a:cubicBezTo>
                    <a:pt x="13462" y="884212"/>
                    <a:pt x="0" y="870750"/>
                    <a:pt x="0" y="854144"/>
                  </a:cubicBezTo>
                  <a:lnTo>
                    <a:pt x="0" y="30068"/>
                  </a:lnTo>
                  <a:cubicBezTo>
                    <a:pt x="0" y="13462"/>
                    <a:pt x="13462" y="0"/>
                    <a:pt x="300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509596" cy="884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45197" y="3829653"/>
            <a:ext cx="4377154" cy="2563820"/>
            <a:chOff x="0" y="0"/>
            <a:chExt cx="1509596" cy="8842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09596" cy="884212"/>
            </a:xfrm>
            <a:custGeom>
              <a:avLst/>
              <a:gdLst/>
              <a:ahLst/>
              <a:cxnLst/>
              <a:rect r="r" b="b" t="t" l="l"/>
              <a:pathLst>
                <a:path h="884212" w="1509596">
                  <a:moveTo>
                    <a:pt x="30068" y="0"/>
                  </a:moveTo>
                  <a:lnTo>
                    <a:pt x="1479528" y="0"/>
                  </a:lnTo>
                  <a:cubicBezTo>
                    <a:pt x="1487503" y="0"/>
                    <a:pt x="1495151" y="3168"/>
                    <a:pt x="1500790" y="8807"/>
                  </a:cubicBezTo>
                  <a:cubicBezTo>
                    <a:pt x="1506428" y="14446"/>
                    <a:pt x="1509596" y="22094"/>
                    <a:pt x="1509596" y="30068"/>
                  </a:cubicBezTo>
                  <a:lnTo>
                    <a:pt x="1509596" y="854144"/>
                  </a:lnTo>
                  <a:cubicBezTo>
                    <a:pt x="1509596" y="870750"/>
                    <a:pt x="1496134" y="884212"/>
                    <a:pt x="1479528" y="884212"/>
                  </a:cubicBezTo>
                  <a:lnTo>
                    <a:pt x="30068" y="884212"/>
                  </a:lnTo>
                  <a:cubicBezTo>
                    <a:pt x="13462" y="884212"/>
                    <a:pt x="0" y="870750"/>
                    <a:pt x="0" y="854144"/>
                  </a:cubicBezTo>
                  <a:lnTo>
                    <a:pt x="0" y="30068"/>
                  </a:lnTo>
                  <a:cubicBezTo>
                    <a:pt x="0" y="13462"/>
                    <a:pt x="13462" y="0"/>
                    <a:pt x="300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509596" cy="884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96683" y="3829653"/>
            <a:ext cx="4377426" cy="2563820"/>
            <a:chOff x="0" y="0"/>
            <a:chExt cx="1601449" cy="9379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01449" cy="937954"/>
            </a:xfrm>
            <a:custGeom>
              <a:avLst/>
              <a:gdLst/>
              <a:ahLst/>
              <a:cxnLst/>
              <a:rect r="r" b="b" t="t" l="l"/>
              <a:pathLst>
                <a:path h="937954" w="1601449">
                  <a:moveTo>
                    <a:pt x="30066" y="0"/>
                  </a:moveTo>
                  <a:lnTo>
                    <a:pt x="1571382" y="0"/>
                  </a:lnTo>
                  <a:cubicBezTo>
                    <a:pt x="1579357" y="0"/>
                    <a:pt x="1587004" y="3168"/>
                    <a:pt x="1592643" y="8806"/>
                  </a:cubicBezTo>
                  <a:cubicBezTo>
                    <a:pt x="1598281" y="14445"/>
                    <a:pt x="1601449" y="22092"/>
                    <a:pt x="1601449" y="30066"/>
                  </a:cubicBezTo>
                  <a:lnTo>
                    <a:pt x="1601449" y="907888"/>
                  </a:lnTo>
                  <a:cubicBezTo>
                    <a:pt x="1601449" y="924493"/>
                    <a:pt x="1587988" y="937954"/>
                    <a:pt x="1571382" y="937954"/>
                  </a:cubicBezTo>
                  <a:lnTo>
                    <a:pt x="30066" y="937954"/>
                  </a:lnTo>
                  <a:cubicBezTo>
                    <a:pt x="13461" y="937954"/>
                    <a:pt x="0" y="924493"/>
                    <a:pt x="0" y="907888"/>
                  </a:cubicBezTo>
                  <a:lnTo>
                    <a:pt x="0" y="30066"/>
                  </a:lnTo>
                  <a:cubicBezTo>
                    <a:pt x="0" y="13461"/>
                    <a:pt x="13461" y="0"/>
                    <a:pt x="3006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601449" cy="937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96955" y="6674231"/>
            <a:ext cx="4377154" cy="2563820"/>
            <a:chOff x="0" y="0"/>
            <a:chExt cx="1509596" cy="8842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09596" cy="884212"/>
            </a:xfrm>
            <a:custGeom>
              <a:avLst/>
              <a:gdLst/>
              <a:ahLst/>
              <a:cxnLst/>
              <a:rect r="r" b="b" t="t" l="l"/>
              <a:pathLst>
                <a:path h="884212" w="1509596">
                  <a:moveTo>
                    <a:pt x="30068" y="0"/>
                  </a:moveTo>
                  <a:lnTo>
                    <a:pt x="1479528" y="0"/>
                  </a:lnTo>
                  <a:cubicBezTo>
                    <a:pt x="1487503" y="0"/>
                    <a:pt x="1495151" y="3168"/>
                    <a:pt x="1500790" y="8807"/>
                  </a:cubicBezTo>
                  <a:cubicBezTo>
                    <a:pt x="1506428" y="14446"/>
                    <a:pt x="1509596" y="22094"/>
                    <a:pt x="1509596" y="30068"/>
                  </a:cubicBezTo>
                  <a:lnTo>
                    <a:pt x="1509596" y="854144"/>
                  </a:lnTo>
                  <a:cubicBezTo>
                    <a:pt x="1509596" y="870750"/>
                    <a:pt x="1496134" y="884212"/>
                    <a:pt x="1479528" y="884212"/>
                  </a:cubicBezTo>
                  <a:lnTo>
                    <a:pt x="30068" y="884212"/>
                  </a:lnTo>
                  <a:cubicBezTo>
                    <a:pt x="13462" y="884212"/>
                    <a:pt x="0" y="870750"/>
                    <a:pt x="0" y="854144"/>
                  </a:cubicBezTo>
                  <a:lnTo>
                    <a:pt x="0" y="30068"/>
                  </a:lnTo>
                  <a:cubicBezTo>
                    <a:pt x="0" y="13462"/>
                    <a:pt x="13462" y="0"/>
                    <a:pt x="3006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C8B9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09596" cy="884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890134" y="3955753"/>
            <a:ext cx="2823956" cy="115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b="true" sz="2292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0 | 계절매력형</a:t>
            </a:r>
          </a:p>
          <a:p>
            <a:pPr algn="ctr">
              <a:lnSpc>
                <a:spcPts val="2661"/>
              </a:lnSpc>
            </a:pP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(101개)</a:t>
            </a:r>
          </a:p>
          <a:p>
            <a:pPr algn="ctr">
              <a:lnSpc>
                <a:spcPts val="3700"/>
              </a:lnSpc>
            </a:pPr>
            <a:r>
              <a:rPr lang="en-US" sz="2846" spc="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24195" y="3955753"/>
            <a:ext cx="2823956" cy="111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b="true" sz="2292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1 | 잠재력 보유형</a:t>
            </a:r>
          </a:p>
          <a:p>
            <a:pPr algn="ctr">
              <a:lnSpc>
                <a:spcPts val="2661"/>
              </a:lnSpc>
            </a:pP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(49개)</a:t>
            </a:r>
          </a:p>
          <a:p>
            <a:pPr algn="ctr">
              <a:lnSpc>
                <a:spcPts val="3311"/>
              </a:lnSpc>
            </a:pPr>
            <a:r>
              <a:rPr lang="en-US" sz="2546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12871" y="3955753"/>
            <a:ext cx="3745050" cy="117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b="true" sz="2292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2 | 전망, 사진(SNS)형</a:t>
            </a:r>
          </a:p>
          <a:p>
            <a:pPr algn="ctr">
              <a:lnSpc>
                <a:spcPts val="2661"/>
              </a:lnSpc>
            </a:pP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(96개)</a:t>
            </a:r>
          </a:p>
          <a:p>
            <a:pPr algn="ctr">
              <a:lnSpc>
                <a:spcPts val="3830"/>
              </a:lnSpc>
            </a:pPr>
            <a:r>
              <a:rPr lang="en-US" sz="2946" spc="2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67033" y="6822187"/>
            <a:ext cx="3268577" cy="115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b="true" sz="2292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5 | 숨은 명소형</a:t>
            </a:r>
          </a:p>
          <a:p>
            <a:pPr algn="ctr">
              <a:lnSpc>
                <a:spcPts val="2661"/>
              </a:lnSpc>
            </a:pP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(110개)</a:t>
            </a:r>
          </a:p>
          <a:p>
            <a:pPr algn="ctr">
              <a:lnSpc>
                <a:spcPts val="3067"/>
              </a:lnSpc>
            </a:pPr>
            <a:r>
              <a:rPr lang="en-US" sz="3446" spc="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⛰️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23048" y="6822187"/>
            <a:ext cx="2823956" cy="115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b="true" sz="2292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4 | 힐링형</a:t>
            </a:r>
          </a:p>
          <a:p>
            <a:pPr algn="ctr">
              <a:lnSpc>
                <a:spcPts val="2661"/>
              </a:lnSpc>
            </a:pP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</a:t>
            </a: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73개)</a:t>
            </a:r>
          </a:p>
          <a:p>
            <a:pPr algn="ctr">
              <a:lnSpc>
                <a:spcPts val="3700"/>
              </a:lnSpc>
            </a:pPr>
            <a:r>
              <a:rPr lang="en-US" sz="2846" spc="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🌿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11886" y="6822187"/>
            <a:ext cx="3145268" cy="117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</a:pPr>
            <a:r>
              <a:rPr lang="en-US" b="true" sz="2292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3 | 가족,인프라형</a:t>
            </a:r>
          </a:p>
          <a:p>
            <a:pPr algn="ctr">
              <a:lnSpc>
                <a:spcPts val="2661"/>
              </a:lnSpc>
            </a:pPr>
            <a:r>
              <a:rPr lang="en-US" sz="2046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(175개)</a:t>
            </a:r>
          </a:p>
          <a:p>
            <a:pPr algn="ctr">
              <a:lnSpc>
                <a:spcPts val="3830"/>
              </a:lnSpc>
            </a:pPr>
            <a:r>
              <a:rPr lang="en-US" sz="2946" spc="2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🎶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38859" y="5315093"/>
            <a:ext cx="472650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접근성이나 인프라가 뛰어나지는 않지만,</a:t>
            </a:r>
          </a:p>
          <a:p>
            <a:pPr algn="ctr">
              <a:lnSpc>
                <a:spcPts val="2163"/>
              </a:lnSpc>
            </a:pPr>
            <a:r>
              <a:rPr lang="en-US" sz="1803" spc="18">
                <a:solidFill>
                  <a:srgbClr val="29691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사계절 뚜렷한 자연 변화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그 자체가 매력인 군집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53912" y="5315093"/>
            <a:ext cx="416452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모든 지표에서 평균 이하의 분포를 보이며,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특정 매력 요인이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명확하게 드러나지 않는 </a:t>
            </a:r>
            <a:r>
              <a:rPr lang="en-US" sz="1803" spc="18">
                <a:solidFill>
                  <a:srgbClr val="DD2E44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취약군집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44723" y="5315093"/>
            <a:ext cx="371319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전망·사진·성취감 점수 최상위권으로, </a:t>
            </a:r>
            <a:r>
              <a:rPr lang="en-US" sz="1803" spc="18">
                <a:solidFill>
                  <a:srgbClr val="29691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시각적 보상과 성취 경험</a:t>
            </a: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중심인 '뷰 포인트' 군집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19039" y="8217666"/>
            <a:ext cx="296614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3"/>
              </a:lnSpc>
            </a:pPr>
            <a:r>
              <a:rPr lang="en-US" sz="1777" spc="17">
                <a:solidFill>
                  <a:srgbClr val="29691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관광 인프라와 접근성 최상위</a:t>
            </a:r>
            <a:r>
              <a:rPr lang="en-US" sz="1777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로,</a:t>
            </a:r>
          </a:p>
          <a:p>
            <a:pPr algn="ctr">
              <a:lnSpc>
                <a:spcPts val="2133"/>
              </a:lnSpc>
            </a:pPr>
            <a:r>
              <a:rPr lang="en-US" sz="1777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가족 단위·초보 방문객에게</a:t>
            </a:r>
          </a:p>
          <a:p>
            <a:pPr algn="ctr">
              <a:lnSpc>
                <a:spcPts val="2133"/>
              </a:lnSpc>
              <a:spcBef>
                <a:spcPct val="0"/>
              </a:spcBef>
            </a:pPr>
            <a:r>
              <a:rPr lang="en-US" sz="1777" spc="1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적합한 구조적 강점을 가진 군집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16476" y="8208951"/>
            <a:ext cx="383939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힐링 점수 1위,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 안정성 상위권으로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체력 소모보다 </a:t>
            </a:r>
            <a:r>
              <a:rPr lang="en-US" sz="1803" spc="18">
                <a:solidFill>
                  <a:srgbClr val="29691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정서적 회복이 중심</a:t>
            </a: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 군집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76453" y="8108602"/>
            <a:ext cx="384973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접근성과 인프라는 낮지만,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29691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성취감과 사진 요소를 통해</a:t>
            </a:r>
          </a:p>
          <a:p>
            <a:pPr algn="ctr">
              <a:lnSpc>
                <a:spcPts val="2163"/>
              </a:lnSpc>
              <a:spcBef>
                <a:spcPct val="0"/>
              </a:spcBef>
            </a:pPr>
            <a:r>
              <a:rPr lang="en-US" sz="1803" spc="18">
                <a:solidFill>
                  <a:srgbClr val="296913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‘숨은 명소형 산행 경험</a:t>
            </a:r>
            <a:r>
              <a:rPr lang="en-US" sz="1803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’을 제공하는 군집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49042" y="2815306"/>
            <a:ext cx="4704481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최종 군집 결과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77163" y="5390864"/>
            <a:ext cx="7029078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b="true" sz="2300" spc="2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[수치로 보는 우위] 독보적 점수 (Score)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전체 군집 중 유일한 평균 </a:t>
            </a:r>
            <a:r>
              <a:rPr lang="en-US" sz="2300" spc="23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8점</a:t>
            </a: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대(8.35점) 달성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b="true" sz="2300" spc="2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[통계로 보는 근거] 완벽한 유의성 (Stats)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Welch's ANOVA 및 Games-Howell 사후검정 완료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p &lt; 0.05로 </a:t>
            </a:r>
            <a:r>
              <a:rPr lang="en-US" sz="2300" spc="23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1~5번 군집 대비 통계적 우위 입증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383767" y="3740107"/>
            <a:ext cx="6657952" cy="5518193"/>
            <a:chOff x="0" y="0"/>
            <a:chExt cx="1555245" cy="12890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5245" cy="1289006"/>
            </a:xfrm>
            <a:custGeom>
              <a:avLst/>
              <a:gdLst/>
              <a:ahLst/>
              <a:cxnLst/>
              <a:rect r="r" b="b" t="t" l="l"/>
              <a:pathLst>
                <a:path h="1289006" w="1555245">
                  <a:moveTo>
                    <a:pt x="23256" y="0"/>
                  </a:moveTo>
                  <a:lnTo>
                    <a:pt x="1531989" y="0"/>
                  </a:lnTo>
                  <a:cubicBezTo>
                    <a:pt x="1538157" y="0"/>
                    <a:pt x="1544072" y="2450"/>
                    <a:pt x="1548433" y="6812"/>
                  </a:cubicBezTo>
                  <a:cubicBezTo>
                    <a:pt x="1552795" y="11173"/>
                    <a:pt x="1555245" y="17088"/>
                    <a:pt x="1555245" y="23256"/>
                  </a:cubicBezTo>
                  <a:lnTo>
                    <a:pt x="1555245" y="1265750"/>
                  </a:lnTo>
                  <a:cubicBezTo>
                    <a:pt x="1555245" y="1278594"/>
                    <a:pt x="1544833" y="1289006"/>
                    <a:pt x="1531989" y="1289006"/>
                  </a:cubicBezTo>
                  <a:lnTo>
                    <a:pt x="23256" y="1289006"/>
                  </a:lnTo>
                  <a:cubicBezTo>
                    <a:pt x="17088" y="1289006"/>
                    <a:pt x="11173" y="1286556"/>
                    <a:pt x="6812" y="1282195"/>
                  </a:cubicBezTo>
                  <a:cubicBezTo>
                    <a:pt x="2450" y="1277833"/>
                    <a:pt x="0" y="1271918"/>
                    <a:pt x="0" y="1265750"/>
                  </a:cubicBezTo>
                  <a:lnTo>
                    <a:pt x="0" y="23256"/>
                  </a:lnTo>
                  <a:cubicBezTo>
                    <a:pt x="0" y="17088"/>
                    <a:pt x="2450" y="11173"/>
                    <a:pt x="6812" y="6812"/>
                  </a:cubicBezTo>
                  <a:cubicBezTo>
                    <a:pt x="11173" y="2450"/>
                    <a:pt x="17088" y="0"/>
                    <a:pt x="2325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BE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555245" cy="128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90758" y="3889525"/>
            <a:ext cx="6438597" cy="5185917"/>
          </a:xfrm>
          <a:custGeom>
            <a:avLst/>
            <a:gdLst/>
            <a:ahLst/>
            <a:cxnLst/>
            <a:rect r="r" b="b" t="t" l="l"/>
            <a:pathLst>
              <a:path h="5185917" w="6438597">
                <a:moveTo>
                  <a:pt x="0" y="0"/>
                </a:moveTo>
                <a:lnTo>
                  <a:pt x="6438597" y="0"/>
                </a:lnTo>
                <a:lnTo>
                  <a:pt x="6438597" y="5185917"/>
                </a:lnTo>
                <a:lnTo>
                  <a:pt x="0" y="5185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6" b="-24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 검증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Cluster 0: 계절매력형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16629" y="8172919"/>
            <a:ext cx="5147816" cy="149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218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전망 점수 1위</a:t>
            </a:r>
          </a:p>
          <a:p>
            <a:pPr algn="l" marL="459137" indent="-229568" lvl="1">
              <a:lnSpc>
                <a:spcPts val="2977"/>
              </a:lnSpc>
              <a:buFont typeface="Arial"/>
              <a:buChar char="•"/>
            </a:pPr>
            <a:r>
              <a:rPr lang="en-US" sz="21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평균 </a:t>
            </a:r>
            <a:r>
              <a:rPr lang="en-US" sz="2126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8.28점</a:t>
            </a:r>
            <a:r>
              <a:rPr lang="en-US" sz="21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으로 압도적 경관 보유</a:t>
            </a:r>
          </a:p>
          <a:p>
            <a:pPr algn="l">
              <a:lnSpc>
                <a:spcPts val="2977"/>
              </a:lnSpc>
            </a:pPr>
            <a:r>
              <a:rPr lang="en-US" sz="2126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전망(View) 유의성</a:t>
            </a:r>
          </a:p>
          <a:p>
            <a:pPr algn="l" marL="459137" indent="-229568" lvl="1">
              <a:lnSpc>
                <a:spcPts val="2977"/>
              </a:lnSpc>
              <a:buFont typeface="Arial"/>
              <a:buChar char="•"/>
            </a:pPr>
            <a:r>
              <a:rPr lang="en-US" b="true" sz="212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21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p &lt; 0.05, 전 군집 대비 </a:t>
            </a:r>
            <a:r>
              <a:rPr lang="en-US" sz="2126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통계적 우위 입증</a:t>
            </a:r>
            <a:r>
              <a:rPr lang="en-US" sz="21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94360" y="8173026"/>
            <a:ext cx="6128614" cy="149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226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사진 점수 1위</a:t>
            </a:r>
          </a:p>
          <a:p>
            <a:pPr algn="l" marL="460907" indent="-230453" lvl="1">
              <a:lnSpc>
                <a:spcPts val="2988"/>
              </a:lnSpc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전체 군집 중 최고 평균 </a:t>
            </a:r>
            <a:r>
              <a:rPr lang="en-US" sz="2134">
                <a:solidFill>
                  <a:srgbClr val="1800AD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7</a:t>
            </a:r>
            <a:r>
              <a:rPr lang="en-US" sz="2134">
                <a:solidFill>
                  <a:srgbClr val="1800AD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.64</a:t>
            </a:r>
            <a:r>
              <a:rPr lang="en-US" sz="21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점</a:t>
            </a:r>
          </a:p>
          <a:p>
            <a:pPr algn="l">
              <a:lnSpc>
                <a:spcPts val="2988"/>
              </a:lnSpc>
            </a:pPr>
            <a:r>
              <a:rPr lang="en-US" sz="2134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사진(Photo) 유의성</a:t>
            </a:r>
          </a:p>
          <a:p>
            <a:pPr algn="l" marL="460907" indent="-230453" lvl="1">
              <a:lnSpc>
                <a:spcPts val="2988"/>
              </a:lnSpc>
              <a:buFont typeface="Arial"/>
              <a:buChar char="•"/>
            </a:pPr>
            <a:r>
              <a:rPr lang="en-US" sz="213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p &lt; 0.05, 1·3·4·5번 군집 대비 </a:t>
            </a:r>
            <a:r>
              <a:rPr lang="en-US" sz="2134">
                <a:solidFill>
                  <a:srgbClr val="1800AD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통계적 우위 입증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738761" y="3663934"/>
            <a:ext cx="5152602" cy="4221526"/>
            <a:chOff x="0" y="0"/>
            <a:chExt cx="6870136" cy="562870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870136" cy="5628701"/>
              <a:chOff x="0" y="0"/>
              <a:chExt cx="1203607" cy="98611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03607" cy="986115"/>
              </a:xfrm>
              <a:custGeom>
                <a:avLst/>
                <a:gdLst/>
                <a:ahLst/>
                <a:cxnLst/>
                <a:rect r="r" b="b" t="t" l="l"/>
                <a:pathLst>
                  <a:path h="986115" w="1203607">
                    <a:moveTo>
                      <a:pt x="30051" y="0"/>
                    </a:moveTo>
                    <a:lnTo>
                      <a:pt x="1173557" y="0"/>
                    </a:lnTo>
                    <a:cubicBezTo>
                      <a:pt x="1181526" y="0"/>
                      <a:pt x="1189170" y="3166"/>
                      <a:pt x="1194805" y="8802"/>
                    </a:cubicBezTo>
                    <a:cubicBezTo>
                      <a:pt x="1200441" y="14437"/>
                      <a:pt x="1203607" y="22081"/>
                      <a:pt x="1203607" y="30051"/>
                    </a:cubicBezTo>
                    <a:lnTo>
                      <a:pt x="1203607" y="956065"/>
                    </a:lnTo>
                    <a:cubicBezTo>
                      <a:pt x="1203607" y="964034"/>
                      <a:pt x="1200441" y="971678"/>
                      <a:pt x="1194805" y="977314"/>
                    </a:cubicBezTo>
                    <a:cubicBezTo>
                      <a:pt x="1189170" y="982949"/>
                      <a:pt x="1181526" y="986115"/>
                      <a:pt x="1173557" y="986115"/>
                    </a:cubicBezTo>
                    <a:lnTo>
                      <a:pt x="30051" y="986115"/>
                    </a:lnTo>
                    <a:cubicBezTo>
                      <a:pt x="22081" y="986115"/>
                      <a:pt x="14437" y="982949"/>
                      <a:pt x="8802" y="977314"/>
                    </a:cubicBezTo>
                    <a:cubicBezTo>
                      <a:pt x="3166" y="971678"/>
                      <a:pt x="0" y="964034"/>
                      <a:pt x="0" y="956065"/>
                    </a:cubicBezTo>
                    <a:lnTo>
                      <a:pt x="0" y="30051"/>
                    </a:lnTo>
                    <a:cubicBezTo>
                      <a:pt x="0" y="22081"/>
                      <a:pt x="3166" y="14437"/>
                      <a:pt x="8802" y="8802"/>
                    </a:cubicBezTo>
                    <a:cubicBezTo>
                      <a:pt x="14437" y="3166"/>
                      <a:pt x="22081" y="0"/>
                      <a:pt x="300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4EBE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1203607" cy="9861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3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03825" y="116381"/>
              <a:ext cx="6637086" cy="5446739"/>
            </a:xfrm>
            <a:custGeom>
              <a:avLst/>
              <a:gdLst/>
              <a:ahLst/>
              <a:cxnLst/>
              <a:rect r="r" b="b" t="t" l="l"/>
              <a:pathLst>
                <a:path h="5446739" w="6637086">
                  <a:moveTo>
                    <a:pt x="0" y="0"/>
                  </a:moveTo>
                  <a:lnTo>
                    <a:pt x="6637086" y="0"/>
                  </a:lnTo>
                  <a:lnTo>
                    <a:pt x="6637086" y="5446739"/>
                  </a:lnTo>
                  <a:lnTo>
                    <a:pt x="0" y="544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25475" y="3663934"/>
            <a:ext cx="5271930" cy="4221526"/>
            <a:chOff x="0" y="0"/>
            <a:chExt cx="7029240" cy="562870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029240" cy="5628701"/>
              <a:chOff x="0" y="0"/>
              <a:chExt cx="1231481" cy="98611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31481" cy="986115"/>
              </a:xfrm>
              <a:custGeom>
                <a:avLst/>
                <a:gdLst/>
                <a:ahLst/>
                <a:cxnLst/>
                <a:rect r="r" b="b" t="t" l="l"/>
                <a:pathLst>
                  <a:path h="986115" w="1231481">
                    <a:moveTo>
                      <a:pt x="29370" y="0"/>
                    </a:moveTo>
                    <a:lnTo>
                      <a:pt x="1202111" y="0"/>
                    </a:lnTo>
                    <a:cubicBezTo>
                      <a:pt x="1209900" y="0"/>
                      <a:pt x="1217371" y="3094"/>
                      <a:pt x="1222879" y="8602"/>
                    </a:cubicBezTo>
                    <a:cubicBezTo>
                      <a:pt x="1228387" y="14110"/>
                      <a:pt x="1231481" y="21581"/>
                      <a:pt x="1231481" y="29370"/>
                    </a:cubicBezTo>
                    <a:lnTo>
                      <a:pt x="1231481" y="956745"/>
                    </a:lnTo>
                    <a:cubicBezTo>
                      <a:pt x="1231481" y="964534"/>
                      <a:pt x="1228387" y="972005"/>
                      <a:pt x="1222879" y="977513"/>
                    </a:cubicBezTo>
                    <a:cubicBezTo>
                      <a:pt x="1217371" y="983021"/>
                      <a:pt x="1209900" y="986115"/>
                      <a:pt x="1202111" y="986115"/>
                    </a:cubicBezTo>
                    <a:lnTo>
                      <a:pt x="29370" y="986115"/>
                    </a:lnTo>
                    <a:cubicBezTo>
                      <a:pt x="21581" y="986115"/>
                      <a:pt x="14110" y="983021"/>
                      <a:pt x="8602" y="977513"/>
                    </a:cubicBezTo>
                    <a:cubicBezTo>
                      <a:pt x="3094" y="972005"/>
                      <a:pt x="0" y="964534"/>
                      <a:pt x="0" y="956745"/>
                    </a:cubicBezTo>
                    <a:lnTo>
                      <a:pt x="0" y="29370"/>
                    </a:lnTo>
                    <a:cubicBezTo>
                      <a:pt x="0" y="21581"/>
                      <a:pt x="3094" y="14110"/>
                      <a:pt x="8602" y="8602"/>
                    </a:cubicBezTo>
                    <a:cubicBezTo>
                      <a:pt x="14110" y="3094"/>
                      <a:pt x="21581" y="0"/>
                      <a:pt x="293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4EBE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231481" cy="9861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3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91846" y="50800"/>
              <a:ext cx="6769347" cy="5446739"/>
            </a:xfrm>
            <a:custGeom>
              <a:avLst/>
              <a:gdLst/>
              <a:ahLst/>
              <a:cxnLst/>
              <a:rect r="r" b="b" t="t" l="l"/>
              <a:pathLst>
                <a:path h="5446739" w="6769347">
                  <a:moveTo>
                    <a:pt x="0" y="0"/>
                  </a:moveTo>
                  <a:lnTo>
                    <a:pt x="6769348" y="0"/>
                  </a:lnTo>
                  <a:lnTo>
                    <a:pt x="6769348" y="5446739"/>
                  </a:lnTo>
                  <a:lnTo>
                    <a:pt x="0" y="544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 검증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Cluster 2: 전망, 사진(SNS)형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9532" y="7108384"/>
            <a:ext cx="7104513" cy="253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b="true" sz="2243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[통계로 보는 근거] 탄탄한 인프라 입증 (Stats)</a:t>
            </a:r>
          </a:p>
          <a:p>
            <a:pPr algn="l" marL="440407" indent="-220203" lvl="1">
              <a:lnSpc>
                <a:spcPts val="2855"/>
              </a:lnSpc>
              <a:buFont typeface="Arial"/>
              <a:buChar char="•"/>
            </a:pPr>
            <a:r>
              <a:rPr lang="en-US" sz="2039" spc="20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검정 결과</a:t>
            </a:r>
          </a:p>
          <a:p>
            <a:pPr algn="l" marL="880814" indent="-293605" lvl="2">
              <a:lnSpc>
                <a:spcPts val="2855"/>
              </a:lnSpc>
              <a:buFont typeface="Arial"/>
              <a:buChar char="⚬"/>
            </a:pPr>
            <a:r>
              <a:rPr lang="en-US" sz="203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Welch's ANOVA: p &lt; 0.001, 효과크기 0.26</a:t>
            </a:r>
          </a:p>
          <a:p>
            <a:pPr algn="l" marL="440407" indent="-220203" lvl="1">
              <a:lnSpc>
                <a:spcPts val="2855"/>
              </a:lnSpc>
              <a:buFont typeface="Arial"/>
              <a:buChar char="•"/>
            </a:pPr>
            <a:r>
              <a:rPr lang="en-US" sz="2039" spc="20">
                <a:solidFill>
                  <a:srgbClr val="4844EC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 유의성</a:t>
            </a:r>
          </a:p>
          <a:p>
            <a:pPr algn="l" marL="880814" indent="-293605" lvl="2">
              <a:lnSpc>
                <a:spcPts val="2855"/>
              </a:lnSpc>
              <a:buFont typeface="Arial"/>
              <a:buChar char="⚬"/>
            </a:pPr>
            <a:r>
              <a:rPr lang="en-US" sz="203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정류장 접근성 등 타 군집 대비 통계적 우위</a:t>
            </a:r>
          </a:p>
          <a:p>
            <a:pPr algn="l" marL="440407" indent="-220203" lvl="1">
              <a:lnSpc>
                <a:spcPts val="2855"/>
              </a:lnSpc>
              <a:buFont typeface="Arial"/>
              <a:buChar char="•"/>
            </a:pPr>
            <a:r>
              <a:rPr lang="en-US" sz="2039" spc="20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인프라 유의성</a:t>
            </a:r>
          </a:p>
          <a:p>
            <a:pPr algn="l" marL="880814" indent="-293605" lvl="2">
              <a:lnSpc>
                <a:spcPts val="2855"/>
              </a:lnSpc>
              <a:buFont typeface="Arial"/>
              <a:buChar char="⚬"/>
            </a:pPr>
            <a:r>
              <a:rPr lang="en-US" sz="203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Games-Howell 사후검정: 0·1·4·5번 군집 대비 유의미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7918" y="7108384"/>
            <a:ext cx="6838493" cy="253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b="true" sz="2243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[수치로 보는 우위] 뛰어난 접근성과 편의성 (Score)</a:t>
            </a:r>
          </a:p>
          <a:p>
            <a:pPr algn="l" marL="440407" indent="-220203" lvl="1">
              <a:lnSpc>
                <a:spcPts val="2855"/>
              </a:lnSpc>
              <a:buFont typeface="Arial"/>
              <a:buChar char="•"/>
            </a:pPr>
            <a:r>
              <a:rPr lang="en-US" sz="2039" spc="20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대중교통 접근성 1위</a:t>
            </a:r>
          </a:p>
          <a:p>
            <a:pPr algn="l" marL="880814" indent="-293605" lvl="2">
              <a:lnSpc>
                <a:spcPts val="2855"/>
              </a:lnSpc>
              <a:buFont typeface="Arial"/>
              <a:buChar char="⚬"/>
            </a:pPr>
            <a:r>
              <a:rPr lang="en-US" sz="203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정류장 접근성 점수 평균 9.21점</a:t>
            </a:r>
          </a:p>
          <a:p>
            <a:pPr algn="l" marL="440407" indent="-220203" lvl="1">
              <a:lnSpc>
                <a:spcPts val="2855"/>
              </a:lnSpc>
              <a:buFont typeface="Arial"/>
              <a:buChar char="•"/>
            </a:pPr>
            <a:r>
              <a:rPr lang="en-US" sz="2039" spc="20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주차 편의성 최상위권</a:t>
            </a:r>
          </a:p>
          <a:p>
            <a:pPr algn="l" marL="880814" indent="-293605" lvl="2">
              <a:lnSpc>
                <a:spcPts val="2855"/>
              </a:lnSpc>
              <a:buFont typeface="Arial"/>
              <a:buChar char="⚬"/>
            </a:pPr>
            <a:r>
              <a:rPr lang="en-US" sz="203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주차장 접근성 점수 9.30점</a:t>
            </a:r>
          </a:p>
          <a:p>
            <a:pPr algn="l" marL="440407" indent="-220203" lvl="1">
              <a:lnSpc>
                <a:spcPts val="2855"/>
              </a:lnSpc>
              <a:buFont typeface="Arial"/>
              <a:buChar char="•"/>
            </a:pPr>
            <a:r>
              <a:rPr lang="en-US" sz="2039" spc="20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우수한 관광 인프라</a:t>
            </a:r>
          </a:p>
          <a:p>
            <a:pPr algn="l" marL="880814" indent="-293605" lvl="2">
              <a:lnSpc>
                <a:spcPts val="2855"/>
              </a:lnSpc>
              <a:buFont typeface="Arial"/>
              <a:buChar char="⚬"/>
            </a:pPr>
            <a:r>
              <a:rPr lang="en-US" sz="203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관광인프라 점수 6.13점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51135" y="3545652"/>
            <a:ext cx="4148388" cy="3358963"/>
            <a:chOff x="0" y="0"/>
            <a:chExt cx="5531183" cy="447861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531183" cy="4478617"/>
              <a:chOff x="0" y="0"/>
              <a:chExt cx="969031" cy="78462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9031" cy="784627"/>
              </a:xfrm>
              <a:custGeom>
                <a:avLst/>
                <a:gdLst/>
                <a:ahLst/>
                <a:cxnLst/>
                <a:rect r="r" b="b" t="t" l="l"/>
                <a:pathLst>
                  <a:path h="784627" w="969031">
                    <a:moveTo>
                      <a:pt x="37325" y="0"/>
                    </a:moveTo>
                    <a:lnTo>
                      <a:pt x="931706" y="0"/>
                    </a:lnTo>
                    <a:cubicBezTo>
                      <a:pt x="952320" y="0"/>
                      <a:pt x="969031" y="16711"/>
                      <a:pt x="969031" y="37325"/>
                    </a:cubicBezTo>
                    <a:lnTo>
                      <a:pt x="969031" y="747302"/>
                    </a:lnTo>
                    <a:cubicBezTo>
                      <a:pt x="969031" y="767916"/>
                      <a:pt x="952320" y="784627"/>
                      <a:pt x="931706" y="784627"/>
                    </a:cubicBezTo>
                    <a:lnTo>
                      <a:pt x="37325" y="784627"/>
                    </a:lnTo>
                    <a:cubicBezTo>
                      <a:pt x="16711" y="784627"/>
                      <a:pt x="0" y="767916"/>
                      <a:pt x="0" y="747302"/>
                    </a:cubicBezTo>
                    <a:lnTo>
                      <a:pt x="0" y="37325"/>
                    </a:lnTo>
                    <a:cubicBezTo>
                      <a:pt x="0" y="16711"/>
                      <a:pt x="16711" y="0"/>
                      <a:pt x="373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4EBE5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969031" cy="7846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3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99752" y="166539"/>
              <a:ext cx="5191731" cy="4260606"/>
            </a:xfrm>
            <a:custGeom>
              <a:avLst/>
              <a:gdLst/>
              <a:ahLst/>
              <a:cxnLst/>
              <a:rect r="r" b="b" t="t" l="l"/>
              <a:pathLst>
                <a:path h="4260606" w="5191731">
                  <a:moveTo>
                    <a:pt x="0" y="0"/>
                  </a:moveTo>
                  <a:lnTo>
                    <a:pt x="5191731" y="0"/>
                  </a:lnTo>
                  <a:lnTo>
                    <a:pt x="5191731" y="4260605"/>
                  </a:lnTo>
                  <a:lnTo>
                    <a:pt x="0" y="4260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010808" y="3545652"/>
            <a:ext cx="4148388" cy="3358963"/>
            <a:chOff x="0" y="0"/>
            <a:chExt cx="5531183" cy="447861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531183" cy="4478617"/>
              <a:chOff x="0" y="0"/>
              <a:chExt cx="969031" cy="78462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69031" cy="784627"/>
              </a:xfrm>
              <a:custGeom>
                <a:avLst/>
                <a:gdLst/>
                <a:ahLst/>
                <a:cxnLst/>
                <a:rect r="r" b="b" t="t" l="l"/>
                <a:pathLst>
                  <a:path h="784627" w="969031">
                    <a:moveTo>
                      <a:pt x="37325" y="0"/>
                    </a:moveTo>
                    <a:lnTo>
                      <a:pt x="931706" y="0"/>
                    </a:lnTo>
                    <a:cubicBezTo>
                      <a:pt x="952320" y="0"/>
                      <a:pt x="969031" y="16711"/>
                      <a:pt x="969031" y="37325"/>
                    </a:cubicBezTo>
                    <a:lnTo>
                      <a:pt x="969031" y="747302"/>
                    </a:lnTo>
                    <a:cubicBezTo>
                      <a:pt x="969031" y="767916"/>
                      <a:pt x="952320" y="784627"/>
                      <a:pt x="931706" y="784627"/>
                    </a:cubicBezTo>
                    <a:lnTo>
                      <a:pt x="37325" y="784627"/>
                    </a:lnTo>
                    <a:cubicBezTo>
                      <a:pt x="16711" y="784627"/>
                      <a:pt x="0" y="767916"/>
                      <a:pt x="0" y="747302"/>
                    </a:cubicBezTo>
                    <a:lnTo>
                      <a:pt x="0" y="37325"/>
                    </a:lnTo>
                    <a:cubicBezTo>
                      <a:pt x="0" y="16711"/>
                      <a:pt x="16711" y="0"/>
                      <a:pt x="373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4EBE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969031" cy="7846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3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45086" y="127302"/>
              <a:ext cx="5300038" cy="4287352"/>
            </a:xfrm>
            <a:custGeom>
              <a:avLst/>
              <a:gdLst/>
              <a:ahLst/>
              <a:cxnLst/>
              <a:rect r="r" b="b" t="t" l="l"/>
              <a:pathLst>
                <a:path h="4287352" w="5300038">
                  <a:moveTo>
                    <a:pt x="0" y="0"/>
                  </a:moveTo>
                  <a:lnTo>
                    <a:pt x="5300038" y="0"/>
                  </a:lnTo>
                  <a:lnTo>
                    <a:pt x="5300038" y="4287352"/>
                  </a:lnTo>
                  <a:lnTo>
                    <a:pt x="0" y="4287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3020306" y="495602"/>
              <a:ext cx="481661" cy="63500"/>
              <a:chOff x="0" y="0"/>
              <a:chExt cx="95143" cy="1254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143" cy="12543"/>
              </a:xfrm>
              <a:custGeom>
                <a:avLst/>
                <a:gdLst/>
                <a:ahLst/>
                <a:cxnLst/>
                <a:rect r="r" b="b" t="t" l="l"/>
                <a:pathLst>
                  <a:path h="12543" w="95143">
                    <a:moveTo>
                      <a:pt x="6272" y="0"/>
                    </a:moveTo>
                    <a:lnTo>
                      <a:pt x="88871" y="0"/>
                    </a:lnTo>
                    <a:cubicBezTo>
                      <a:pt x="90535" y="0"/>
                      <a:pt x="92130" y="661"/>
                      <a:pt x="93306" y="1837"/>
                    </a:cubicBezTo>
                    <a:cubicBezTo>
                      <a:pt x="94482" y="3013"/>
                      <a:pt x="95143" y="4608"/>
                      <a:pt x="95143" y="6272"/>
                    </a:cubicBezTo>
                    <a:lnTo>
                      <a:pt x="95143" y="6272"/>
                    </a:lnTo>
                    <a:cubicBezTo>
                      <a:pt x="95143" y="7935"/>
                      <a:pt x="94482" y="9530"/>
                      <a:pt x="93306" y="10706"/>
                    </a:cubicBezTo>
                    <a:cubicBezTo>
                      <a:pt x="92130" y="11882"/>
                      <a:pt x="90535" y="12543"/>
                      <a:pt x="88871" y="12543"/>
                    </a:cubicBezTo>
                    <a:lnTo>
                      <a:pt x="6272" y="12543"/>
                    </a:lnTo>
                    <a:cubicBezTo>
                      <a:pt x="4608" y="12543"/>
                      <a:pt x="3013" y="11882"/>
                      <a:pt x="1837" y="10706"/>
                    </a:cubicBezTo>
                    <a:cubicBezTo>
                      <a:pt x="661" y="9530"/>
                      <a:pt x="0" y="7935"/>
                      <a:pt x="0" y="6272"/>
                    </a:cubicBezTo>
                    <a:lnTo>
                      <a:pt x="0" y="6272"/>
                    </a:lnTo>
                    <a:cubicBezTo>
                      <a:pt x="0" y="4608"/>
                      <a:pt x="661" y="3013"/>
                      <a:pt x="1837" y="1837"/>
                    </a:cubicBezTo>
                    <a:cubicBezTo>
                      <a:pt x="3013" y="661"/>
                      <a:pt x="4608" y="0"/>
                      <a:pt x="627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95143" cy="50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57"/>
                  </a:lnSpc>
                </a:pPr>
              </a:p>
            </p:txBody>
          </p:sp>
        </p:grpSp>
        <p:sp>
          <p:nvSpPr>
            <p:cNvPr name="AutoShape 20" id="20"/>
            <p:cNvSpPr/>
            <p:nvPr/>
          </p:nvSpPr>
          <p:spPr>
            <a:xfrm>
              <a:off x="2965296" y="591393"/>
              <a:ext cx="655276" cy="0"/>
            </a:xfrm>
            <a:prstGeom prst="line">
              <a:avLst/>
            </a:prstGeom>
            <a:ln cap="flat" w="50800">
              <a:solidFill>
                <a:srgbClr val="3835E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920667" y="3545652"/>
            <a:ext cx="4148388" cy="3358963"/>
            <a:chOff x="0" y="0"/>
            <a:chExt cx="5531183" cy="447861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531183" cy="4478617"/>
              <a:chOff x="0" y="0"/>
              <a:chExt cx="969031" cy="78462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9031" cy="784627"/>
              </a:xfrm>
              <a:custGeom>
                <a:avLst/>
                <a:gdLst/>
                <a:ahLst/>
                <a:cxnLst/>
                <a:rect r="r" b="b" t="t" l="l"/>
                <a:pathLst>
                  <a:path h="784627" w="969031">
                    <a:moveTo>
                      <a:pt x="37325" y="0"/>
                    </a:moveTo>
                    <a:lnTo>
                      <a:pt x="931706" y="0"/>
                    </a:lnTo>
                    <a:cubicBezTo>
                      <a:pt x="952320" y="0"/>
                      <a:pt x="969031" y="16711"/>
                      <a:pt x="969031" y="37325"/>
                    </a:cubicBezTo>
                    <a:lnTo>
                      <a:pt x="969031" y="747302"/>
                    </a:lnTo>
                    <a:cubicBezTo>
                      <a:pt x="969031" y="767916"/>
                      <a:pt x="952320" y="784627"/>
                      <a:pt x="931706" y="784627"/>
                    </a:cubicBezTo>
                    <a:lnTo>
                      <a:pt x="37325" y="784627"/>
                    </a:lnTo>
                    <a:cubicBezTo>
                      <a:pt x="16711" y="784627"/>
                      <a:pt x="0" y="767916"/>
                      <a:pt x="0" y="747302"/>
                    </a:cubicBezTo>
                    <a:lnTo>
                      <a:pt x="0" y="37325"/>
                    </a:lnTo>
                    <a:cubicBezTo>
                      <a:pt x="0" y="16711"/>
                      <a:pt x="16711" y="0"/>
                      <a:pt x="373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4EBE5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969031" cy="7846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3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90173" y="107358"/>
              <a:ext cx="5300038" cy="4287352"/>
            </a:xfrm>
            <a:custGeom>
              <a:avLst/>
              <a:gdLst/>
              <a:ahLst/>
              <a:cxnLst/>
              <a:rect r="r" b="b" t="t" l="l"/>
              <a:pathLst>
                <a:path h="4287352" w="5300038">
                  <a:moveTo>
                    <a:pt x="0" y="0"/>
                  </a:moveTo>
                  <a:lnTo>
                    <a:pt x="5300038" y="0"/>
                  </a:lnTo>
                  <a:lnTo>
                    <a:pt x="5300038" y="4287352"/>
                  </a:lnTo>
                  <a:lnTo>
                    <a:pt x="0" y="4287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26" id="26"/>
            <p:cNvSpPr/>
            <p:nvPr/>
          </p:nvSpPr>
          <p:spPr>
            <a:xfrm>
              <a:off x="3015423" y="580956"/>
              <a:ext cx="668038" cy="0"/>
            </a:xfrm>
            <a:prstGeom prst="line">
              <a:avLst/>
            </a:prstGeom>
            <a:ln cap="flat" w="50800">
              <a:solidFill>
                <a:srgbClr val="3835E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 검증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Cluster 3: 가족,인프라형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27835" y="3835643"/>
            <a:ext cx="6800517" cy="5553568"/>
            <a:chOff x="0" y="0"/>
            <a:chExt cx="1588547" cy="1297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8547" cy="1297270"/>
            </a:xfrm>
            <a:custGeom>
              <a:avLst/>
              <a:gdLst/>
              <a:ahLst/>
              <a:cxnLst/>
              <a:rect r="r" b="b" t="t" l="l"/>
              <a:pathLst>
                <a:path h="1297270" w="1588547">
                  <a:moveTo>
                    <a:pt x="22769" y="0"/>
                  </a:moveTo>
                  <a:lnTo>
                    <a:pt x="1565779" y="0"/>
                  </a:lnTo>
                  <a:cubicBezTo>
                    <a:pt x="1578353" y="0"/>
                    <a:pt x="1588547" y="10194"/>
                    <a:pt x="1588547" y="22769"/>
                  </a:cubicBezTo>
                  <a:lnTo>
                    <a:pt x="1588547" y="1274501"/>
                  </a:lnTo>
                  <a:cubicBezTo>
                    <a:pt x="1588547" y="1287076"/>
                    <a:pt x="1578353" y="1297270"/>
                    <a:pt x="1565779" y="1297270"/>
                  </a:cubicBezTo>
                  <a:lnTo>
                    <a:pt x="22769" y="1297270"/>
                  </a:lnTo>
                  <a:cubicBezTo>
                    <a:pt x="10194" y="1297270"/>
                    <a:pt x="0" y="1287076"/>
                    <a:pt x="0" y="1274501"/>
                  </a:cubicBezTo>
                  <a:lnTo>
                    <a:pt x="0" y="22769"/>
                  </a:lnTo>
                  <a:cubicBezTo>
                    <a:pt x="0" y="10194"/>
                    <a:pt x="10194" y="0"/>
                    <a:pt x="227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BE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88547" cy="1297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981" y="5143500"/>
            <a:ext cx="7070006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b="true" sz="2300" spc="2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[수치로 보는 우위] 독보적 점수 (Score)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전체 군집 중 가장 높은 </a:t>
            </a:r>
            <a:r>
              <a:rPr lang="en-US" sz="2300" spc="23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평균 7.54</a:t>
            </a: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점 달성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확실한 점수 격차</a:t>
            </a:r>
          </a:p>
          <a:p>
            <a:pPr algn="l">
              <a:lnSpc>
                <a:spcPts val="2760"/>
              </a:lnSpc>
              <a:spcBef>
                <a:spcPct val="0"/>
              </a:spcBef>
            </a:pPr>
          </a:p>
          <a:p>
            <a:pPr algn="l">
              <a:lnSpc>
                <a:spcPts val="2760"/>
              </a:lnSpc>
              <a:spcBef>
                <a:spcPct val="0"/>
              </a:spcBef>
            </a:pPr>
            <a:r>
              <a:rPr lang="en-US" b="true" sz="2300" spc="2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[통계로 보는 근거] 완벽한 유의성 (Stats)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Welch's ANOVA 및 Games-Howell 사후검정 완료</a:t>
            </a:r>
          </a:p>
          <a:p>
            <a:pPr algn="l" marL="496571" indent="-248285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p &lt; 0.05로 </a:t>
            </a:r>
            <a:r>
              <a:rPr lang="en-US" sz="2300" spc="23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 군집 대비 통계적 우위 수학적으로 입증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57918" y="4027664"/>
            <a:ext cx="6494186" cy="5105655"/>
          </a:xfrm>
          <a:custGeom>
            <a:avLst/>
            <a:gdLst/>
            <a:ahLst/>
            <a:cxnLst/>
            <a:rect r="r" b="b" t="t" l="l"/>
            <a:pathLst>
              <a:path h="5105655" w="6494186">
                <a:moveTo>
                  <a:pt x="0" y="0"/>
                </a:moveTo>
                <a:lnTo>
                  <a:pt x="6494185" y="0"/>
                </a:lnTo>
                <a:lnTo>
                  <a:pt x="6494185" y="5105655"/>
                </a:lnTo>
                <a:lnTo>
                  <a:pt x="0" y="5105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57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 검증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Cluster 4: 힐링형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820851" y="3642770"/>
            <a:ext cx="5152602" cy="4051057"/>
            <a:chOff x="0" y="0"/>
            <a:chExt cx="1203607" cy="9462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3607" cy="946295"/>
            </a:xfrm>
            <a:custGeom>
              <a:avLst/>
              <a:gdLst/>
              <a:ahLst/>
              <a:cxnLst/>
              <a:rect r="r" b="b" t="t" l="l"/>
              <a:pathLst>
                <a:path h="946295" w="1203607">
                  <a:moveTo>
                    <a:pt x="30051" y="0"/>
                  </a:moveTo>
                  <a:lnTo>
                    <a:pt x="1173557" y="0"/>
                  </a:lnTo>
                  <a:cubicBezTo>
                    <a:pt x="1181526" y="0"/>
                    <a:pt x="1189170" y="3166"/>
                    <a:pt x="1194805" y="8802"/>
                  </a:cubicBezTo>
                  <a:cubicBezTo>
                    <a:pt x="1200441" y="14437"/>
                    <a:pt x="1203607" y="22081"/>
                    <a:pt x="1203607" y="30051"/>
                  </a:cubicBezTo>
                  <a:lnTo>
                    <a:pt x="1203607" y="916244"/>
                  </a:lnTo>
                  <a:cubicBezTo>
                    <a:pt x="1203607" y="932841"/>
                    <a:pt x="1190153" y="946295"/>
                    <a:pt x="1173557" y="946295"/>
                  </a:cubicBezTo>
                  <a:lnTo>
                    <a:pt x="30051" y="946295"/>
                  </a:lnTo>
                  <a:cubicBezTo>
                    <a:pt x="22081" y="946295"/>
                    <a:pt x="14437" y="943129"/>
                    <a:pt x="8802" y="937493"/>
                  </a:cubicBezTo>
                  <a:cubicBezTo>
                    <a:pt x="3166" y="931858"/>
                    <a:pt x="0" y="924214"/>
                    <a:pt x="0" y="916244"/>
                  </a:cubicBezTo>
                  <a:lnTo>
                    <a:pt x="0" y="30051"/>
                  </a:lnTo>
                  <a:cubicBezTo>
                    <a:pt x="0" y="22081"/>
                    <a:pt x="3166" y="14437"/>
                    <a:pt x="8802" y="8802"/>
                  </a:cubicBezTo>
                  <a:cubicBezTo>
                    <a:pt x="14437" y="3166"/>
                    <a:pt x="22081" y="0"/>
                    <a:pt x="3005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BE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03607" cy="946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7918" y="607761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분석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6877" y="3642770"/>
            <a:ext cx="5152602" cy="4051057"/>
            <a:chOff x="0" y="0"/>
            <a:chExt cx="1203607" cy="946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3607" cy="946295"/>
            </a:xfrm>
            <a:custGeom>
              <a:avLst/>
              <a:gdLst/>
              <a:ahLst/>
              <a:cxnLst/>
              <a:rect r="r" b="b" t="t" l="l"/>
              <a:pathLst>
                <a:path h="946295" w="1203607">
                  <a:moveTo>
                    <a:pt x="30051" y="0"/>
                  </a:moveTo>
                  <a:lnTo>
                    <a:pt x="1173557" y="0"/>
                  </a:lnTo>
                  <a:cubicBezTo>
                    <a:pt x="1181526" y="0"/>
                    <a:pt x="1189170" y="3166"/>
                    <a:pt x="1194805" y="8802"/>
                  </a:cubicBezTo>
                  <a:cubicBezTo>
                    <a:pt x="1200441" y="14437"/>
                    <a:pt x="1203607" y="22081"/>
                    <a:pt x="1203607" y="30051"/>
                  </a:cubicBezTo>
                  <a:lnTo>
                    <a:pt x="1203607" y="916244"/>
                  </a:lnTo>
                  <a:cubicBezTo>
                    <a:pt x="1203607" y="932841"/>
                    <a:pt x="1190153" y="946295"/>
                    <a:pt x="1173557" y="946295"/>
                  </a:cubicBezTo>
                  <a:lnTo>
                    <a:pt x="30051" y="946295"/>
                  </a:lnTo>
                  <a:cubicBezTo>
                    <a:pt x="22081" y="946295"/>
                    <a:pt x="14437" y="943129"/>
                    <a:pt x="8802" y="937493"/>
                  </a:cubicBezTo>
                  <a:cubicBezTo>
                    <a:pt x="3166" y="931858"/>
                    <a:pt x="0" y="924214"/>
                    <a:pt x="0" y="916244"/>
                  </a:cubicBezTo>
                  <a:lnTo>
                    <a:pt x="0" y="30051"/>
                  </a:lnTo>
                  <a:cubicBezTo>
                    <a:pt x="0" y="22081"/>
                    <a:pt x="3166" y="14437"/>
                    <a:pt x="8802" y="8802"/>
                  </a:cubicBezTo>
                  <a:cubicBezTo>
                    <a:pt x="14437" y="3166"/>
                    <a:pt x="22081" y="0"/>
                    <a:pt x="3005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4EBE5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203607" cy="946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68555" y="3726627"/>
            <a:ext cx="4869245" cy="3869768"/>
          </a:xfrm>
          <a:custGeom>
            <a:avLst/>
            <a:gdLst/>
            <a:ahLst/>
            <a:cxnLst/>
            <a:rect r="r" b="b" t="t" l="l"/>
            <a:pathLst>
              <a:path h="3869768" w="4869245">
                <a:moveTo>
                  <a:pt x="0" y="0"/>
                </a:moveTo>
                <a:lnTo>
                  <a:pt x="4869245" y="0"/>
                </a:lnTo>
                <a:lnTo>
                  <a:pt x="4869245" y="3869768"/>
                </a:lnTo>
                <a:lnTo>
                  <a:pt x="0" y="3869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38382" y="3726627"/>
            <a:ext cx="4783819" cy="3869768"/>
          </a:xfrm>
          <a:custGeom>
            <a:avLst/>
            <a:gdLst/>
            <a:ahLst/>
            <a:cxnLst/>
            <a:rect r="r" b="b" t="t" l="l"/>
            <a:pathLst>
              <a:path h="3869768" w="4783819">
                <a:moveTo>
                  <a:pt x="0" y="0"/>
                </a:moveTo>
                <a:lnTo>
                  <a:pt x="4783819" y="0"/>
                </a:lnTo>
                <a:lnTo>
                  <a:pt x="4783819" y="3869768"/>
                </a:lnTo>
                <a:lnTo>
                  <a:pt x="0" y="386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1998578"/>
            <a:ext cx="18288000" cy="1356574"/>
            <a:chOff x="0" y="0"/>
            <a:chExt cx="4816593" cy="3572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357287"/>
            </a:xfrm>
            <a:custGeom>
              <a:avLst/>
              <a:gdLst/>
              <a:ahLst/>
              <a:cxnLst/>
              <a:rect r="r" b="b" t="t" l="l"/>
              <a:pathLst>
                <a:path h="357287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353054"/>
                  </a:lnTo>
                  <a:cubicBezTo>
                    <a:pt x="4816592" y="354176"/>
                    <a:pt x="4816146" y="355253"/>
                    <a:pt x="4815353" y="356047"/>
                  </a:cubicBezTo>
                  <a:cubicBezTo>
                    <a:pt x="4814558" y="356841"/>
                    <a:pt x="4813482" y="357287"/>
                    <a:pt x="4812359" y="357287"/>
                  </a:cubicBezTo>
                  <a:lnTo>
                    <a:pt x="4233" y="357287"/>
                  </a:lnTo>
                  <a:cubicBezTo>
                    <a:pt x="3111" y="357287"/>
                    <a:pt x="2034" y="356841"/>
                    <a:pt x="1240" y="356047"/>
                  </a:cubicBezTo>
                  <a:cubicBezTo>
                    <a:pt x="446" y="355253"/>
                    <a:pt x="0" y="354176"/>
                    <a:pt x="0" y="353054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404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2810362"/>
            <a:ext cx="18288000" cy="544789"/>
            <a:chOff x="0" y="0"/>
            <a:chExt cx="4816593" cy="1434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143484"/>
            </a:xfrm>
            <a:custGeom>
              <a:avLst/>
              <a:gdLst/>
              <a:ahLst/>
              <a:cxnLst/>
              <a:rect r="r" b="b" t="t" l="l"/>
              <a:pathLst>
                <a:path h="143484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139250"/>
                  </a:lnTo>
                  <a:cubicBezTo>
                    <a:pt x="4816592" y="140373"/>
                    <a:pt x="4816146" y="141450"/>
                    <a:pt x="4815353" y="142244"/>
                  </a:cubicBezTo>
                  <a:cubicBezTo>
                    <a:pt x="4814558" y="143038"/>
                    <a:pt x="4813482" y="143484"/>
                    <a:pt x="4812359" y="143484"/>
                  </a:cubicBezTo>
                  <a:lnTo>
                    <a:pt x="4233" y="143484"/>
                  </a:lnTo>
                  <a:cubicBezTo>
                    <a:pt x="3111" y="143484"/>
                    <a:pt x="2034" y="143038"/>
                    <a:pt x="1240" y="142244"/>
                  </a:cubicBezTo>
                  <a:cubicBezTo>
                    <a:pt x="446" y="141450"/>
                    <a:pt x="0" y="140373"/>
                    <a:pt x="0" y="139250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784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816593" cy="191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9042" y="1982462"/>
            <a:ext cx="7310188" cy="70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3"/>
              </a:lnSpc>
              <a:spcBef>
                <a:spcPct val="0"/>
              </a:spcBef>
            </a:pPr>
            <a:r>
              <a:rPr lang="en-US" b="true" sz="3700" spc="3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 검증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9042" y="2815306"/>
            <a:ext cx="5853538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 spc="-54" b="true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Cluster 5: 숨은명소형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57427" y="7967870"/>
            <a:ext cx="8177659" cy="921771"/>
            <a:chOff x="0" y="0"/>
            <a:chExt cx="10903545" cy="122902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0"/>
              <a:ext cx="10903545" cy="1177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1"/>
                </a:lnSpc>
              </a:pPr>
              <a:r>
                <a:rPr lang="en-US" b="true" sz="2100" spc="63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1. [수치로 보는 특징] 불편함 속에 숨겨진 고매력 (Score)</a:t>
              </a:r>
            </a:p>
            <a:p>
              <a:pPr algn="l" marL="410945" indent="-205472" lvl="1">
                <a:lnSpc>
                  <a:spcPts val="2303"/>
                </a:lnSpc>
                <a:buFont typeface="Arial"/>
                <a:buChar char="•"/>
              </a:pPr>
              <a:r>
                <a:rPr lang="en-US" sz="1903" spc="57">
                  <a:solidFill>
                    <a:srgbClr val="4844EC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주차장 접근성</a:t>
              </a:r>
            </a:p>
            <a:p>
              <a:pPr algn="l" marL="821889" indent="-273963" lvl="2">
                <a:lnSpc>
                  <a:spcPts val="2303"/>
                </a:lnSpc>
                <a:buFont typeface="Arial"/>
                <a:buChar char="⚬"/>
              </a:pPr>
              <a:r>
                <a:rPr lang="en-US" sz="1903" spc="5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최하위 (1.23점)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93851" y="476553"/>
              <a:ext cx="5157291" cy="752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928" indent="-205464" lvl="1">
                <a:lnSpc>
                  <a:spcPts val="22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03" spc="19">
                  <a:solidFill>
                    <a:srgbClr val="3835E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매력종합점수</a:t>
              </a:r>
            </a:p>
            <a:p>
              <a:pPr algn="l" marL="821857" indent="-273952" lvl="2">
                <a:lnSpc>
                  <a:spcPts val="2283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1903" spc="19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7.21점으로 전체 평균 상회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526877" y="7931951"/>
            <a:ext cx="8177659" cy="145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b="true" sz="2100" spc="6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[통계로 보는 근거] '오지'의 희소성 입증 (Stats)</a:t>
            </a:r>
          </a:p>
          <a:p>
            <a:pPr algn="l" marL="410945" indent="-205472" lvl="1">
              <a:lnSpc>
                <a:spcPts val="2303"/>
              </a:lnSpc>
              <a:buFont typeface="Arial"/>
              <a:buChar char="•"/>
            </a:pPr>
            <a:r>
              <a:rPr lang="en-US" sz="1903" spc="57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검정 결과</a:t>
            </a:r>
          </a:p>
          <a:p>
            <a:pPr algn="l" marL="821889" indent="-273963" lvl="2">
              <a:lnSpc>
                <a:spcPts val="2303"/>
              </a:lnSpc>
              <a:buFont typeface="Arial"/>
              <a:buChar char="⚬"/>
            </a:pPr>
            <a:r>
              <a:rPr lang="en-US" sz="1903" spc="5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Welch's ANOVA : p &lt; 0.001, 효과크기 0.61 (매우 큰 효과)</a:t>
            </a:r>
          </a:p>
          <a:p>
            <a:pPr algn="l" marL="410945" indent="-205472" lvl="1">
              <a:lnSpc>
                <a:spcPts val="2303"/>
              </a:lnSpc>
              <a:buFont typeface="Arial"/>
              <a:buChar char="•"/>
            </a:pPr>
            <a:r>
              <a:rPr lang="en-US" sz="1903" spc="57">
                <a:solidFill>
                  <a:srgbClr val="3835E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사후검정 결과</a:t>
            </a:r>
          </a:p>
          <a:p>
            <a:pPr algn="l" marL="821889" indent="-273963" lvl="2">
              <a:lnSpc>
                <a:spcPts val="2303"/>
              </a:lnSpc>
              <a:buFont typeface="Arial"/>
              <a:buChar char="⚬"/>
            </a:pPr>
            <a:r>
              <a:rPr lang="en-US" sz="1903" spc="5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p &lt; 0.05 , 5번 군집이 0~4번 대비 압도적으로 낮음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1163" y="1058232"/>
            <a:ext cx="907878" cy="600833"/>
          </a:xfrm>
          <a:custGeom>
            <a:avLst/>
            <a:gdLst/>
            <a:ahLst/>
            <a:cxnLst/>
            <a:rect r="r" b="b" t="t" l="l"/>
            <a:pathLst>
              <a:path h="600833" w="907878">
                <a:moveTo>
                  <a:pt x="0" y="0"/>
                </a:moveTo>
                <a:lnTo>
                  <a:pt x="907879" y="0"/>
                </a:lnTo>
                <a:lnTo>
                  <a:pt x="907879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85708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1163" y="1058232"/>
            <a:ext cx="1243057" cy="600833"/>
          </a:xfrm>
          <a:custGeom>
            <a:avLst/>
            <a:gdLst/>
            <a:ahLst/>
            <a:cxnLst/>
            <a:rect r="r" b="b" t="t" l="l"/>
            <a:pathLst>
              <a:path h="600833" w="1243057">
                <a:moveTo>
                  <a:pt x="0" y="0"/>
                </a:moveTo>
                <a:lnTo>
                  <a:pt x="1243057" y="0"/>
                </a:lnTo>
                <a:lnTo>
                  <a:pt x="1243057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563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28151" y="2788833"/>
            <a:ext cx="14431699" cy="1872025"/>
            <a:chOff x="0" y="0"/>
            <a:chExt cx="3800941" cy="4930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00941" cy="493044"/>
            </a:xfrm>
            <a:custGeom>
              <a:avLst/>
              <a:gdLst/>
              <a:ahLst/>
              <a:cxnLst/>
              <a:rect r="r" b="b" t="t" l="l"/>
              <a:pathLst>
                <a:path h="493044" w="3800941">
                  <a:moveTo>
                    <a:pt x="27359" y="0"/>
                  </a:moveTo>
                  <a:lnTo>
                    <a:pt x="3773582" y="0"/>
                  </a:lnTo>
                  <a:cubicBezTo>
                    <a:pt x="3780838" y="0"/>
                    <a:pt x="3787797" y="2882"/>
                    <a:pt x="3792928" y="8013"/>
                  </a:cubicBezTo>
                  <a:cubicBezTo>
                    <a:pt x="3798059" y="13144"/>
                    <a:pt x="3800941" y="20103"/>
                    <a:pt x="3800941" y="27359"/>
                  </a:cubicBezTo>
                  <a:lnTo>
                    <a:pt x="3800941" y="465684"/>
                  </a:lnTo>
                  <a:cubicBezTo>
                    <a:pt x="3800941" y="480794"/>
                    <a:pt x="3788692" y="493044"/>
                    <a:pt x="3773582" y="493044"/>
                  </a:cubicBezTo>
                  <a:lnTo>
                    <a:pt x="27359" y="493044"/>
                  </a:lnTo>
                  <a:cubicBezTo>
                    <a:pt x="12249" y="493044"/>
                    <a:pt x="0" y="480794"/>
                    <a:pt x="0" y="465684"/>
                  </a:cubicBezTo>
                  <a:lnTo>
                    <a:pt x="0" y="27359"/>
                  </a:lnTo>
                  <a:cubicBezTo>
                    <a:pt x="0" y="12249"/>
                    <a:pt x="12249" y="0"/>
                    <a:pt x="27359" y="0"/>
                  </a:cubicBez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800941" cy="49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560940" y="5370963"/>
            <a:ext cx="2480842" cy="2487055"/>
          </a:xfrm>
          <a:custGeom>
            <a:avLst/>
            <a:gdLst/>
            <a:ahLst/>
            <a:cxnLst/>
            <a:rect r="r" b="b" t="t" l="l"/>
            <a:pathLst>
              <a:path h="2487055" w="2480842">
                <a:moveTo>
                  <a:pt x="0" y="0"/>
                </a:moveTo>
                <a:lnTo>
                  <a:pt x="2480842" y="0"/>
                </a:lnTo>
                <a:lnTo>
                  <a:pt x="2480842" y="2487055"/>
                </a:lnTo>
                <a:lnTo>
                  <a:pt x="0" y="24870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673" t="-6088" r="-827" b="-9889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79201" y="5449692"/>
            <a:ext cx="2329598" cy="2329598"/>
          </a:xfrm>
          <a:custGeom>
            <a:avLst/>
            <a:gdLst/>
            <a:ahLst/>
            <a:cxnLst/>
            <a:rect r="r" b="b" t="t" l="l"/>
            <a:pathLst>
              <a:path h="2329598" w="2329598">
                <a:moveTo>
                  <a:pt x="0" y="0"/>
                </a:moveTo>
                <a:lnTo>
                  <a:pt x="2329598" y="0"/>
                </a:lnTo>
                <a:lnTo>
                  <a:pt x="2329598" y="2329598"/>
                </a:lnTo>
                <a:lnTo>
                  <a:pt x="0" y="23295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79395" y="5469340"/>
            <a:ext cx="2290301" cy="2290301"/>
          </a:xfrm>
          <a:custGeom>
            <a:avLst/>
            <a:gdLst/>
            <a:ahLst/>
            <a:cxnLst/>
            <a:rect r="r" b="b" t="t" l="l"/>
            <a:pathLst>
              <a:path h="2290301" w="2290301">
                <a:moveTo>
                  <a:pt x="0" y="0"/>
                </a:moveTo>
                <a:lnTo>
                  <a:pt x="2290301" y="0"/>
                </a:lnTo>
                <a:lnTo>
                  <a:pt x="2290301" y="2290301"/>
                </a:lnTo>
                <a:lnTo>
                  <a:pt x="0" y="2290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7918" y="607761"/>
            <a:ext cx="582128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대시보드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105408" y="8067568"/>
            <a:ext cx="2658185" cy="449213"/>
            <a:chOff x="0" y="0"/>
            <a:chExt cx="700098" cy="118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0098" cy="118311"/>
            </a:xfrm>
            <a:custGeom>
              <a:avLst/>
              <a:gdLst/>
              <a:ahLst/>
              <a:cxnLst/>
              <a:rect r="r" b="b" t="t" l="l"/>
              <a:pathLst>
                <a:path h="118311" w="700098">
                  <a:moveTo>
                    <a:pt x="0" y="0"/>
                  </a:moveTo>
                  <a:lnTo>
                    <a:pt x="700098" y="0"/>
                  </a:lnTo>
                  <a:lnTo>
                    <a:pt x="700098" y="118311"/>
                  </a:lnTo>
                  <a:lnTo>
                    <a:pt x="0" y="118311"/>
                  </a:lnTo>
                  <a:close/>
                </a:path>
              </a:pathLst>
            </a:custGeom>
            <a:solidFill>
              <a:srgbClr val="E5E2DF">
                <a:alpha val="53725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00098" cy="11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14296" y="7937527"/>
            <a:ext cx="2440409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b="true" sz="2300" spc="69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맞춤형 추천 희망자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05301" y="8667777"/>
            <a:ext cx="281386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18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새로운 산을</a:t>
            </a:r>
            <a:r>
              <a:rPr lang="en-US" sz="1800" spc="18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발견하거나 여러 코스를 비교 분석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106408" y="8067568"/>
            <a:ext cx="2018341" cy="449213"/>
            <a:chOff x="0" y="0"/>
            <a:chExt cx="531579" cy="118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1579" cy="118311"/>
            </a:xfrm>
            <a:custGeom>
              <a:avLst/>
              <a:gdLst/>
              <a:ahLst/>
              <a:cxnLst/>
              <a:rect r="r" b="b" t="t" l="l"/>
              <a:pathLst>
                <a:path h="118311" w="531579">
                  <a:moveTo>
                    <a:pt x="0" y="0"/>
                  </a:moveTo>
                  <a:lnTo>
                    <a:pt x="531579" y="0"/>
                  </a:lnTo>
                  <a:lnTo>
                    <a:pt x="531579" y="118311"/>
                  </a:lnTo>
                  <a:lnTo>
                    <a:pt x="0" y="118311"/>
                  </a:lnTo>
                  <a:close/>
                </a:path>
              </a:pathLst>
            </a:custGeom>
            <a:solidFill>
              <a:srgbClr val="E5E2DF">
                <a:alpha val="5372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31579" cy="11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18893" y="7937527"/>
            <a:ext cx="1786682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b="true" sz="2300" spc="69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등산지 탐색자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35413" y="8667777"/>
            <a:ext cx="253189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18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</a:t>
            </a:r>
            <a:r>
              <a:rPr lang="en-US" sz="1800" spc="18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관광 데이터 분석 및 인사이트 활용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19215" y="8067568"/>
            <a:ext cx="3326467" cy="449213"/>
            <a:chOff x="0" y="0"/>
            <a:chExt cx="876107" cy="1183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6107" cy="118311"/>
            </a:xfrm>
            <a:custGeom>
              <a:avLst/>
              <a:gdLst/>
              <a:ahLst/>
              <a:cxnLst/>
              <a:rect r="r" b="b" t="t" l="l"/>
              <a:pathLst>
                <a:path h="118311" w="876107">
                  <a:moveTo>
                    <a:pt x="0" y="0"/>
                  </a:moveTo>
                  <a:lnTo>
                    <a:pt x="876107" y="0"/>
                  </a:lnTo>
                  <a:lnTo>
                    <a:pt x="876107" y="118311"/>
                  </a:lnTo>
                  <a:lnTo>
                    <a:pt x="0" y="118311"/>
                  </a:lnTo>
                  <a:close/>
                </a:path>
              </a:pathLst>
            </a:custGeom>
            <a:solidFill>
              <a:srgbClr val="E5E2DF">
                <a:alpha val="53725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6107" cy="118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224378" y="7937527"/>
            <a:ext cx="3153966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b="true" sz="2300" spc="69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지역 관광 활성화 담당자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55545" y="3309238"/>
            <a:ext cx="732234" cy="66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b="true" sz="2999" spc="89">
                <a:solidFill>
                  <a:srgbClr val="6B5C4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목표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77942" y="2943541"/>
            <a:ext cx="8902005" cy="1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956"/>
              </a:lnSpc>
              <a:buFont typeface="Arial"/>
              <a:buChar char="•"/>
            </a:pPr>
            <a:r>
              <a:rPr lang="en-US" b="true" sz="2300" spc="41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정보 접근성 향상</a:t>
            </a:r>
            <a:r>
              <a:rPr lang="en-US" sz="2300" spc="4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흩어진 등산 정보를 하나의 플랫폼에서 통합 제공</a:t>
            </a:r>
          </a:p>
          <a:p>
            <a:pPr algn="l" marL="496571" indent="-248285" lvl="1">
              <a:lnSpc>
                <a:spcPts val="3956"/>
              </a:lnSpc>
              <a:buFont typeface="Arial"/>
              <a:buChar char="•"/>
            </a:pPr>
            <a:r>
              <a:rPr lang="en-US" b="true" sz="2300" spc="41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개인 맞춤형 코스 제안:</a:t>
            </a:r>
            <a:r>
              <a:rPr lang="en-US" sz="2300" spc="4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선호도와 조건에 따른 최적의 등산 코스 추천</a:t>
            </a:r>
          </a:p>
          <a:p>
            <a:pPr algn="l" marL="496571" indent="-248285" lvl="1">
              <a:lnSpc>
                <a:spcPts val="3956"/>
              </a:lnSpc>
              <a:buFont typeface="Arial"/>
              <a:buChar char="•"/>
            </a:pPr>
            <a:r>
              <a:rPr lang="en-US" b="true" sz="2300" spc="41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국내 등산 관광 활성화:</a:t>
            </a:r>
            <a:r>
              <a:rPr lang="en-US" sz="2300" spc="4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체계적 정보 제공으로 국내 산행 문화 촉진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49841" y="8667777"/>
            <a:ext cx="27993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18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개인의 체력, 선호도,</a:t>
            </a:r>
            <a:r>
              <a:rPr lang="en-US" sz="1800" spc="18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접근성 조건에 맞는 최적의 산을 서치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1163" y="1058232"/>
            <a:ext cx="1243057" cy="600833"/>
          </a:xfrm>
          <a:custGeom>
            <a:avLst/>
            <a:gdLst/>
            <a:ahLst/>
            <a:cxnLst/>
            <a:rect r="r" b="b" t="t" l="l"/>
            <a:pathLst>
              <a:path h="600833" w="1243057">
                <a:moveTo>
                  <a:pt x="0" y="0"/>
                </a:moveTo>
                <a:lnTo>
                  <a:pt x="1243057" y="0"/>
                </a:lnTo>
                <a:lnTo>
                  <a:pt x="1243057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563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2652" y="2799494"/>
            <a:ext cx="10961873" cy="4745602"/>
          </a:xfrm>
          <a:custGeom>
            <a:avLst/>
            <a:gdLst/>
            <a:ahLst/>
            <a:cxnLst/>
            <a:rect r="r" b="b" t="t" l="l"/>
            <a:pathLst>
              <a:path h="4745602" w="10961873">
                <a:moveTo>
                  <a:pt x="0" y="0"/>
                </a:moveTo>
                <a:lnTo>
                  <a:pt x="10961873" y="0"/>
                </a:lnTo>
                <a:lnTo>
                  <a:pt x="10961873" y="4745601"/>
                </a:lnTo>
                <a:lnTo>
                  <a:pt x="0" y="4745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769" r="-707" b="-2102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2652" y="7545095"/>
            <a:ext cx="10961873" cy="2614269"/>
          </a:xfrm>
          <a:custGeom>
            <a:avLst/>
            <a:gdLst/>
            <a:ahLst/>
            <a:cxnLst/>
            <a:rect r="r" b="b" t="t" l="l"/>
            <a:pathLst>
              <a:path h="2614269" w="10961873">
                <a:moveTo>
                  <a:pt x="0" y="0"/>
                </a:moveTo>
                <a:lnTo>
                  <a:pt x="10961873" y="0"/>
                </a:lnTo>
                <a:lnTo>
                  <a:pt x="10961873" y="2614270"/>
                </a:lnTo>
                <a:lnTo>
                  <a:pt x="0" y="2614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9225" r="-707" b="-1273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97205" y="2751833"/>
            <a:ext cx="1806355" cy="7407532"/>
            <a:chOff x="0" y="0"/>
            <a:chExt cx="135402" cy="5552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402" cy="555261"/>
            </a:xfrm>
            <a:custGeom>
              <a:avLst/>
              <a:gdLst/>
              <a:ahLst/>
              <a:cxnLst/>
              <a:rect r="r" b="b" t="t" l="l"/>
              <a:pathLst>
                <a:path h="555261" w="135402">
                  <a:moveTo>
                    <a:pt x="0" y="0"/>
                  </a:moveTo>
                  <a:lnTo>
                    <a:pt x="135402" y="0"/>
                  </a:lnTo>
                  <a:lnTo>
                    <a:pt x="135402" y="555261"/>
                  </a:lnTo>
                  <a:lnTo>
                    <a:pt x="0" y="5552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5402" cy="555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35759" y="4920127"/>
            <a:ext cx="8902109" cy="2771510"/>
            <a:chOff x="0" y="0"/>
            <a:chExt cx="667292" cy="2077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7292" cy="207749"/>
            </a:xfrm>
            <a:custGeom>
              <a:avLst/>
              <a:gdLst/>
              <a:ahLst/>
              <a:cxnLst/>
              <a:rect r="r" b="b" t="t" l="l"/>
              <a:pathLst>
                <a:path h="207749" w="667292">
                  <a:moveTo>
                    <a:pt x="0" y="0"/>
                  </a:moveTo>
                  <a:lnTo>
                    <a:pt x="667292" y="0"/>
                  </a:lnTo>
                  <a:lnTo>
                    <a:pt x="667292" y="207749"/>
                  </a:lnTo>
                  <a:lnTo>
                    <a:pt x="0" y="2077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667292" cy="207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99257" y="4817613"/>
            <a:ext cx="4067738" cy="2098547"/>
            <a:chOff x="0" y="0"/>
            <a:chExt cx="5423650" cy="279806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23650" cy="2798062"/>
              <a:chOff x="0" y="0"/>
              <a:chExt cx="1207684" cy="62304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07684" cy="623044"/>
              </a:xfrm>
              <a:custGeom>
                <a:avLst/>
                <a:gdLst/>
                <a:ahLst/>
                <a:cxnLst/>
                <a:rect r="r" b="b" t="t" l="l"/>
                <a:pathLst>
                  <a:path h="623044" w="1207684">
                    <a:moveTo>
                      <a:pt x="37173" y="0"/>
                    </a:moveTo>
                    <a:lnTo>
                      <a:pt x="1170511" y="0"/>
                    </a:lnTo>
                    <a:cubicBezTo>
                      <a:pt x="1191041" y="0"/>
                      <a:pt x="1207684" y="16643"/>
                      <a:pt x="1207684" y="37173"/>
                    </a:cubicBezTo>
                    <a:lnTo>
                      <a:pt x="1207684" y="585871"/>
                    </a:lnTo>
                    <a:cubicBezTo>
                      <a:pt x="1207684" y="595730"/>
                      <a:pt x="1203767" y="605185"/>
                      <a:pt x="1196796" y="612157"/>
                    </a:cubicBezTo>
                    <a:cubicBezTo>
                      <a:pt x="1189825" y="619128"/>
                      <a:pt x="1180370" y="623044"/>
                      <a:pt x="1170511" y="623044"/>
                    </a:cubicBezTo>
                    <a:lnTo>
                      <a:pt x="37173" y="623044"/>
                    </a:lnTo>
                    <a:cubicBezTo>
                      <a:pt x="27314" y="623044"/>
                      <a:pt x="17859" y="619128"/>
                      <a:pt x="10888" y="612157"/>
                    </a:cubicBezTo>
                    <a:cubicBezTo>
                      <a:pt x="3916" y="605185"/>
                      <a:pt x="0" y="595730"/>
                      <a:pt x="0" y="585871"/>
                    </a:cubicBezTo>
                    <a:lnTo>
                      <a:pt x="0" y="37173"/>
                    </a:lnTo>
                    <a:cubicBezTo>
                      <a:pt x="0" y="27314"/>
                      <a:pt x="3916" y="17859"/>
                      <a:pt x="10888" y="10888"/>
                    </a:cubicBezTo>
                    <a:cubicBezTo>
                      <a:pt x="17859" y="3916"/>
                      <a:pt x="27314" y="0"/>
                      <a:pt x="37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207684" cy="623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01787" y="370331"/>
              <a:ext cx="4220076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주요 기능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3188" y="979931"/>
              <a:ext cx="4657275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대시보드 주요 기능을 페이지별로 소개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원하는 기능을 제공하는 페이지를 선택할 수 있도록 하는 가이드 역할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99257" y="7216711"/>
            <a:ext cx="4067738" cy="1388001"/>
            <a:chOff x="0" y="0"/>
            <a:chExt cx="5423650" cy="185066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423650" cy="1850668"/>
              <a:chOff x="0" y="0"/>
              <a:chExt cx="1207684" cy="41208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07684" cy="412088"/>
              </a:xfrm>
              <a:custGeom>
                <a:avLst/>
                <a:gdLst/>
                <a:ahLst/>
                <a:cxnLst/>
                <a:rect r="r" b="b" t="t" l="l"/>
                <a:pathLst>
                  <a:path h="412088" w="1207684">
                    <a:moveTo>
                      <a:pt x="37173" y="0"/>
                    </a:moveTo>
                    <a:lnTo>
                      <a:pt x="1170511" y="0"/>
                    </a:lnTo>
                    <a:cubicBezTo>
                      <a:pt x="1191041" y="0"/>
                      <a:pt x="1207684" y="16643"/>
                      <a:pt x="1207684" y="37173"/>
                    </a:cubicBezTo>
                    <a:lnTo>
                      <a:pt x="1207684" y="374915"/>
                    </a:lnTo>
                    <a:cubicBezTo>
                      <a:pt x="1207684" y="384774"/>
                      <a:pt x="1203767" y="394229"/>
                      <a:pt x="1196796" y="401200"/>
                    </a:cubicBezTo>
                    <a:cubicBezTo>
                      <a:pt x="1189825" y="408172"/>
                      <a:pt x="1180370" y="412088"/>
                      <a:pt x="1170511" y="412088"/>
                    </a:cubicBezTo>
                    <a:lnTo>
                      <a:pt x="37173" y="412088"/>
                    </a:lnTo>
                    <a:cubicBezTo>
                      <a:pt x="27314" y="412088"/>
                      <a:pt x="17859" y="408172"/>
                      <a:pt x="10888" y="401200"/>
                    </a:cubicBezTo>
                    <a:cubicBezTo>
                      <a:pt x="3916" y="394229"/>
                      <a:pt x="0" y="384774"/>
                      <a:pt x="0" y="374915"/>
                    </a:cubicBezTo>
                    <a:lnTo>
                      <a:pt x="0" y="37173"/>
                    </a:lnTo>
                    <a:cubicBezTo>
                      <a:pt x="0" y="27314"/>
                      <a:pt x="3916" y="17859"/>
                      <a:pt x="10888" y="10888"/>
                    </a:cubicBezTo>
                    <a:cubicBezTo>
                      <a:pt x="17859" y="3916"/>
                      <a:pt x="27314" y="0"/>
                      <a:pt x="37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07684" cy="4120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01787" y="375142"/>
              <a:ext cx="4220076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사이드 바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3188" y="984480"/>
              <a:ext cx="4657275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선택한 페이지로 이동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12137868" y="6113009"/>
            <a:ext cx="961389" cy="0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3003560" y="7910712"/>
            <a:ext cx="10095697" cy="33408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0" y="1990473"/>
            <a:ext cx="18288000" cy="637676"/>
            <a:chOff x="0" y="0"/>
            <a:chExt cx="4816593" cy="1679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16592" cy="167948"/>
            </a:xfrm>
            <a:custGeom>
              <a:avLst/>
              <a:gdLst/>
              <a:ahLst/>
              <a:cxnLst/>
              <a:rect r="r" b="b" t="t" l="l"/>
              <a:pathLst>
                <a:path h="1679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7948"/>
                  </a:lnTo>
                  <a:lnTo>
                    <a:pt x="0" y="167948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816593" cy="215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847598"/>
            <a:ext cx="3203398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홈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57918" y="607761"/>
            <a:ext cx="582128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대시보드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8951" y="1285855"/>
            <a:ext cx="8914025" cy="8777637"/>
            <a:chOff x="0" y="0"/>
            <a:chExt cx="11885367" cy="117035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5367" cy="6257403"/>
            </a:xfrm>
            <a:custGeom>
              <a:avLst/>
              <a:gdLst/>
              <a:ahLst/>
              <a:cxnLst/>
              <a:rect r="r" b="b" t="t" l="l"/>
              <a:pathLst>
                <a:path h="6257403" w="11885367">
                  <a:moveTo>
                    <a:pt x="0" y="0"/>
                  </a:moveTo>
                  <a:lnTo>
                    <a:pt x="11885367" y="0"/>
                  </a:lnTo>
                  <a:lnTo>
                    <a:pt x="11885367" y="6257403"/>
                  </a:lnTo>
                  <a:lnTo>
                    <a:pt x="0" y="6257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965" r="-559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999867"/>
              <a:ext cx="11885367" cy="3284500"/>
            </a:xfrm>
            <a:custGeom>
              <a:avLst/>
              <a:gdLst/>
              <a:ahLst/>
              <a:cxnLst/>
              <a:rect r="r" b="b" t="t" l="l"/>
              <a:pathLst>
                <a:path h="3284500" w="11885367">
                  <a:moveTo>
                    <a:pt x="0" y="0"/>
                  </a:moveTo>
                  <a:lnTo>
                    <a:pt x="11885367" y="0"/>
                  </a:lnTo>
                  <a:lnTo>
                    <a:pt x="11885367" y="3284500"/>
                  </a:lnTo>
                  <a:lnTo>
                    <a:pt x="0" y="328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7120" r="-55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9062739"/>
              <a:ext cx="11885367" cy="2640776"/>
            </a:xfrm>
            <a:custGeom>
              <a:avLst/>
              <a:gdLst/>
              <a:ahLst/>
              <a:cxnLst/>
              <a:rect r="r" b="b" t="t" l="l"/>
              <a:pathLst>
                <a:path h="2640776" w="11885367">
                  <a:moveTo>
                    <a:pt x="0" y="0"/>
                  </a:moveTo>
                  <a:lnTo>
                    <a:pt x="11885367" y="0"/>
                  </a:lnTo>
                  <a:lnTo>
                    <a:pt x="11885367" y="2640776"/>
                  </a:lnTo>
                  <a:lnTo>
                    <a:pt x="0" y="2640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9681" r="-559" b="-2036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19753" y="1833079"/>
            <a:ext cx="4067738" cy="1531171"/>
            <a:chOff x="0" y="0"/>
            <a:chExt cx="5423650" cy="204156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423650" cy="2041561"/>
              <a:chOff x="0" y="0"/>
              <a:chExt cx="1207684" cy="45459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07684" cy="454594"/>
              </a:xfrm>
              <a:custGeom>
                <a:avLst/>
                <a:gdLst/>
                <a:ahLst/>
                <a:cxnLst/>
                <a:rect r="r" b="b" t="t" l="l"/>
                <a:pathLst>
                  <a:path h="454594" w="1207684">
                    <a:moveTo>
                      <a:pt x="37173" y="0"/>
                    </a:moveTo>
                    <a:lnTo>
                      <a:pt x="1170511" y="0"/>
                    </a:lnTo>
                    <a:cubicBezTo>
                      <a:pt x="1191041" y="0"/>
                      <a:pt x="1207684" y="16643"/>
                      <a:pt x="1207684" y="37173"/>
                    </a:cubicBezTo>
                    <a:lnTo>
                      <a:pt x="1207684" y="417421"/>
                    </a:lnTo>
                    <a:cubicBezTo>
                      <a:pt x="1207684" y="427280"/>
                      <a:pt x="1203767" y="436735"/>
                      <a:pt x="1196796" y="443707"/>
                    </a:cubicBezTo>
                    <a:cubicBezTo>
                      <a:pt x="1189825" y="450678"/>
                      <a:pt x="1180370" y="454594"/>
                      <a:pt x="1170511" y="454594"/>
                    </a:cubicBezTo>
                    <a:lnTo>
                      <a:pt x="37173" y="454594"/>
                    </a:lnTo>
                    <a:cubicBezTo>
                      <a:pt x="27314" y="454594"/>
                      <a:pt x="17859" y="450678"/>
                      <a:pt x="10888" y="443707"/>
                    </a:cubicBezTo>
                    <a:cubicBezTo>
                      <a:pt x="3916" y="436735"/>
                      <a:pt x="0" y="427280"/>
                      <a:pt x="0" y="417421"/>
                    </a:cubicBezTo>
                    <a:lnTo>
                      <a:pt x="0" y="37173"/>
                    </a:lnTo>
                    <a:cubicBezTo>
                      <a:pt x="0" y="27314"/>
                      <a:pt x="3916" y="17859"/>
                      <a:pt x="10888" y="10888"/>
                    </a:cubicBezTo>
                    <a:cubicBezTo>
                      <a:pt x="17859" y="3916"/>
                      <a:pt x="27314" y="0"/>
                      <a:pt x="37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1207684" cy="4545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01787" y="370331"/>
              <a:ext cx="4220076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데이터 개요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3188" y="979931"/>
              <a:ext cx="465727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프로젝트에 활용된</a:t>
              </a: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 데이터의 볼륨을 요약하여 확인 가능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80382" y="2063426"/>
            <a:ext cx="6683313" cy="1060952"/>
            <a:chOff x="0" y="0"/>
            <a:chExt cx="711105" cy="1128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105" cy="112885"/>
            </a:xfrm>
            <a:custGeom>
              <a:avLst/>
              <a:gdLst/>
              <a:ahLst/>
              <a:cxnLst/>
              <a:rect r="r" b="b" t="t" l="l"/>
              <a:pathLst>
                <a:path h="112885" w="711105">
                  <a:moveTo>
                    <a:pt x="0" y="0"/>
                  </a:moveTo>
                  <a:lnTo>
                    <a:pt x="711105" y="0"/>
                  </a:lnTo>
                  <a:lnTo>
                    <a:pt x="711105" y="112885"/>
                  </a:lnTo>
                  <a:lnTo>
                    <a:pt x="0" y="1128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11105" cy="11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563866" y="2598665"/>
            <a:ext cx="1655887" cy="0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880382" y="3277176"/>
            <a:ext cx="7211830" cy="6626572"/>
            <a:chOff x="0" y="0"/>
            <a:chExt cx="540591" cy="4967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0591" cy="496721"/>
            </a:xfrm>
            <a:custGeom>
              <a:avLst/>
              <a:gdLst/>
              <a:ahLst/>
              <a:cxnLst/>
              <a:rect r="r" b="b" t="t" l="l"/>
              <a:pathLst>
                <a:path h="496721" w="540591">
                  <a:moveTo>
                    <a:pt x="0" y="0"/>
                  </a:moveTo>
                  <a:lnTo>
                    <a:pt x="540591" y="0"/>
                  </a:lnTo>
                  <a:lnTo>
                    <a:pt x="540591" y="496721"/>
                  </a:lnTo>
                  <a:lnTo>
                    <a:pt x="0" y="4967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40591" cy="496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19753" y="3927303"/>
            <a:ext cx="4067738" cy="2302696"/>
            <a:chOff x="0" y="0"/>
            <a:chExt cx="5423650" cy="307026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423650" cy="3070261"/>
              <a:chOff x="0" y="0"/>
              <a:chExt cx="1207684" cy="68365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07684" cy="683655"/>
              </a:xfrm>
              <a:custGeom>
                <a:avLst/>
                <a:gdLst/>
                <a:ahLst/>
                <a:cxnLst/>
                <a:rect r="r" b="b" t="t" l="l"/>
                <a:pathLst>
                  <a:path h="683655" w="1207684">
                    <a:moveTo>
                      <a:pt x="37173" y="0"/>
                    </a:moveTo>
                    <a:lnTo>
                      <a:pt x="1170511" y="0"/>
                    </a:lnTo>
                    <a:cubicBezTo>
                      <a:pt x="1191041" y="0"/>
                      <a:pt x="1207684" y="16643"/>
                      <a:pt x="1207684" y="37173"/>
                    </a:cubicBezTo>
                    <a:lnTo>
                      <a:pt x="1207684" y="646482"/>
                    </a:lnTo>
                    <a:cubicBezTo>
                      <a:pt x="1207684" y="656341"/>
                      <a:pt x="1203767" y="665796"/>
                      <a:pt x="1196796" y="672767"/>
                    </a:cubicBezTo>
                    <a:cubicBezTo>
                      <a:pt x="1189825" y="679738"/>
                      <a:pt x="1180370" y="683655"/>
                      <a:pt x="1170511" y="683655"/>
                    </a:cubicBezTo>
                    <a:lnTo>
                      <a:pt x="37173" y="683655"/>
                    </a:lnTo>
                    <a:cubicBezTo>
                      <a:pt x="27314" y="683655"/>
                      <a:pt x="17859" y="679738"/>
                      <a:pt x="10888" y="672767"/>
                    </a:cubicBezTo>
                    <a:cubicBezTo>
                      <a:pt x="3916" y="665796"/>
                      <a:pt x="0" y="656341"/>
                      <a:pt x="0" y="646482"/>
                    </a:cubicBezTo>
                    <a:lnTo>
                      <a:pt x="0" y="37173"/>
                    </a:lnTo>
                    <a:cubicBezTo>
                      <a:pt x="0" y="27314"/>
                      <a:pt x="3916" y="17859"/>
                      <a:pt x="10888" y="10888"/>
                    </a:cubicBezTo>
                    <a:cubicBezTo>
                      <a:pt x="17859" y="3916"/>
                      <a:pt x="27314" y="0"/>
                      <a:pt x="37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1207684" cy="6836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01787" y="370331"/>
              <a:ext cx="4220076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등산로 분석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83188" y="979931"/>
              <a:ext cx="4657275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전체 604개 등산로 데이터의 분석 내용을 난이도, 등산로 거리/고도, 접근성 세가지 측면에서 분석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원하는 탭을 선택하여 분석 결과 확인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19753" y="7094026"/>
            <a:ext cx="4067738" cy="1788346"/>
            <a:chOff x="0" y="0"/>
            <a:chExt cx="5423650" cy="238446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423650" cy="2384461"/>
              <a:chOff x="0" y="0"/>
              <a:chExt cx="1207684" cy="53094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07684" cy="530948"/>
              </a:xfrm>
              <a:custGeom>
                <a:avLst/>
                <a:gdLst/>
                <a:ahLst/>
                <a:cxnLst/>
                <a:rect r="r" b="b" t="t" l="l"/>
                <a:pathLst>
                  <a:path h="530948" w="1207684">
                    <a:moveTo>
                      <a:pt x="37173" y="0"/>
                    </a:moveTo>
                    <a:lnTo>
                      <a:pt x="1170511" y="0"/>
                    </a:lnTo>
                    <a:cubicBezTo>
                      <a:pt x="1191041" y="0"/>
                      <a:pt x="1207684" y="16643"/>
                      <a:pt x="1207684" y="37173"/>
                    </a:cubicBezTo>
                    <a:lnTo>
                      <a:pt x="1207684" y="493775"/>
                    </a:lnTo>
                    <a:cubicBezTo>
                      <a:pt x="1207684" y="503634"/>
                      <a:pt x="1203767" y="513089"/>
                      <a:pt x="1196796" y="520060"/>
                    </a:cubicBezTo>
                    <a:cubicBezTo>
                      <a:pt x="1189825" y="527031"/>
                      <a:pt x="1180370" y="530948"/>
                      <a:pt x="1170511" y="530948"/>
                    </a:cubicBezTo>
                    <a:lnTo>
                      <a:pt x="37173" y="530948"/>
                    </a:lnTo>
                    <a:cubicBezTo>
                      <a:pt x="27314" y="530948"/>
                      <a:pt x="17859" y="527031"/>
                      <a:pt x="10888" y="520060"/>
                    </a:cubicBezTo>
                    <a:cubicBezTo>
                      <a:pt x="3916" y="513089"/>
                      <a:pt x="0" y="503634"/>
                      <a:pt x="0" y="493775"/>
                    </a:cubicBezTo>
                    <a:lnTo>
                      <a:pt x="0" y="37173"/>
                    </a:lnTo>
                    <a:cubicBezTo>
                      <a:pt x="0" y="27314"/>
                      <a:pt x="3916" y="17859"/>
                      <a:pt x="10888" y="10888"/>
                    </a:cubicBezTo>
                    <a:cubicBezTo>
                      <a:pt x="17859" y="3916"/>
                      <a:pt x="27314" y="0"/>
                      <a:pt x="37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1207684" cy="5309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601787" y="370331"/>
              <a:ext cx="4220076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난이도 측면 분석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3188" y="979931"/>
              <a:ext cx="4657275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등산로 데이터의 난이도 분포 확인 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가장 쉬운/어려운 코스를 각각 5개씩 추출하여 리스팅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81131" y="3927303"/>
            <a:ext cx="6976478" cy="5824926"/>
            <a:chOff x="0" y="0"/>
            <a:chExt cx="522949" cy="4366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2949" cy="436630"/>
            </a:xfrm>
            <a:custGeom>
              <a:avLst/>
              <a:gdLst/>
              <a:ahLst/>
              <a:cxnLst/>
              <a:rect r="r" b="b" t="t" l="l"/>
              <a:pathLst>
                <a:path h="436630" w="522949">
                  <a:moveTo>
                    <a:pt x="0" y="0"/>
                  </a:moveTo>
                  <a:lnTo>
                    <a:pt x="522949" y="0"/>
                  </a:lnTo>
                  <a:lnTo>
                    <a:pt x="522949" y="436630"/>
                  </a:lnTo>
                  <a:lnTo>
                    <a:pt x="0" y="436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22949" cy="436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1092213" y="5078651"/>
            <a:ext cx="1127541" cy="0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0889645" y="7988199"/>
            <a:ext cx="1330109" cy="0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88913" y="-109227"/>
            <a:ext cx="3203398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분석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9982" y="1028700"/>
            <a:ext cx="6768434" cy="8809260"/>
            <a:chOff x="0" y="0"/>
            <a:chExt cx="9024578" cy="1174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24578" cy="3417211"/>
            </a:xfrm>
            <a:custGeom>
              <a:avLst/>
              <a:gdLst/>
              <a:ahLst/>
              <a:cxnLst/>
              <a:rect r="r" b="b" t="t" l="l"/>
              <a:pathLst>
                <a:path h="3417211" w="9024578">
                  <a:moveTo>
                    <a:pt x="0" y="0"/>
                  </a:moveTo>
                  <a:lnTo>
                    <a:pt x="9024578" y="0"/>
                  </a:lnTo>
                  <a:lnTo>
                    <a:pt x="9024578" y="3417211"/>
                  </a:lnTo>
                  <a:lnTo>
                    <a:pt x="0" y="341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33" t="-87607" r="-1126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3408741"/>
              <a:ext cx="9024578" cy="5447929"/>
            </a:xfrm>
            <a:custGeom>
              <a:avLst/>
              <a:gdLst/>
              <a:ahLst/>
              <a:cxnLst/>
              <a:rect r="r" b="b" t="t" l="l"/>
              <a:pathLst>
                <a:path h="5447929" w="9024578">
                  <a:moveTo>
                    <a:pt x="0" y="0"/>
                  </a:moveTo>
                  <a:lnTo>
                    <a:pt x="9024578" y="0"/>
                  </a:lnTo>
                  <a:lnTo>
                    <a:pt x="9024578" y="5447929"/>
                  </a:lnTo>
                  <a:lnTo>
                    <a:pt x="0" y="5447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33" t="-17677" r="-1126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8659330"/>
              <a:ext cx="9024578" cy="3086350"/>
            </a:xfrm>
            <a:custGeom>
              <a:avLst/>
              <a:gdLst/>
              <a:ahLst/>
              <a:cxnLst/>
              <a:rect r="r" b="b" t="t" l="l"/>
              <a:pathLst>
                <a:path h="3086350" w="9024578">
                  <a:moveTo>
                    <a:pt x="0" y="0"/>
                  </a:moveTo>
                  <a:lnTo>
                    <a:pt x="9024578" y="0"/>
                  </a:lnTo>
                  <a:lnTo>
                    <a:pt x="9024578" y="3086350"/>
                  </a:lnTo>
                  <a:lnTo>
                    <a:pt x="0" y="3086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933" t="-107719" r="-112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96695" y="1692949"/>
            <a:ext cx="6571720" cy="8012000"/>
            <a:chOff x="0" y="0"/>
            <a:chExt cx="490037" cy="5974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0037" cy="597435"/>
            </a:xfrm>
            <a:custGeom>
              <a:avLst/>
              <a:gdLst/>
              <a:ahLst/>
              <a:cxnLst/>
              <a:rect r="r" b="b" t="t" l="l"/>
              <a:pathLst>
                <a:path h="597435" w="490037">
                  <a:moveTo>
                    <a:pt x="0" y="0"/>
                  </a:moveTo>
                  <a:lnTo>
                    <a:pt x="490037" y="0"/>
                  </a:lnTo>
                  <a:lnTo>
                    <a:pt x="490037" y="597435"/>
                  </a:lnTo>
                  <a:lnTo>
                    <a:pt x="0" y="597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90037" cy="597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092366" y="4388441"/>
            <a:ext cx="4067738" cy="2045521"/>
            <a:chOff x="0" y="0"/>
            <a:chExt cx="5423650" cy="272736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423650" cy="2727361"/>
              <a:chOff x="0" y="0"/>
              <a:chExt cx="1207684" cy="60730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07684" cy="607301"/>
              </a:xfrm>
              <a:custGeom>
                <a:avLst/>
                <a:gdLst/>
                <a:ahLst/>
                <a:cxnLst/>
                <a:rect r="r" b="b" t="t" l="l"/>
                <a:pathLst>
                  <a:path h="607301" w="1207684">
                    <a:moveTo>
                      <a:pt x="37173" y="0"/>
                    </a:moveTo>
                    <a:lnTo>
                      <a:pt x="1170511" y="0"/>
                    </a:lnTo>
                    <a:cubicBezTo>
                      <a:pt x="1191041" y="0"/>
                      <a:pt x="1207684" y="16643"/>
                      <a:pt x="1207684" y="37173"/>
                    </a:cubicBezTo>
                    <a:lnTo>
                      <a:pt x="1207684" y="570128"/>
                    </a:lnTo>
                    <a:cubicBezTo>
                      <a:pt x="1207684" y="579987"/>
                      <a:pt x="1203767" y="589442"/>
                      <a:pt x="1196796" y="596414"/>
                    </a:cubicBezTo>
                    <a:cubicBezTo>
                      <a:pt x="1189825" y="603385"/>
                      <a:pt x="1180370" y="607301"/>
                      <a:pt x="1170511" y="607301"/>
                    </a:cubicBezTo>
                    <a:lnTo>
                      <a:pt x="37173" y="607301"/>
                    </a:lnTo>
                    <a:cubicBezTo>
                      <a:pt x="27314" y="607301"/>
                      <a:pt x="17859" y="603385"/>
                      <a:pt x="10888" y="596414"/>
                    </a:cubicBezTo>
                    <a:cubicBezTo>
                      <a:pt x="3916" y="589442"/>
                      <a:pt x="0" y="579987"/>
                      <a:pt x="0" y="570128"/>
                    </a:cubicBezTo>
                    <a:lnTo>
                      <a:pt x="0" y="37173"/>
                    </a:lnTo>
                    <a:cubicBezTo>
                      <a:pt x="0" y="27314"/>
                      <a:pt x="3916" y="17859"/>
                      <a:pt x="10888" y="10888"/>
                    </a:cubicBezTo>
                    <a:cubicBezTo>
                      <a:pt x="17859" y="3916"/>
                      <a:pt x="27314" y="0"/>
                      <a:pt x="37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07684" cy="6073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01787" y="370331"/>
              <a:ext cx="4220076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거리/고도 측면 분석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3188" y="979931"/>
              <a:ext cx="4657275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전체 등산로의 거리와 고도가 어떻게 분포되어 있는지 확인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거리와 고도의 상관관계를 산점도 그래프로 제시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684400" y="5411201"/>
            <a:ext cx="407966" cy="0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88913" y="-109227"/>
            <a:ext cx="3203398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분석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41375" y="4651535"/>
            <a:ext cx="5822785" cy="2395917"/>
            <a:chOff x="0" y="0"/>
            <a:chExt cx="7763713" cy="319455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763713" cy="3194556"/>
              <a:chOff x="0" y="0"/>
              <a:chExt cx="1728745" cy="7113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28745" cy="711332"/>
              </a:xfrm>
              <a:custGeom>
                <a:avLst/>
                <a:gdLst/>
                <a:ahLst/>
                <a:cxnLst/>
                <a:rect r="r" b="b" t="t" l="l"/>
                <a:pathLst>
                  <a:path h="711332" w="1728745">
                    <a:moveTo>
                      <a:pt x="25969" y="0"/>
                    </a:moveTo>
                    <a:lnTo>
                      <a:pt x="1702777" y="0"/>
                    </a:lnTo>
                    <a:cubicBezTo>
                      <a:pt x="1717119" y="0"/>
                      <a:pt x="1728745" y="11627"/>
                      <a:pt x="1728745" y="25969"/>
                    </a:cubicBezTo>
                    <a:lnTo>
                      <a:pt x="1728745" y="685363"/>
                    </a:lnTo>
                    <a:cubicBezTo>
                      <a:pt x="1728745" y="699705"/>
                      <a:pt x="1717119" y="711332"/>
                      <a:pt x="1702777" y="711332"/>
                    </a:cubicBezTo>
                    <a:lnTo>
                      <a:pt x="25969" y="711332"/>
                    </a:lnTo>
                    <a:cubicBezTo>
                      <a:pt x="11627" y="711332"/>
                      <a:pt x="0" y="699705"/>
                      <a:pt x="0" y="685363"/>
                    </a:cubicBezTo>
                    <a:lnTo>
                      <a:pt x="0" y="25969"/>
                    </a:lnTo>
                    <a:cubicBezTo>
                      <a:pt x="0" y="11627"/>
                      <a:pt x="11627" y="0"/>
                      <a:pt x="259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728745" cy="7113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861431" y="370331"/>
              <a:ext cx="604085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접근성 측면 분석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48516" y="979931"/>
              <a:ext cx="6666680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등산로 입구(들머리)까지 </a:t>
              </a: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도보로 이동해야 하는 거리를 바이올린 차트로 비교하여 자차와 버스 중 어떤 교통수단이 등산에 편할지 확인</a:t>
              </a:r>
            </a:p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산점도 그래프로 산의 험준함과 접근 편의성 사이의 관계를 파악</a:t>
              </a:r>
            </a:p>
            <a:p>
              <a:pPr algn="l">
                <a:lnSpc>
                  <a:spcPts val="20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37923" y="1397582"/>
            <a:ext cx="9413075" cy="8695483"/>
            <a:chOff x="0" y="0"/>
            <a:chExt cx="12550767" cy="11593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50767" cy="7206589"/>
            </a:xfrm>
            <a:custGeom>
              <a:avLst/>
              <a:gdLst/>
              <a:ahLst/>
              <a:cxnLst/>
              <a:rect r="r" b="b" t="t" l="l"/>
              <a:pathLst>
                <a:path h="7206589" w="12550767">
                  <a:moveTo>
                    <a:pt x="0" y="0"/>
                  </a:moveTo>
                  <a:lnTo>
                    <a:pt x="12550767" y="0"/>
                  </a:lnTo>
                  <a:lnTo>
                    <a:pt x="12550767" y="7206589"/>
                  </a:lnTo>
                  <a:lnTo>
                    <a:pt x="0" y="7206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68" t="-23520" r="-899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7082938"/>
              <a:ext cx="12550767" cy="4511039"/>
            </a:xfrm>
            <a:custGeom>
              <a:avLst/>
              <a:gdLst/>
              <a:ahLst/>
              <a:cxnLst/>
              <a:rect r="r" b="b" t="t" l="l"/>
              <a:pathLst>
                <a:path h="4511039" w="12550767">
                  <a:moveTo>
                    <a:pt x="0" y="0"/>
                  </a:moveTo>
                  <a:lnTo>
                    <a:pt x="12550767" y="0"/>
                  </a:lnTo>
                  <a:lnTo>
                    <a:pt x="12550767" y="4511040"/>
                  </a:lnTo>
                  <a:lnTo>
                    <a:pt x="0" y="451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68" t="-79985" r="-899" b="-1734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68185" y="2243691"/>
            <a:ext cx="8952553" cy="3734390"/>
            <a:chOff x="0" y="0"/>
            <a:chExt cx="690509" cy="2880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0509" cy="288033"/>
            </a:xfrm>
            <a:custGeom>
              <a:avLst/>
              <a:gdLst/>
              <a:ahLst/>
              <a:cxnLst/>
              <a:rect r="r" b="b" t="t" l="l"/>
              <a:pathLst>
                <a:path h="288033" w="690509">
                  <a:moveTo>
                    <a:pt x="0" y="0"/>
                  </a:moveTo>
                  <a:lnTo>
                    <a:pt x="690509" y="0"/>
                  </a:lnTo>
                  <a:lnTo>
                    <a:pt x="690509" y="288033"/>
                  </a:lnTo>
                  <a:lnTo>
                    <a:pt x="0" y="288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90509" cy="288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1520737" y="4110886"/>
            <a:ext cx="720638" cy="1738607"/>
          </a:xfrm>
          <a:prstGeom prst="line">
            <a:avLst/>
          </a:prstGeom>
          <a:ln cap="flat" w="38100">
            <a:solidFill>
              <a:srgbClr val="B2B09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568185" y="5978081"/>
            <a:ext cx="8952553" cy="3826361"/>
            <a:chOff x="0" y="0"/>
            <a:chExt cx="690509" cy="2951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0509" cy="295127"/>
            </a:xfrm>
            <a:custGeom>
              <a:avLst/>
              <a:gdLst/>
              <a:ahLst/>
              <a:cxnLst/>
              <a:rect r="r" b="b" t="t" l="l"/>
              <a:pathLst>
                <a:path h="295127" w="690509">
                  <a:moveTo>
                    <a:pt x="0" y="0"/>
                  </a:moveTo>
                  <a:lnTo>
                    <a:pt x="690509" y="0"/>
                  </a:lnTo>
                  <a:lnTo>
                    <a:pt x="690509" y="295127"/>
                  </a:lnTo>
                  <a:lnTo>
                    <a:pt x="0" y="2951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90509" cy="295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11520737" y="5984940"/>
            <a:ext cx="738410" cy="1906321"/>
          </a:xfrm>
          <a:prstGeom prst="line">
            <a:avLst/>
          </a:prstGeom>
          <a:ln cap="flat" w="38100">
            <a:solidFill>
              <a:srgbClr val="B2B09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8913" y="-109227"/>
            <a:ext cx="3203398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분석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09933" y="1656078"/>
            <a:ext cx="4092961" cy="2261076"/>
            <a:chOff x="0" y="0"/>
            <a:chExt cx="5457282" cy="301476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457282" cy="3014768"/>
              <a:chOff x="0" y="0"/>
              <a:chExt cx="1215173" cy="67129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15173" cy="671298"/>
              </a:xfrm>
              <a:custGeom>
                <a:avLst/>
                <a:gdLst/>
                <a:ahLst/>
                <a:cxnLst/>
                <a:rect r="r" b="b" t="t" l="l"/>
                <a:pathLst>
                  <a:path h="671298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634354"/>
                    </a:lnTo>
                    <a:cubicBezTo>
                      <a:pt x="1215173" y="654758"/>
                      <a:pt x="1198632" y="671298"/>
                      <a:pt x="1178229" y="671298"/>
                    </a:cubicBezTo>
                    <a:lnTo>
                      <a:pt x="36944" y="671298"/>
                    </a:lnTo>
                    <a:cubicBezTo>
                      <a:pt x="16540" y="671298"/>
                      <a:pt x="0" y="654758"/>
                      <a:pt x="0" y="634354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215173" cy="67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등산로 테마 선택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5564" y="979931"/>
              <a:ext cx="4686154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군집화를 통해 분류한 5가지 테마(계절매력, 전망/사진, 가족/인프라, 힐링, 오지/숨은 명소) 중 사용자의 목적에 맞는 한 가지 테마를 선택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5324" y="2234926"/>
            <a:ext cx="12668246" cy="6953424"/>
          </a:xfrm>
          <a:custGeom>
            <a:avLst/>
            <a:gdLst/>
            <a:ahLst/>
            <a:cxnLst/>
            <a:rect r="r" b="b" t="t" l="l"/>
            <a:pathLst>
              <a:path h="6953424" w="12668246">
                <a:moveTo>
                  <a:pt x="0" y="0"/>
                </a:moveTo>
                <a:lnTo>
                  <a:pt x="12668246" y="0"/>
                </a:lnTo>
                <a:lnTo>
                  <a:pt x="12668246" y="6953425"/>
                </a:lnTo>
                <a:lnTo>
                  <a:pt x="0" y="6953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548" r="-721" b="-93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60203" y="3279740"/>
            <a:ext cx="9904756" cy="1212809"/>
            <a:chOff x="0" y="0"/>
            <a:chExt cx="742450" cy="90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2450" cy="90911"/>
            </a:xfrm>
            <a:custGeom>
              <a:avLst/>
              <a:gdLst/>
              <a:ahLst/>
              <a:cxnLst/>
              <a:rect r="r" b="b" t="t" l="l"/>
              <a:pathLst>
                <a:path h="90911" w="742450">
                  <a:moveTo>
                    <a:pt x="0" y="0"/>
                  </a:moveTo>
                  <a:lnTo>
                    <a:pt x="742450" y="0"/>
                  </a:lnTo>
                  <a:lnTo>
                    <a:pt x="742450" y="90911"/>
                  </a:lnTo>
                  <a:lnTo>
                    <a:pt x="0" y="909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42450" cy="90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09933" y="4492549"/>
            <a:ext cx="4092961" cy="2031087"/>
            <a:chOff x="0" y="0"/>
            <a:chExt cx="5457282" cy="270811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57282" cy="2708116"/>
              <a:chOff x="0" y="0"/>
              <a:chExt cx="1215173" cy="6030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15173" cy="603016"/>
              </a:xfrm>
              <a:custGeom>
                <a:avLst/>
                <a:gdLst/>
                <a:ahLst/>
                <a:cxnLst/>
                <a:rect r="r" b="b" t="t" l="l"/>
                <a:pathLst>
                  <a:path h="603016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566072"/>
                    </a:lnTo>
                    <a:cubicBezTo>
                      <a:pt x="1215173" y="586476"/>
                      <a:pt x="1198632" y="603016"/>
                      <a:pt x="1178229" y="603016"/>
                    </a:cubicBezTo>
                    <a:lnTo>
                      <a:pt x="36944" y="603016"/>
                    </a:lnTo>
                    <a:cubicBezTo>
                      <a:pt x="27146" y="603016"/>
                      <a:pt x="17749" y="599124"/>
                      <a:pt x="10821" y="592195"/>
                    </a:cubicBezTo>
                    <a:cubicBezTo>
                      <a:pt x="3892" y="585267"/>
                      <a:pt x="0" y="575870"/>
                      <a:pt x="0" y="566072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215173" cy="6030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세부 조건 슬라이더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5564" y="979931"/>
              <a:ext cx="4686154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사용자의 당일 컨디션(난이도), 편의성 요구(인프라 점수), 접근성(주차장 거리)에 맞춰 검색 결과를 실시간으로 미세 조정(Fine-tuning)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09933" y="7095136"/>
            <a:ext cx="4092961" cy="2031087"/>
            <a:chOff x="0" y="0"/>
            <a:chExt cx="5457282" cy="270811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457282" cy="2708116"/>
              <a:chOff x="0" y="0"/>
              <a:chExt cx="1215173" cy="60301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15173" cy="603016"/>
              </a:xfrm>
              <a:custGeom>
                <a:avLst/>
                <a:gdLst/>
                <a:ahLst/>
                <a:cxnLst/>
                <a:rect r="r" b="b" t="t" l="l"/>
                <a:pathLst>
                  <a:path h="603016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566072"/>
                    </a:lnTo>
                    <a:cubicBezTo>
                      <a:pt x="1215173" y="586476"/>
                      <a:pt x="1198632" y="603016"/>
                      <a:pt x="1178229" y="603016"/>
                    </a:cubicBezTo>
                    <a:lnTo>
                      <a:pt x="36944" y="603016"/>
                    </a:lnTo>
                    <a:cubicBezTo>
                      <a:pt x="27146" y="603016"/>
                      <a:pt x="17749" y="599124"/>
                      <a:pt x="10821" y="592195"/>
                    </a:cubicBezTo>
                    <a:cubicBezTo>
                      <a:pt x="3892" y="585267"/>
                      <a:pt x="0" y="575870"/>
                      <a:pt x="0" y="566072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15173" cy="6030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검색 결과 리스트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85564" y="979931"/>
              <a:ext cx="4686154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코스의 핵심 스펙(거리, 고도)과 자체 개발한 '매력 점수', '인프라 점수'를 한눈에 비교하여 합리적인 선택을 지원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12864959" y="2786616"/>
            <a:ext cx="744974" cy="1017540"/>
          </a:xfrm>
          <a:prstGeom prst="line">
            <a:avLst/>
          </a:prstGeom>
          <a:ln cap="flat" w="38100">
            <a:solidFill>
              <a:srgbClr val="B2B09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2960203" y="4737037"/>
            <a:ext cx="9904756" cy="952284"/>
            <a:chOff x="0" y="0"/>
            <a:chExt cx="742450" cy="713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2450" cy="71382"/>
            </a:xfrm>
            <a:custGeom>
              <a:avLst/>
              <a:gdLst/>
              <a:ahLst/>
              <a:cxnLst/>
              <a:rect r="r" b="b" t="t" l="l"/>
              <a:pathLst>
                <a:path h="71382" w="742450">
                  <a:moveTo>
                    <a:pt x="0" y="0"/>
                  </a:moveTo>
                  <a:lnTo>
                    <a:pt x="742450" y="0"/>
                  </a:lnTo>
                  <a:lnTo>
                    <a:pt x="742450" y="71382"/>
                  </a:lnTo>
                  <a:lnTo>
                    <a:pt x="0" y="713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42450" cy="71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2864959" y="5213179"/>
            <a:ext cx="744974" cy="761245"/>
          </a:xfrm>
          <a:prstGeom prst="line">
            <a:avLst/>
          </a:prstGeom>
          <a:ln cap="flat" w="38100">
            <a:solidFill>
              <a:srgbClr val="B2B09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2960203" y="5770878"/>
            <a:ext cx="9904756" cy="2868852"/>
            <a:chOff x="0" y="0"/>
            <a:chExt cx="742450" cy="2150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2450" cy="215046"/>
            </a:xfrm>
            <a:custGeom>
              <a:avLst/>
              <a:gdLst/>
              <a:ahLst/>
              <a:cxnLst/>
              <a:rect r="r" b="b" t="t" l="l"/>
              <a:pathLst>
                <a:path h="215046" w="742450">
                  <a:moveTo>
                    <a:pt x="0" y="0"/>
                  </a:moveTo>
                  <a:lnTo>
                    <a:pt x="742450" y="0"/>
                  </a:lnTo>
                  <a:lnTo>
                    <a:pt x="742450" y="215046"/>
                  </a:lnTo>
                  <a:lnTo>
                    <a:pt x="0" y="2150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42450" cy="215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864959" y="7205303"/>
            <a:ext cx="744974" cy="905376"/>
          </a:xfrm>
          <a:prstGeom prst="line">
            <a:avLst/>
          </a:prstGeom>
          <a:ln cap="flat" w="38100">
            <a:solidFill>
              <a:srgbClr val="B2B09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8913" y="-109227"/>
            <a:ext cx="6150756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등산로 조회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4470" y="1934584"/>
            <a:ext cx="4092961" cy="1489551"/>
            <a:chOff x="0" y="0"/>
            <a:chExt cx="5457282" cy="198606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457282" cy="1986068"/>
              <a:chOff x="0" y="0"/>
              <a:chExt cx="1215173" cy="44223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15173" cy="442238"/>
              </a:xfrm>
              <a:custGeom>
                <a:avLst/>
                <a:gdLst/>
                <a:ahLst/>
                <a:cxnLst/>
                <a:rect r="r" b="b" t="t" l="l"/>
                <a:pathLst>
                  <a:path h="442238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405294"/>
                    </a:lnTo>
                    <a:cubicBezTo>
                      <a:pt x="1215173" y="415092"/>
                      <a:pt x="1211280" y="424489"/>
                      <a:pt x="1204352" y="431417"/>
                    </a:cubicBezTo>
                    <a:cubicBezTo>
                      <a:pt x="1197424" y="438345"/>
                      <a:pt x="1188027" y="442238"/>
                      <a:pt x="1178229" y="442238"/>
                    </a:cubicBezTo>
                    <a:lnTo>
                      <a:pt x="36944" y="442238"/>
                    </a:lnTo>
                    <a:cubicBezTo>
                      <a:pt x="16540" y="442238"/>
                      <a:pt x="0" y="425697"/>
                      <a:pt x="0" y="405294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215173" cy="442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선택한 등산로 정보 제공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5564" y="979931"/>
              <a:ext cx="468615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검색 결과 리스트에서 등산로 선택 시 등산로 정보 표시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53555" y="1934584"/>
            <a:ext cx="7789484" cy="3222357"/>
          </a:xfrm>
          <a:custGeom>
            <a:avLst/>
            <a:gdLst/>
            <a:ahLst/>
            <a:cxnLst/>
            <a:rect r="r" b="b" t="t" l="l"/>
            <a:pathLst>
              <a:path h="3222357" w="7789484">
                <a:moveTo>
                  <a:pt x="0" y="0"/>
                </a:moveTo>
                <a:lnTo>
                  <a:pt x="7789484" y="0"/>
                </a:lnTo>
                <a:lnTo>
                  <a:pt x="7789484" y="3222357"/>
                </a:lnTo>
                <a:lnTo>
                  <a:pt x="0" y="3222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47" t="-72032" r="-122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53555" y="4946118"/>
            <a:ext cx="7832249" cy="2929280"/>
          </a:xfrm>
          <a:custGeom>
            <a:avLst/>
            <a:gdLst/>
            <a:ahLst/>
            <a:cxnLst/>
            <a:rect r="r" b="b" t="t" l="l"/>
            <a:pathLst>
              <a:path h="2929280" w="7832249">
                <a:moveTo>
                  <a:pt x="0" y="0"/>
                </a:moveTo>
                <a:lnTo>
                  <a:pt x="7832249" y="0"/>
                </a:lnTo>
                <a:lnTo>
                  <a:pt x="7832249" y="2929280"/>
                </a:lnTo>
                <a:lnTo>
                  <a:pt x="0" y="2929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48" t="-89244" r="-673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53555" y="7824132"/>
            <a:ext cx="7832249" cy="1061542"/>
          </a:xfrm>
          <a:custGeom>
            <a:avLst/>
            <a:gdLst/>
            <a:ahLst/>
            <a:cxnLst/>
            <a:rect r="r" b="b" t="t" l="l"/>
            <a:pathLst>
              <a:path h="1061542" w="7832249">
                <a:moveTo>
                  <a:pt x="0" y="0"/>
                </a:moveTo>
                <a:lnTo>
                  <a:pt x="7832249" y="0"/>
                </a:lnTo>
                <a:lnTo>
                  <a:pt x="7832249" y="1061543"/>
                </a:lnTo>
                <a:lnTo>
                  <a:pt x="0" y="1061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948" t="-361972" r="-673" b="-6023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052157" y="2789059"/>
            <a:ext cx="7652167" cy="6019724"/>
            <a:chOff x="0" y="0"/>
            <a:chExt cx="762173" cy="5995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173" cy="599578"/>
            </a:xfrm>
            <a:custGeom>
              <a:avLst/>
              <a:gdLst/>
              <a:ahLst/>
              <a:cxnLst/>
              <a:rect r="r" b="b" t="t" l="l"/>
              <a:pathLst>
                <a:path h="599578" w="762173">
                  <a:moveTo>
                    <a:pt x="0" y="0"/>
                  </a:moveTo>
                  <a:lnTo>
                    <a:pt x="762173" y="0"/>
                  </a:lnTo>
                  <a:lnTo>
                    <a:pt x="762173" y="599578"/>
                  </a:lnTo>
                  <a:lnTo>
                    <a:pt x="0" y="599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762173" cy="599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6269" y="4500588"/>
            <a:ext cx="4092961" cy="2003901"/>
            <a:chOff x="0" y="0"/>
            <a:chExt cx="5457282" cy="267186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457282" cy="2671868"/>
              <a:chOff x="0" y="0"/>
              <a:chExt cx="1215173" cy="59494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15173" cy="594945"/>
              </a:xfrm>
              <a:custGeom>
                <a:avLst/>
                <a:gdLst/>
                <a:ahLst/>
                <a:cxnLst/>
                <a:rect r="r" b="b" t="t" l="l"/>
                <a:pathLst>
                  <a:path h="594945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558001"/>
                    </a:lnTo>
                    <a:cubicBezTo>
                      <a:pt x="1215173" y="578404"/>
                      <a:pt x="1198632" y="594945"/>
                      <a:pt x="1178229" y="594945"/>
                    </a:cubicBezTo>
                    <a:lnTo>
                      <a:pt x="36944" y="594945"/>
                    </a:lnTo>
                    <a:cubicBezTo>
                      <a:pt x="27146" y="594945"/>
                      <a:pt x="17749" y="591052"/>
                      <a:pt x="10821" y="584124"/>
                    </a:cubicBezTo>
                    <a:cubicBezTo>
                      <a:pt x="3892" y="577196"/>
                      <a:pt x="0" y="567799"/>
                      <a:pt x="0" y="558001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215173" cy="594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GPX 데이터 시각화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5564" y="979931"/>
              <a:ext cx="4686154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실제 등산로의 GPX(위성 위치 정보) 데이터를 지도 위에 렌더링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코스의 굴곡, 시작점(들머리), 도착점을 정확하게 파악 가능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34470" y="7140597"/>
            <a:ext cx="4092961" cy="2518251"/>
            <a:chOff x="0" y="0"/>
            <a:chExt cx="5457282" cy="335766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457282" cy="3357668"/>
              <a:chOff x="0" y="0"/>
              <a:chExt cx="1215173" cy="7476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15173" cy="747652"/>
              </a:xfrm>
              <a:custGeom>
                <a:avLst/>
                <a:gdLst/>
                <a:ahLst/>
                <a:cxnLst/>
                <a:rect r="r" b="b" t="t" l="l"/>
                <a:pathLst>
                  <a:path h="747652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710708"/>
                    </a:lnTo>
                    <a:cubicBezTo>
                      <a:pt x="1215173" y="731112"/>
                      <a:pt x="1198632" y="747652"/>
                      <a:pt x="1178229" y="747652"/>
                    </a:cubicBezTo>
                    <a:lnTo>
                      <a:pt x="36944" y="747652"/>
                    </a:lnTo>
                    <a:cubicBezTo>
                      <a:pt x="27146" y="747652"/>
                      <a:pt x="17749" y="743760"/>
                      <a:pt x="10821" y="736831"/>
                    </a:cubicBezTo>
                    <a:cubicBezTo>
                      <a:pt x="3892" y="729903"/>
                      <a:pt x="0" y="720506"/>
                      <a:pt x="0" y="710708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215173" cy="74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주변 POI(관심 지점) 연동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85564" y="979931"/>
              <a:ext cx="4686154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선택한 등산로 기준 반경 내의 음식점, 카페, 숙소 데이터를 매핑하여 등산 전후 이동 동선 계획 가능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하단 리스트에서 특정 식당('죽림식당')을 클릭하면 지도 위에 위치가 핀으로 표시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23893" y="2984696"/>
            <a:ext cx="3987852" cy="2597857"/>
            <a:chOff x="0" y="0"/>
            <a:chExt cx="406258" cy="2646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258" cy="264654"/>
            </a:xfrm>
            <a:custGeom>
              <a:avLst/>
              <a:gdLst/>
              <a:ahLst/>
              <a:cxnLst/>
              <a:rect r="r" b="b" t="t" l="l"/>
              <a:pathLst>
                <a:path h="264654" w="406258">
                  <a:moveTo>
                    <a:pt x="0" y="0"/>
                  </a:moveTo>
                  <a:lnTo>
                    <a:pt x="406258" y="0"/>
                  </a:lnTo>
                  <a:lnTo>
                    <a:pt x="406258" y="264654"/>
                  </a:lnTo>
                  <a:lnTo>
                    <a:pt x="0" y="2646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06258" cy="264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 flipV="true">
            <a:off x="12704324" y="2679360"/>
            <a:ext cx="830146" cy="738726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4639230" y="4283624"/>
            <a:ext cx="584663" cy="1218915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2549032" y="7180808"/>
            <a:ext cx="985438" cy="1218915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5223893" y="5652383"/>
            <a:ext cx="7325139" cy="3056851"/>
            <a:chOff x="0" y="0"/>
            <a:chExt cx="765439" cy="3194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5439" cy="319425"/>
            </a:xfrm>
            <a:custGeom>
              <a:avLst/>
              <a:gdLst/>
              <a:ahLst/>
              <a:cxnLst/>
              <a:rect r="r" b="b" t="t" l="l"/>
              <a:pathLst>
                <a:path h="319425" w="765439">
                  <a:moveTo>
                    <a:pt x="0" y="0"/>
                  </a:moveTo>
                  <a:lnTo>
                    <a:pt x="765439" y="0"/>
                  </a:lnTo>
                  <a:lnTo>
                    <a:pt x="765439" y="319425"/>
                  </a:lnTo>
                  <a:lnTo>
                    <a:pt x="0" y="3194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65439" cy="31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11746" y="2984696"/>
            <a:ext cx="3337286" cy="2597857"/>
            <a:chOff x="0" y="0"/>
            <a:chExt cx="339982" cy="2646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9982" cy="264654"/>
            </a:xfrm>
            <a:custGeom>
              <a:avLst/>
              <a:gdLst/>
              <a:ahLst/>
              <a:cxnLst/>
              <a:rect r="r" b="b" t="t" l="l"/>
              <a:pathLst>
                <a:path h="264654" w="339982">
                  <a:moveTo>
                    <a:pt x="0" y="0"/>
                  </a:moveTo>
                  <a:lnTo>
                    <a:pt x="339982" y="0"/>
                  </a:lnTo>
                  <a:lnTo>
                    <a:pt x="339982" y="264654"/>
                  </a:lnTo>
                  <a:lnTo>
                    <a:pt x="0" y="2646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39982" cy="264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34470" y="4500588"/>
            <a:ext cx="4092961" cy="2003901"/>
            <a:chOff x="0" y="0"/>
            <a:chExt cx="5457282" cy="267186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457282" cy="2671868"/>
              <a:chOff x="0" y="0"/>
              <a:chExt cx="1215173" cy="59494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215173" cy="594945"/>
              </a:xfrm>
              <a:custGeom>
                <a:avLst/>
                <a:gdLst/>
                <a:ahLst/>
                <a:cxnLst/>
                <a:rect r="r" b="b" t="t" l="l"/>
                <a:pathLst>
                  <a:path h="594945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558001"/>
                    </a:lnTo>
                    <a:cubicBezTo>
                      <a:pt x="1215173" y="578404"/>
                      <a:pt x="1198632" y="594945"/>
                      <a:pt x="1178229" y="594945"/>
                    </a:cubicBezTo>
                    <a:lnTo>
                      <a:pt x="36944" y="594945"/>
                    </a:lnTo>
                    <a:cubicBezTo>
                      <a:pt x="27146" y="594945"/>
                      <a:pt x="17749" y="591052"/>
                      <a:pt x="10821" y="584124"/>
                    </a:cubicBezTo>
                    <a:cubicBezTo>
                      <a:pt x="3892" y="577196"/>
                      <a:pt x="0" y="567799"/>
                      <a:pt x="0" y="558001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1215173" cy="594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코스 스펙 &amp; 접근성 카드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85564" y="979931"/>
              <a:ext cx="4686154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소요 시간, 최고 고도, 난이도 등 물리적 스펙과 함께, 등산객의 최대 고민인 '주차장 및 버스 정류장' 정보를 요약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>
            <a:off x="12549032" y="4283624"/>
            <a:ext cx="985438" cy="1218915"/>
          </a:xfrm>
          <a:prstGeom prst="line">
            <a:avLst/>
          </a:prstGeom>
          <a:ln cap="flat" w="38100">
            <a:solidFill>
              <a:srgbClr val="C6C8B9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88913" y="-109227"/>
            <a:ext cx="6150756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등산로 조회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4627" y="5959757"/>
            <a:ext cx="9479491" cy="3045821"/>
          </a:xfrm>
          <a:custGeom>
            <a:avLst/>
            <a:gdLst/>
            <a:ahLst/>
            <a:cxnLst/>
            <a:rect r="r" b="b" t="t" l="l"/>
            <a:pathLst>
              <a:path h="3045821" w="9479491">
                <a:moveTo>
                  <a:pt x="0" y="0"/>
                </a:moveTo>
                <a:lnTo>
                  <a:pt x="9479492" y="0"/>
                </a:lnTo>
                <a:lnTo>
                  <a:pt x="9479492" y="3045821"/>
                </a:lnTo>
                <a:lnTo>
                  <a:pt x="0" y="3045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7297" r="-8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4627" y="1028700"/>
            <a:ext cx="9479491" cy="5005923"/>
          </a:xfrm>
          <a:custGeom>
            <a:avLst/>
            <a:gdLst/>
            <a:ahLst/>
            <a:cxnLst/>
            <a:rect r="r" b="b" t="t" l="l"/>
            <a:pathLst>
              <a:path h="5005923" w="9479491">
                <a:moveTo>
                  <a:pt x="0" y="0"/>
                </a:moveTo>
                <a:lnTo>
                  <a:pt x="9479492" y="0"/>
                </a:lnTo>
                <a:lnTo>
                  <a:pt x="9479492" y="5005923"/>
                </a:lnTo>
                <a:lnTo>
                  <a:pt x="0" y="5005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960" r="-86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84627" y="8970062"/>
            <a:ext cx="9479491" cy="887079"/>
          </a:xfrm>
          <a:custGeom>
            <a:avLst/>
            <a:gdLst/>
            <a:ahLst/>
            <a:cxnLst/>
            <a:rect r="r" b="b" t="t" l="l"/>
            <a:pathLst>
              <a:path h="887079" w="9479491">
                <a:moveTo>
                  <a:pt x="0" y="0"/>
                </a:moveTo>
                <a:lnTo>
                  <a:pt x="9479492" y="0"/>
                </a:lnTo>
                <a:lnTo>
                  <a:pt x="9479492" y="887079"/>
                </a:lnTo>
                <a:lnTo>
                  <a:pt x="0" y="887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71270" r="-860" b="-7272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45844" y="2108106"/>
            <a:ext cx="7436046" cy="3753234"/>
            <a:chOff x="0" y="0"/>
            <a:chExt cx="757538" cy="3823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7538" cy="382356"/>
            </a:xfrm>
            <a:custGeom>
              <a:avLst/>
              <a:gdLst/>
              <a:ahLst/>
              <a:cxnLst/>
              <a:rect r="r" b="b" t="t" l="l"/>
              <a:pathLst>
                <a:path h="382356" w="757538">
                  <a:moveTo>
                    <a:pt x="0" y="0"/>
                  </a:moveTo>
                  <a:lnTo>
                    <a:pt x="757538" y="0"/>
                  </a:lnTo>
                  <a:lnTo>
                    <a:pt x="757538" y="382356"/>
                  </a:lnTo>
                  <a:lnTo>
                    <a:pt x="0" y="3823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57538" cy="382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10411" y="3239948"/>
            <a:ext cx="4092961" cy="1489551"/>
            <a:chOff x="0" y="0"/>
            <a:chExt cx="5457282" cy="198606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457282" cy="1986068"/>
              <a:chOff x="0" y="0"/>
              <a:chExt cx="1215173" cy="4422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15173" cy="442238"/>
              </a:xfrm>
              <a:custGeom>
                <a:avLst/>
                <a:gdLst/>
                <a:ahLst/>
                <a:cxnLst/>
                <a:rect r="r" b="b" t="t" l="l"/>
                <a:pathLst>
                  <a:path h="442238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405294"/>
                    </a:lnTo>
                    <a:cubicBezTo>
                      <a:pt x="1215173" y="415092"/>
                      <a:pt x="1211280" y="424489"/>
                      <a:pt x="1204352" y="431417"/>
                    </a:cubicBezTo>
                    <a:cubicBezTo>
                      <a:pt x="1197424" y="438345"/>
                      <a:pt x="1188027" y="442238"/>
                      <a:pt x="1178229" y="442238"/>
                    </a:cubicBezTo>
                    <a:lnTo>
                      <a:pt x="36944" y="442238"/>
                    </a:lnTo>
                    <a:cubicBezTo>
                      <a:pt x="16540" y="442238"/>
                      <a:pt x="0" y="425697"/>
                      <a:pt x="0" y="405294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215173" cy="442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듀얼 서치 인터페이스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5564" y="979931"/>
              <a:ext cx="4686154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텍스트 검색(드롭다운)과 지도 기반 탐색(마커 클릭)을 동시에 지원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10411" y="5089926"/>
            <a:ext cx="4092961" cy="1746726"/>
            <a:chOff x="0" y="0"/>
            <a:chExt cx="5457282" cy="232896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457282" cy="2328968"/>
              <a:chOff x="0" y="0"/>
              <a:chExt cx="1215173" cy="51859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15173" cy="518591"/>
              </a:xfrm>
              <a:custGeom>
                <a:avLst/>
                <a:gdLst/>
                <a:ahLst/>
                <a:cxnLst/>
                <a:rect r="r" b="b" t="t" l="l"/>
                <a:pathLst>
                  <a:path h="518591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481647"/>
                    </a:lnTo>
                    <a:cubicBezTo>
                      <a:pt x="1215173" y="502051"/>
                      <a:pt x="1198632" y="518591"/>
                      <a:pt x="1178229" y="518591"/>
                    </a:cubicBezTo>
                    <a:lnTo>
                      <a:pt x="36944" y="518591"/>
                    </a:lnTo>
                    <a:cubicBezTo>
                      <a:pt x="27146" y="518591"/>
                      <a:pt x="17749" y="514699"/>
                      <a:pt x="10821" y="507771"/>
                    </a:cubicBezTo>
                    <a:cubicBezTo>
                      <a:pt x="3892" y="500842"/>
                      <a:pt x="0" y="491446"/>
                      <a:pt x="0" y="481647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215173" cy="518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산 기본 정보 요약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5564" y="979931"/>
              <a:ext cx="4686154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선택한 산의 대표 이미지, 높이(m), 소재지, 그리고 한 줄 소개를 카드 형태로 시각화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45844" y="6034623"/>
            <a:ext cx="7436046" cy="2693140"/>
            <a:chOff x="0" y="0"/>
            <a:chExt cx="757538" cy="274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7538" cy="274360"/>
            </a:xfrm>
            <a:custGeom>
              <a:avLst/>
              <a:gdLst/>
              <a:ahLst/>
              <a:cxnLst/>
              <a:rect r="r" b="b" t="t" l="l"/>
              <a:pathLst>
                <a:path h="274360" w="757538">
                  <a:moveTo>
                    <a:pt x="0" y="0"/>
                  </a:moveTo>
                  <a:lnTo>
                    <a:pt x="757538" y="0"/>
                  </a:lnTo>
                  <a:lnTo>
                    <a:pt x="757538" y="274360"/>
                  </a:lnTo>
                  <a:lnTo>
                    <a:pt x="0" y="2743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57538" cy="274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10411" y="7197079"/>
            <a:ext cx="4092961" cy="2518251"/>
            <a:chOff x="0" y="0"/>
            <a:chExt cx="5457282" cy="335766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457282" cy="3357668"/>
              <a:chOff x="0" y="0"/>
              <a:chExt cx="1215173" cy="74765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215173" cy="747652"/>
              </a:xfrm>
              <a:custGeom>
                <a:avLst/>
                <a:gdLst/>
                <a:ahLst/>
                <a:cxnLst/>
                <a:rect r="r" b="b" t="t" l="l"/>
                <a:pathLst>
                  <a:path h="747652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710708"/>
                    </a:lnTo>
                    <a:cubicBezTo>
                      <a:pt x="1215173" y="731112"/>
                      <a:pt x="1198632" y="747652"/>
                      <a:pt x="1178229" y="747652"/>
                    </a:cubicBezTo>
                    <a:lnTo>
                      <a:pt x="36944" y="747652"/>
                    </a:lnTo>
                    <a:cubicBezTo>
                      <a:pt x="27146" y="747652"/>
                      <a:pt x="17749" y="743760"/>
                      <a:pt x="10821" y="736831"/>
                    </a:cubicBezTo>
                    <a:cubicBezTo>
                      <a:pt x="3892" y="729903"/>
                      <a:pt x="0" y="720506"/>
                      <a:pt x="0" y="710708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1215173" cy="74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심층 분석 내비게이션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85564" y="979931"/>
              <a:ext cx="4686154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매력 확인하기와 등산로 코스 확인하기 두 개의 액션 버튼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사용자의 목적에 따라 감성 분석(NLP)결과로 이동할지, 실전 코스 정보(GPX)로 이동할지 선택권을 부여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45844" y="8792419"/>
            <a:ext cx="7436046" cy="922912"/>
            <a:chOff x="0" y="0"/>
            <a:chExt cx="757538" cy="940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7538" cy="94021"/>
            </a:xfrm>
            <a:custGeom>
              <a:avLst/>
              <a:gdLst/>
              <a:ahLst/>
              <a:cxnLst/>
              <a:rect r="r" b="b" t="t" l="l"/>
              <a:pathLst>
                <a:path h="94021" w="757538">
                  <a:moveTo>
                    <a:pt x="0" y="0"/>
                  </a:moveTo>
                  <a:lnTo>
                    <a:pt x="757538" y="0"/>
                  </a:lnTo>
                  <a:lnTo>
                    <a:pt x="757538" y="94021"/>
                  </a:lnTo>
                  <a:lnTo>
                    <a:pt x="0" y="94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57538" cy="94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1081890" y="3984723"/>
            <a:ext cx="1228521" cy="0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1081890" y="5963289"/>
            <a:ext cx="1228521" cy="1417904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11081890" y="8456205"/>
            <a:ext cx="1228521" cy="797670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88913" y="-109227"/>
            <a:ext cx="6150756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산 정보 조회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5389" y="1602841"/>
            <a:ext cx="4092961" cy="2518251"/>
            <a:chOff x="0" y="0"/>
            <a:chExt cx="5457282" cy="335766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457282" cy="3357668"/>
              <a:chOff x="0" y="0"/>
              <a:chExt cx="1215173" cy="74765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15173" cy="747652"/>
              </a:xfrm>
              <a:custGeom>
                <a:avLst/>
                <a:gdLst/>
                <a:ahLst/>
                <a:cxnLst/>
                <a:rect r="r" b="b" t="t" l="l"/>
                <a:pathLst>
                  <a:path h="747652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710708"/>
                    </a:lnTo>
                    <a:cubicBezTo>
                      <a:pt x="1215173" y="731112"/>
                      <a:pt x="1198632" y="747652"/>
                      <a:pt x="1178229" y="747652"/>
                    </a:cubicBezTo>
                    <a:lnTo>
                      <a:pt x="36944" y="747652"/>
                    </a:lnTo>
                    <a:cubicBezTo>
                      <a:pt x="27146" y="747652"/>
                      <a:pt x="17749" y="743760"/>
                      <a:pt x="10821" y="736831"/>
                    </a:cubicBezTo>
                    <a:cubicBezTo>
                      <a:pt x="3892" y="729903"/>
                      <a:pt x="0" y="720506"/>
                      <a:pt x="0" y="710708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215173" cy="74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매력도 레이더 차트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5564" y="979931"/>
              <a:ext cx="4686154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리뷰 데이터를 분석하여 도출한 6가지 핵심 지표(뷰/경관, 힐링, SNS/사진 등)를 육각형 레이더 차트로 표현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산마다 다른 '성격'을 도형의 형태로 직관적으로 파악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85389" y="4387792"/>
            <a:ext cx="4092961" cy="2518251"/>
            <a:chOff x="0" y="0"/>
            <a:chExt cx="5457282" cy="335766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457282" cy="3357668"/>
              <a:chOff x="0" y="0"/>
              <a:chExt cx="1215173" cy="7476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15173" cy="747652"/>
              </a:xfrm>
              <a:custGeom>
                <a:avLst/>
                <a:gdLst/>
                <a:ahLst/>
                <a:cxnLst/>
                <a:rect r="r" b="b" t="t" l="l"/>
                <a:pathLst>
                  <a:path h="747652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710708"/>
                    </a:lnTo>
                    <a:cubicBezTo>
                      <a:pt x="1215173" y="731112"/>
                      <a:pt x="1198632" y="747652"/>
                      <a:pt x="1178229" y="747652"/>
                    </a:cubicBezTo>
                    <a:lnTo>
                      <a:pt x="36944" y="747652"/>
                    </a:lnTo>
                    <a:cubicBezTo>
                      <a:pt x="27146" y="747652"/>
                      <a:pt x="17749" y="743760"/>
                      <a:pt x="10821" y="736831"/>
                    </a:cubicBezTo>
                    <a:cubicBezTo>
                      <a:pt x="3892" y="729903"/>
                      <a:pt x="0" y="720506"/>
                      <a:pt x="0" y="710708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215173" cy="747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키워드 워드 클라우드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5564" y="979931"/>
              <a:ext cx="4686154" cy="205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해당 산의 리뷰에서 가장 빈번하게 등장하는 단어들을 추출하여 워드 클라우드로 시각화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키워드 크기를 통해, 등산객들이 실제 현장에서 무엇을 가장 인상 깊게 느꼈는지 파악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85389" y="7171963"/>
            <a:ext cx="4092961" cy="1746726"/>
            <a:chOff x="0" y="0"/>
            <a:chExt cx="5457282" cy="232896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457282" cy="2328968"/>
              <a:chOff x="0" y="0"/>
              <a:chExt cx="1215173" cy="51859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15173" cy="518591"/>
              </a:xfrm>
              <a:custGeom>
                <a:avLst/>
                <a:gdLst/>
                <a:ahLst/>
                <a:cxnLst/>
                <a:rect r="r" b="b" t="t" l="l"/>
                <a:pathLst>
                  <a:path h="518591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481647"/>
                    </a:lnTo>
                    <a:cubicBezTo>
                      <a:pt x="1215173" y="502051"/>
                      <a:pt x="1198632" y="518591"/>
                      <a:pt x="1178229" y="518591"/>
                    </a:cubicBezTo>
                    <a:lnTo>
                      <a:pt x="36944" y="518591"/>
                    </a:lnTo>
                    <a:cubicBezTo>
                      <a:pt x="27146" y="518591"/>
                      <a:pt x="17749" y="514699"/>
                      <a:pt x="10821" y="507771"/>
                    </a:cubicBezTo>
                    <a:cubicBezTo>
                      <a:pt x="3892" y="500842"/>
                      <a:pt x="0" y="491446"/>
                      <a:pt x="0" y="481647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215173" cy="518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매력 지수 스코어링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5564" y="979931"/>
              <a:ext cx="4686154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각 매력 항목을 10점 만점으로 환산하고, 전체 산 평균 대비(▲/▼) 얼마나 우수한지 비교 분석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3296" y="2186551"/>
            <a:ext cx="11690667" cy="4552461"/>
          </a:xfrm>
          <a:custGeom>
            <a:avLst/>
            <a:gdLst/>
            <a:ahLst/>
            <a:cxnLst/>
            <a:rect r="r" b="b" t="t" l="l"/>
            <a:pathLst>
              <a:path h="4552461" w="11690667">
                <a:moveTo>
                  <a:pt x="0" y="0"/>
                </a:moveTo>
                <a:lnTo>
                  <a:pt x="11690667" y="0"/>
                </a:lnTo>
                <a:lnTo>
                  <a:pt x="11690667" y="4552461"/>
                </a:lnTo>
                <a:lnTo>
                  <a:pt x="0" y="455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911" t="-82778" r="-1377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11976231" y="5088866"/>
            <a:ext cx="1209158" cy="558052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3901709" y="2861966"/>
            <a:ext cx="9283680" cy="291307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763296" y="6739012"/>
            <a:ext cx="11690667" cy="2557388"/>
          </a:xfrm>
          <a:custGeom>
            <a:avLst/>
            <a:gdLst/>
            <a:ahLst/>
            <a:cxnLst/>
            <a:rect r="r" b="b" t="t" l="l"/>
            <a:pathLst>
              <a:path h="2557388" w="11690667">
                <a:moveTo>
                  <a:pt x="0" y="0"/>
                </a:moveTo>
                <a:lnTo>
                  <a:pt x="11690667" y="0"/>
                </a:lnTo>
                <a:lnTo>
                  <a:pt x="11690667" y="2557388"/>
                </a:lnTo>
                <a:lnTo>
                  <a:pt x="0" y="2557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11" t="-206922" r="-1377" b="-18445"/>
            </a:stretch>
          </a:blipFill>
        </p:spPr>
      </p:sp>
      <p:sp>
        <p:nvSpPr>
          <p:cNvPr name="AutoShape 24" id="24"/>
          <p:cNvSpPr/>
          <p:nvPr/>
        </p:nvSpPr>
        <p:spPr>
          <a:xfrm flipV="true">
            <a:off x="11976231" y="8045326"/>
            <a:ext cx="1209158" cy="0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32267" y="3153274"/>
            <a:ext cx="5138884" cy="3871184"/>
            <a:chOff x="0" y="0"/>
            <a:chExt cx="523518" cy="3943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3518" cy="394372"/>
            </a:xfrm>
            <a:custGeom>
              <a:avLst/>
              <a:gdLst/>
              <a:ahLst/>
              <a:cxnLst/>
              <a:rect r="r" b="b" t="t" l="l"/>
              <a:pathLst>
                <a:path h="394372" w="523518">
                  <a:moveTo>
                    <a:pt x="0" y="0"/>
                  </a:moveTo>
                  <a:lnTo>
                    <a:pt x="523518" y="0"/>
                  </a:lnTo>
                  <a:lnTo>
                    <a:pt x="523518" y="394372"/>
                  </a:lnTo>
                  <a:lnTo>
                    <a:pt x="0" y="394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23518" cy="394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42198" y="3153274"/>
            <a:ext cx="5234033" cy="3871184"/>
            <a:chOff x="0" y="0"/>
            <a:chExt cx="533211" cy="3943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211" cy="394372"/>
            </a:xfrm>
            <a:custGeom>
              <a:avLst/>
              <a:gdLst/>
              <a:ahLst/>
              <a:cxnLst/>
              <a:rect r="r" b="b" t="t" l="l"/>
              <a:pathLst>
                <a:path h="394372" w="533211">
                  <a:moveTo>
                    <a:pt x="0" y="0"/>
                  </a:moveTo>
                  <a:lnTo>
                    <a:pt x="533211" y="0"/>
                  </a:lnTo>
                  <a:lnTo>
                    <a:pt x="533211" y="394372"/>
                  </a:lnTo>
                  <a:lnTo>
                    <a:pt x="0" y="394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33211" cy="394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2267" y="7206771"/>
            <a:ext cx="10643964" cy="1677109"/>
            <a:chOff x="0" y="0"/>
            <a:chExt cx="1084341" cy="1708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4341" cy="170853"/>
            </a:xfrm>
            <a:custGeom>
              <a:avLst/>
              <a:gdLst/>
              <a:ahLst/>
              <a:cxnLst/>
              <a:rect r="r" b="b" t="t" l="l"/>
              <a:pathLst>
                <a:path h="170853" w="1084341">
                  <a:moveTo>
                    <a:pt x="0" y="0"/>
                  </a:moveTo>
                  <a:lnTo>
                    <a:pt x="1084341" y="0"/>
                  </a:lnTo>
                  <a:lnTo>
                    <a:pt x="1084341" y="170853"/>
                  </a:lnTo>
                  <a:lnTo>
                    <a:pt x="0" y="1708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84341" cy="170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88913" y="-109227"/>
            <a:ext cx="6150756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등산로 조회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8961" y="2515802"/>
            <a:ext cx="4092961" cy="1746726"/>
            <a:chOff x="0" y="0"/>
            <a:chExt cx="5457282" cy="232896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457282" cy="2328968"/>
              <a:chOff x="0" y="0"/>
              <a:chExt cx="1215173" cy="51859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15173" cy="518591"/>
              </a:xfrm>
              <a:custGeom>
                <a:avLst/>
                <a:gdLst/>
                <a:ahLst/>
                <a:cxnLst/>
                <a:rect r="r" b="b" t="t" l="l"/>
                <a:pathLst>
                  <a:path h="518591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481647"/>
                    </a:lnTo>
                    <a:cubicBezTo>
                      <a:pt x="1215173" y="502051"/>
                      <a:pt x="1198632" y="518591"/>
                      <a:pt x="1178229" y="518591"/>
                    </a:cubicBezTo>
                    <a:lnTo>
                      <a:pt x="36944" y="518591"/>
                    </a:lnTo>
                    <a:cubicBezTo>
                      <a:pt x="27146" y="518591"/>
                      <a:pt x="17749" y="514699"/>
                      <a:pt x="10821" y="507771"/>
                    </a:cubicBezTo>
                    <a:cubicBezTo>
                      <a:pt x="3892" y="500842"/>
                      <a:pt x="0" y="491446"/>
                      <a:pt x="0" y="481647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215173" cy="518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다중 코스 선택 및 시각화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5564" y="979931"/>
              <a:ext cx="4686154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하나의 산에도 존재하는 여러 등산로(코스 01, 코스 02...)를 탭 형태로 제공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38961" y="5979885"/>
            <a:ext cx="4092961" cy="1746726"/>
            <a:chOff x="0" y="0"/>
            <a:chExt cx="5457282" cy="232896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457282" cy="2328968"/>
              <a:chOff x="0" y="0"/>
              <a:chExt cx="1215173" cy="5185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15173" cy="518591"/>
              </a:xfrm>
              <a:custGeom>
                <a:avLst/>
                <a:gdLst/>
                <a:ahLst/>
                <a:cxnLst/>
                <a:rect r="r" b="b" t="t" l="l"/>
                <a:pathLst>
                  <a:path h="518591" w="1215173">
                    <a:moveTo>
                      <a:pt x="36944" y="0"/>
                    </a:moveTo>
                    <a:lnTo>
                      <a:pt x="1178229" y="0"/>
                    </a:lnTo>
                    <a:cubicBezTo>
                      <a:pt x="1188027" y="0"/>
                      <a:pt x="1197424" y="3892"/>
                      <a:pt x="1204352" y="10821"/>
                    </a:cubicBezTo>
                    <a:cubicBezTo>
                      <a:pt x="1211280" y="17749"/>
                      <a:pt x="1215173" y="27146"/>
                      <a:pt x="1215173" y="36944"/>
                    </a:cubicBezTo>
                    <a:lnTo>
                      <a:pt x="1215173" y="481647"/>
                    </a:lnTo>
                    <a:cubicBezTo>
                      <a:pt x="1215173" y="502051"/>
                      <a:pt x="1198632" y="518591"/>
                      <a:pt x="1178229" y="518591"/>
                    </a:cubicBezTo>
                    <a:lnTo>
                      <a:pt x="36944" y="518591"/>
                    </a:lnTo>
                    <a:cubicBezTo>
                      <a:pt x="27146" y="518591"/>
                      <a:pt x="17749" y="514699"/>
                      <a:pt x="10821" y="507771"/>
                    </a:cubicBezTo>
                    <a:cubicBezTo>
                      <a:pt x="3892" y="500842"/>
                      <a:pt x="0" y="491446"/>
                      <a:pt x="0" y="481647"/>
                    </a:cubicBezTo>
                    <a:lnTo>
                      <a:pt x="0" y="36944"/>
                    </a:lnTo>
                    <a:cubicBezTo>
                      <a:pt x="0" y="27146"/>
                      <a:pt x="3892" y="17749"/>
                      <a:pt x="10821" y="10821"/>
                    </a:cubicBezTo>
                    <a:cubicBezTo>
                      <a:pt x="17749" y="3892"/>
                      <a:pt x="27146" y="0"/>
                      <a:pt x="369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215173" cy="518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05519" y="370331"/>
              <a:ext cx="4246245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선택한 등산로 정보 제공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5564" y="979931"/>
              <a:ext cx="4686154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등산로 선택 시 등산로의 지도와 스펙, 교통 정보, 주변 POI까지 확인 가능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514600" y="1428415"/>
            <a:ext cx="8978527" cy="3409777"/>
          </a:xfrm>
          <a:custGeom>
            <a:avLst/>
            <a:gdLst/>
            <a:ahLst/>
            <a:cxnLst/>
            <a:rect r="r" b="b" t="t" l="l"/>
            <a:pathLst>
              <a:path h="3409777" w="8978527">
                <a:moveTo>
                  <a:pt x="0" y="0"/>
                </a:moveTo>
                <a:lnTo>
                  <a:pt x="8978527" y="0"/>
                </a:lnTo>
                <a:lnTo>
                  <a:pt x="8978527" y="3409777"/>
                </a:lnTo>
                <a:lnTo>
                  <a:pt x="0" y="340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978" t="-86858" r="-954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4336202" y="3389165"/>
            <a:ext cx="7802759" cy="0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2514600" y="4737399"/>
            <a:ext cx="8978527" cy="2728784"/>
          </a:xfrm>
          <a:custGeom>
            <a:avLst/>
            <a:gdLst/>
            <a:ahLst/>
            <a:cxnLst/>
            <a:rect r="r" b="b" t="t" l="l"/>
            <a:pathLst>
              <a:path h="2728784" w="8978527">
                <a:moveTo>
                  <a:pt x="0" y="0"/>
                </a:moveTo>
                <a:lnTo>
                  <a:pt x="8978527" y="0"/>
                </a:lnTo>
                <a:lnTo>
                  <a:pt x="8978527" y="2728784"/>
                </a:lnTo>
                <a:lnTo>
                  <a:pt x="0" y="2728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78" t="-133491" r="-954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11143463" y="6853248"/>
            <a:ext cx="995498" cy="0"/>
          </a:xfrm>
          <a:prstGeom prst="line">
            <a:avLst/>
          </a:prstGeom>
          <a:ln cap="flat" w="38100">
            <a:solidFill>
              <a:srgbClr val="C6C8B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2514600" y="7424096"/>
            <a:ext cx="8978527" cy="2519526"/>
          </a:xfrm>
          <a:custGeom>
            <a:avLst/>
            <a:gdLst/>
            <a:ahLst/>
            <a:cxnLst/>
            <a:rect r="r" b="b" t="t" l="l"/>
            <a:pathLst>
              <a:path h="2519526" w="8978527">
                <a:moveTo>
                  <a:pt x="0" y="0"/>
                </a:moveTo>
                <a:lnTo>
                  <a:pt x="8978527" y="0"/>
                </a:lnTo>
                <a:lnTo>
                  <a:pt x="8978527" y="2519526"/>
                </a:lnTo>
                <a:lnTo>
                  <a:pt x="0" y="2519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978" t="-146080" r="-954" b="-6803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863887" y="3084694"/>
            <a:ext cx="1472316" cy="608942"/>
            <a:chOff x="0" y="0"/>
            <a:chExt cx="149990" cy="620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90" cy="62035"/>
            </a:xfrm>
            <a:custGeom>
              <a:avLst/>
              <a:gdLst/>
              <a:ahLst/>
              <a:cxnLst/>
              <a:rect r="r" b="b" t="t" l="l"/>
              <a:pathLst>
                <a:path h="62035" w="149990">
                  <a:moveTo>
                    <a:pt x="0" y="0"/>
                  </a:moveTo>
                  <a:lnTo>
                    <a:pt x="149990" y="0"/>
                  </a:lnTo>
                  <a:lnTo>
                    <a:pt x="149990" y="62035"/>
                  </a:lnTo>
                  <a:lnTo>
                    <a:pt x="0" y="620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49990" cy="62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63887" y="3762874"/>
            <a:ext cx="8279576" cy="6180748"/>
            <a:chOff x="0" y="0"/>
            <a:chExt cx="149990" cy="1119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990" cy="111969"/>
            </a:xfrm>
            <a:custGeom>
              <a:avLst/>
              <a:gdLst/>
              <a:ahLst/>
              <a:cxnLst/>
              <a:rect r="r" b="b" t="t" l="l"/>
              <a:pathLst>
                <a:path h="111969" w="149990">
                  <a:moveTo>
                    <a:pt x="0" y="0"/>
                  </a:moveTo>
                  <a:lnTo>
                    <a:pt x="149990" y="0"/>
                  </a:lnTo>
                  <a:lnTo>
                    <a:pt x="149990" y="111969"/>
                  </a:lnTo>
                  <a:lnTo>
                    <a:pt x="0" y="111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9E5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9990" cy="111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8913" y="-109227"/>
            <a:ext cx="6150756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등산로 조회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1381" y="2325139"/>
            <a:ext cx="11897385" cy="6187199"/>
          </a:xfrm>
          <a:custGeom>
            <a:avLst/>
            <a:gdLst/>
            <a:ahLst/>
            <a:cxnLst/>
            <a:rect r="r" b="b" t="t" l="l"/>
            <a:pathLst>
              <a:path h="6187199" w="11897385">
                <a:moveTo>
                  <a:pt x="0" y="0"/>
                </a:moveTo>
                <a:lnTo>
                  <a:pt x="11897384" y="0"/>
                </a:lnTo>
                <a:lnTo>
                  <a:pt x="11897384" y="6187199"/>
                </a:lnTo>
                <a:lnTo>
                  <a:pt x="0" y="618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733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11560" y="2617761"/>
            <a:ext cx="4717710" cy="1489551"/>
            <a:chOff x="0" y="0"/>
            <a:chExt cx="6290279" cy="198606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290279" cy="1986068"/>
              <a:chOff x="0" y="0"/>
              <a:chExt cx="1400656" cy="44223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400656" cy="442238"/>
              </a:xfrm>
              <a:custGeom>
                <a:avLst/>
                <a:gdLst/>
                <a:ahLst/>
                <a:cxnLst/>
                <a:rect r="r" b="b" t="t" l="l"/>
                <a:pathLst>
                  <a:path h="442238" w="1400656">
                    <a:moveTo>
                      <a:pt x="32051" y="0"/>
                    </a:moveTo>
                    <a:lnTo>
                      <a:pt x="1368605" y="0"/>
                    </a:lnTo>
                    <a:cubicBezTo>
                      <a:pt x="1386306" y="0"/>
                      <a:pt x="1400656" y="14350"/>
                      <a:pt x="1400656" y="32051"/>
                    </a:cubicBezTo>
                    <a:lnTo>
                      <a:pt x="1400656" y="410186"/>
                    </a:lnTo>
                    <a:cubicBezTo>
                      <a:pt x="1400656" y="418687"/>
                      <a:pt x="1397279" y="426839"/>
                      <a:pt x="1391269" y="432850"/>
                    </a:cubicBezTo>
                    <a:cubicBezTo>
                      <a:pt x="1385258" y="438861"/>
                      <a:pt x="1377105" y="442238"/>
                      <a:pt x="1368605" y="442238"/>
                    </a:cubicBezTo>
                    <a:lnTo>
                      <a:pt x="32051" y="442238"/>
                    </a:lnTo>
                    <a:cubicBezTo>
                      <a:pt x="14350" y="442238"/>
                      <a:pt x="0" y="427888"/>
                      <a:pt x="0" y="410186"/>
                    </a:cubicBezTo>
                    <a:lnTo>
                      <a:pt x="0" y="32051"/>
                    </a:lnTo>
                    <a:cubicBezTo>
                      <a:pt x="0" y="14350"/>
                      <a:pt x="14350" y="0"/>
                      <a:pt x="320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0"/>
                <a:ext cx="1400656" cy="442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97945" y="370331"/>
              <a:ext cx="489439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사용자 입력 의도 분류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44416" y="979931"/>
              <a:ext cx="5401447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사용자의 입력에서 복잡한 문맥에 숨겨진 의도를 LLM이 정밀하게 분류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11560" y="4335912"/>
            <a:ext cx="4717710" cy="1746726"/>
            <a:chOff x="0" y="0"/>
            <a:chExt cx="6290279" cy="232896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290279" cy="2328968"/>
              <a:chOff x="0" y="0"/>
              <a:chExt cx="1400656" cy="51859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00656" cy="518591"/>
              </a:xfrm>
              <a:custGeom>
                <a:avLst/>
                <a:gdLst/>
                <a:ahLst/>
                <a:cxnLst/>
                <a:rect r="r" b="b" t="t" l="l"/>
                <a:pathLst>
                  <a:path h="518591" w="1400656">
                    <a:moveTo>
                      <a:pt x="32051" y="0"/>
                    </a:moveTo>
                    <a:lnTo>
                      <a:pt x="1368605" y="0"/>
                    </a:lnTo>
                    <a:cubicBezTo>
                      <a:pt x="1386306" y="0"/>
                      <a:pt x="1400656" y="14350"/>
                      <a:pt x="1400656" y="32051"/>
                    </a:cubicBezTo>
                    <a:lnTo>
                      <a:pt x="1400656" y="486540"/>
                    </a:lnTo>
                    <a:cubicBezTo>
                      <a:pt x="1400656" y="504241"/>
                      <a:pt x="1386306" y="518591"/>
                      <a:pt x="1368605" y="518591"/>
                    </a:cubicBezTo>
                    <a:lnTo>
                      <a:pt x="32051" y="518591"/>
                    </a:lnTo>
                    <a:cubicBezTo>
                      <a:pt x="23551" y="518591"/>
                      <a:pt x="15398" y="515214"/>
                      <a:pt x="9388" y="509204"/>
                    </a:cubicBezTo>
                    <a:cubicBezTo>
                      <a:pt x="3377" y="503193"/>
                      <a:pt x="0" y="495040"/>
                      <a:pt x="0" y="486540"/>
                    </a:cubicBezTo>
                    <a:lnTo>
                      <a:pt x="0" y="32051"/>
                    </a:lnTo>
                    <a:cubicBezTo>
                      <a:pt x="0" y="14350"/>
                      <a:pt x="14350" y="0"/>
                      <a:pt x="320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400656" cy="5185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97945" y="370331"/>
              <a:ext cx="489439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자연어 → 정형 쿼리 변환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44416" y="938336"/>
              <a:ext cx="5401447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"아이랑 갈만한 쉬운 산"과 같은 추상적 자연어를 시스템이 이해할 수 있는 구조화된 파라미터(JSON)로 변환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011560" y="6311238"/>
            <a:ext cx="4717710" cy="2261076"/>
            <a:chOff x="0" y="0"/>
            <a:chExt cx="6290279" cy="301476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290279" cy="3014768"/>
              <a:chOff x="0" y="0"/>
              <a:chExt cx="1400656" cy="6712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00656" cy="671298"/>
              </a:xfrm>
              <a:custGeom>
                <a:avLst/>
                <a:gdLst/>
                <a:ahLst/>
                <a:cxnLst/>
                <a:rect r="r" b="b" t="t" l="l"/>
                <a:pathLst>
                  <a:path h="671298" w="1400656">
                    <a:moveTo>
                      <a:pt x="32051" y="0"/>
                    </a:moveTo>
                    <a:lnTo>
                      <a:pt x="1368605" y="0"/>
                    </a:lnTo>
                    <a:cubicBezTo>
                      <a:pt x="1386306" y="0"/>
                      <a:pt x="1400656" y="14350"/>
                      <a:pt x="1400656" y="32051"/>
                    </a:cubicBezTo>
                    <a:lnTo>
                      <a:pt x="1400656" y="639247"/>
                    </a:lnTo>
                    <a:cubicBezTo>
                      <a:pt x="1400656" y="647747"/>
                      <a:pt x="1397279" y="655900"/>
                      <a:pt x="1391269" y="661911"/>
                    </a:cubicBezTo>
                    <a:cubicBezTo>
                      <a:pt x="1385258" y="667921"/>
                      <a:pt x="1377105" y="671298"/>
                      <a:pt x="1368605" y="671298"/>
                    </a:cubicBezTo>
                    <a:lnTo>
                      <a:pt x="32051" y="671298"/>
                    </a:lnTo>
                    <a:cubicBezTo>
                      <a:pt x="14350" y="671298"/>
                      <a:pt x="0" y="656948"/>
                      <a:pt x="0" y="639247"/>
                    </a:cubicBezTo>
                    <a:lnTo>
                      <a:pt x="0" y="32051"/>
                    </a:lnTo>
                    <a:cubicBezTo>
                      <a:pt x="0" y="14350"/>
                      <a:pt x="14350" y="0"/>
                      <a:pt x="320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C6C8B9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1400656" cy="671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97945" y="370331"/>
              <a:ext cx="489439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00000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데이터 기반 필터링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4416" y="907140"/>
              <a:ext cx="5401447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67034" indent="-183517" lvl="1">
                <a:lnSpc>
                  <a:spcPts val="2040"/>
                </a:lnSpc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변환된 파라미터를 사용해 600여 개의 등산로 데이터에서 조건(난이도, 거리, 고도 등)에 부합하는 최적의 코스를 필터링</a:t>
              </a:r>
            </a:p>
            <a:p>
              <a:pPr algn="l" marL="367034" indent="-183517" lvl="1">
                <a:lnSpc>
                  <a:spcPts val="20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00" spc="17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감성 분석을 통해 미리 분류된 6가지 테마(힐링, 뷰, 가족 등)를 활용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11560" y="1714686"/>
            <a:ext cx="4717710" cy="670582"/>
            <a:chOff x="0" y="0"/>
            <a:chExt cx="970722" cy="1379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0722" cy="137980"/>
            </a:xfrm>
            <a:custGeom>
              <a:avLst/>
              <a:gdLst/>
              <a:ahLst/>
              <a:cxnLst/>
              <a:rect r="r" b="b" t="t" l="l"/>
              <a:pathLst>
                <a:path h="137980" w="970722">
                  <a:moveTo>
                    <a:pt x="32051" y="0"/>
                  </a:moveTo>
                  <a:lnTo>
                    <a:pt x="938671" y="0"/>
                  </a:lnTo>
                  <a:cubicBezTo>
                    <a:pt x="956372" y="0"/>
                    <a:pt x="970722" y="14350"/>
                    <a:pt x="970722" y="32051"/>
                  </a:cubicBezTo>
                  <a:lnTo>
                    <a:pt x="970722" y="105928"/>
                  </a:lnTo>
                  <a:cubicBezTo>
                    <a:pt x="970722" y="123630"/>
                    <a:pt x="956372" y="137980"/>
                    <a:pt x="938671" y="137980"/>
                  </a:cubicBezTo>
                  <a:lnTo>
                    <a:pt x="32051" y="137980"/>
                  </a:lnTo>
                  <a:cubicBezTo>
                    <a:pt x="14350" y="137980"/>
                    <a:pt x="0" y="123630"/>
                    <a:pt x="0" y="105928"/>
                  </a:cubicBezTo>
                  <a:lnTo>
                    <a:pt x="0" y="32051"/>
                  </a:lnTo>
                  <a:cubicBezTo>
                    <a:pt x="0" y="14350"/>
                    <a:pt x="14350" y="0"/>
                    <a:pt x="32051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70722" cy="137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954710" y="1854714"/>
            <a:ext cx="283141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추천 챗봇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아키텍처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0" y="0"/>
            <a:ext cx="18288000" cy="723880"/>
            <a:chOff x="0" y="0"/>
            <a:chExt cx="4816593" cy="1906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16592" cy="190652"/>
            </a:xfrm>
            <a:custGeom>
              <a:avLst/>
              <a:gdLst/>
              <a:ahLst/>
              <a:cxnLst/>
              <a:rect r="r" b="b" t="t" l="l"/>
              <a:pathLst>
                <a:path h="1906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0652"/>
                  </a:lnTo>
                  <a:lnTo>
                    <a:pt x="0" y="190652"/>
                  </a:lnTo>
                  <a:close/>
                </a:path>
              </a:pathLst>
            </a:custGeom>
            <a:solidFill>
              <a:srgbClr val="D2D9C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816593" cy="23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8913" y="-109227"/>
            <a:ext cx="6150756" cy="70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  <a:spcBef>
                <a:spcPct val="0"/>
              </a:spcBef>
            </a:pPr>
            <a:r>
              <a:rPr lang="en-US" b="true" sz="3100" spc="93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대시보드: 추천 챗봇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711521" y="2384404"/>
            <a:ext cx="8880028" cy="5178321"/>
            <a:chOff x="0" y="0"/>
            <a:chExt cx="11840038" cy="690442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1840038" cy="6904427"/>
              <a:chOff x="0" y="0"/>
              <a:chExt cx="2074304" cy="120961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74304" cy="1209615"/>
              </a:xfrm>
              <a:custGeom>
                <a:avLst/>
                <a:gdLst/>
                <a:ahLst/>
                <a:cxnLst/>
                <a:rect r="r" b="b" t="t" l="l"/>
                <a:pathLst>
                  <a:path h="1209615" w="2074304">
                    <a:moveTo>
                      <a:pt x="17437" y="0"/>
                    </a:moveTo>
                    <a:lnTo>
                      <a:pt x="2056868" y="0"/>
                    </a:lnTo>
                    <a:cubicBezTo>
                      <a:pt x="2061492" y="0"/>
                      <a:pt x="2065927" y="1837"/>
                      <a:pt x="2069197" y="5107"/>
                    </a:cubicBezTo>
                    <a:cubicBezTo>
                      <a:pt x="2072467" y="8377"/>
                      <a:pt x="2074304" y="12812"/>
                      <a:pt x="2074304" y="17437"/>
                    </a:cubicBezTo>
                    <a:lnTo>
                      <a:pt x="2074304" y="1192178"/>
                    </a:lnTo>
                    <a:cubicBezTo>
                      <a:pt x="2074304" y="1201808"/>
                      <a:pt x="2066498" y="1209615"/>
                      <a:pt x="2056868" y="1209615"/>
                    </a:cubicBezTo>
                    <a:lnTo>
                      <a:pt x="17437" y="1209615"/>
                    </a:lnTo>
                    <a:cubicBezTo>
                      <a:pt x="7807" y="1209615"/>
                      <a:pt x="0" y="1201808"/>
                      <a:pt x="0" y="1192178"/>
                    </a:cubicBezTo>
                    <a:lnTo>
                      <a:pt x="0" y="17437"/>
                    </a:lnTo>
                    <a:cubicBezTo>
                      <a:pt x="0" y="7807"/>
                      <a:pt x="7807" y="0"/>
                      <a:pt x="174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4EBE5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2074304" cy="12096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3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164294" y="162864"/>
              <a:ext cx="11511450" cy="6544411"/>
            </a:xfrm>
            <a:custGeom>
              <a:avLst/>
              <a:gdLst/>
              <a:ahLst/>
              <a:cxnLst/>
              <a:rect r="r" b="b" t="t" l="l"/>
              <a:pathLst>
                <a:path h="6544411" w="11511450">
                  <a:moveTo>
                    <a:pt x="0" y="0"/>
                  </a:moveTo>
                  <a:lnTo>
                    <a:pt x="11511450" y="0"/>
                  </a:lnTo>
                  <a:lnTo>
                    <a:pt x="11511450" y="6544411"/>
                  </a:lnTo>
                  <a:lnTo>
                    <a:pt x="0" y="6544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57918" y="593473"/>
            <a:ext cx="340166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인사이트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9100" y="8181849"/>
            <a:ext cx="1250487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spc="2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군집분석 결과 </a:t>
            </a:r>
            <a:r>
              <a:rPr lang="en-US" sz="2799" spc="2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 리뷰 점수 낮고, 매력 측면에서 점수 떨어지는 </a:t>
            </a:r>
            <a:r>
              <a:rPr lang="en-US" b="true" sz="2799" spc="27">
                <a:solidFill>
                  <a:srgbClr val="C25141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취약 군집</a:t>
            </a:r>
            <a:r>
              <a:rPr lang="en-US" sz="2799" spc="2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발견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5070" y="8823490"/>
            <a:ext cx="18272930" cy="535994"/>
            <a:chOff x="0" y="0"/>
            <a:chExt cx="4812624" cy="1411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2624" cy="141167"/>
            </a:xfrm>
            <a:custGeom>
              <a:avLst/>
              <a:gdLst/>
              <a:ahLst/>
              <a:cxnLst/>
              <a:rect r="r" b="b" t="t" l="l"/>
              <a:pathLst>
                <a:path h="141167" w="4812624">
                  <a:moveTo>
                    <a:pt x="0" y="0"/>
                  </a:moveTo>
                  <a:lnTo>
                    <a:pt x="4812624" y="0"/>
                  </a:lnTo>
                  <a:lnTo>
                    <a:pt x="4812624" y="141167"/>
                  </a:lnTo>
                  <a:lnTo>
                    <a:pt x="0" y="141167"/>
                  </a:lnTo>
                  <a:close/>
                </a:path>
              </a:pathLst>
            </a:custGeom>
            <a:solidFill>
              <a:srgbClr val="E5E2DF">
                <a:alpha val="53725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812624" cy="141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904186" y="8848599"/>
            <a:ext cx="104946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spc="30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취약 군집의 등산로</a:t>
            </a:r>
            <a:r>
              <a:rPr lang="en-US" sz="3099" spc="30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들을 활성화하기 위한 </a:t>
            </a:r>
            <a:r>
              <a:rPr lang="en-US" b="true" sz="3099" spc="30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두 가지 전략</a:t>
            </a:r>
            <a:r>
              <a:rPr lang="en-US" sz="3099" spc="30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 제안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998578"/>
            <a:ext cx="18288000" cy="792734"/>
            <a:chOff x="0" y="0"/>
            <a:chExt cx="4816593" cy="208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08786"/>
            </a:xfrm>
            <a:custGeom>
              <a:avLst/>
              <a:gdLst/>
              <a:ahLst/>
              <a:cxnLst/>
              <a:rect r="r" b="b" t="t" l="l"/>
              <a:pathLst>
                <a:path h="208786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204553"/>
                  </a:lnTo>
                  <a:cubicBezTo>
                    <a:pt x="4816592" y="205675"/>
                    <a:pt x="4816146" y="206752"/>
                    <a:pt x="4815353" y="207546"/>
                  </a:cubicBezTo>
                  <a:cubicBezTo>
                    <a:pt x="4814558" y="208340"/>
                    <a:pt x="4813482" y="208786"/>
                    <a:pt x="4812359" y="208786"/>
                  </a:cubicBezTo>
                  <a:lnTo>
                    <a:pt x="4233" y="208786"/>
                  </a:lnTo>
                  <a:cubicBezTo>
                    <a:pt x="3111" y="208786"/>
                    <a:pt x="2034" y="208340"/>
                    <a:pt x="1240" y="207546"/>
                  </a:cubicBezTo>
                  <a:cubicBezTo>
                    <a:pt x="446" y="206752"/>
                    <a:pt x="0" y="205675"/>
                    <a:pt x="0" y="204553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56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571780" y="3375484"/>
            <a:ext cx="3532932" cy="707161"/>
            <a:chOff x="0" y="0"/>
            <a:chExt cx="961725" cy="192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1725" cy="192502"/>
            </a:xfrm>
            <a:custGeom>
              <a:avLst/>
              <a:gdLst/>
              <a:ahLst/>
              <a:cxnLst/>
              <a:rect r="r" b="b" t="t" l="l"/>
              <a:pathLst>
                <a:path h="192502" w="961725">
                  <a:moveTo>
                    <a:pt x="70123" y="0"/>
                  </a:moveTo>
                  <a:lnTo>
                    <a:pt x="891602" y="0"/>
                  </a:lnTo>
                  <a:cubicBezTo>
                    <a:pt x="910200" y="0"/>
                    <a:pt x="928036" y="7388"/>
                    <a:pt x="941187" y="20539"/>
                  </a:cubicBezTo>
                  <a:cubicBezTo>
                    <a:pt x="954337" y="33689"/>
                    <a:pt x="961725" y="51526"/>
                    <a:pt x="961725" y="70123"/>
                  </a:cubicBezTo>
                  <a:lnTo>
                    <a:pt x="961725" y="122378"/>
                  </a:lnTo>
                  <a:cubicBezTo>
                    <a:pt x="961725" y="140976"/>
                    <a:pt x="954337" y="158812"/>
                    <a:pt x="941187" y="171963"/>
                  </a:cubicBezTo>
                  <a:cubicBezTo>
                    <a:pt x="928036" y="185114"/>
                    <a:pt x="910200" y="192502"/>
                    <a:pt x="891602" y="192502"/>
                  </a:cubicBezTo>
                  <a:lnTo>
                    <a:pt x="70123" y="192502"/>
                  </a:lnTo>
                  <a:cubicBezTo>
                    <a:pt x="51526" y="192502"/>
                    <a:pt x="33689" y="185114"/>
                    <a:pt x="20539" y="171963"/>
                  </a:cubicBezTo>
                  <a:cubicBezTo>
                    <a:pt x="7388" y="158812"/>
                    <a:pt x="0" y="140976"/>
                    <a:pt x="0" y="122378"/>
                  </a:cubicBezTo>
                  <a:lnTo>
                    <a:pt x="0" y="70123"/>
                  </a:lnTo>
                  <a:cubicBezTo>
                    <a:pt x="0" y="51526"/>
                    <a:pt x="7388" y="33689"/>
                    <a:pt x="20539" y="20539"/>
                  </a:cubicBezTo>
                  <a:cubicBezTo>
                    <a:pt x="33689" y="7388"/>
                    <a:pt x="51526" y="0"/>
                    <a:pt x="70123" y="0"/>
                  </a:cubicBez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61725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74636" y="3375484"/>
            <a:ext cx="5261512" cy="687291"/>
            <a:chOff x="0" y="0"/>
            <a:chExt cx="1473682" cy="192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3682" cy="192502"/>
            </a:xfrm>
            <a:custGeom>
              <a:avLst/>
              <a:gdLst/>
              <a:ahLst/>
              <a:cxnLst/>
              <a:rect r="r" b="b" t="t" l="l"/>
              <a:pathLst>
                <a:path h="192502" w="1473682">
                  <a:moveTo>
                    <a:pt x="47086" y="0"/>
                  </a:moveTo>
                  <a:lnTo>
                    <a:pt x="1426596" y="0"/>
                  </a:lnTo>
                  <a:cubicBezTo>
                    <a:pt x="1439084" y="0"/>
                    <a:pt x="1451061" y="4961"/>
                    <a:pt x="1459891" y="13791"/>
                  </a:cubicBezTo>
                  <a:cubicBezTo>
                    <a:pt x="1468721" y="22621"/>
                    <a:pt x="1473682" y="34598"/>
                    <a:pt x="1473682" y="47086"/>
                  </a:cubicBezTo>
                  <a:lnTo>
                    <a:pt x="1473682" y="145416"/>
                  </a:lnTo>
                  <a:cubicBezTo>
                    <a:pt x="1473682" y="157904"/>
                    <a:pt x="1468721" y="169880"/>
                    <a:pt x="1459891" y="178710"/>
                  </a:cubicBezTo>
                  <a:cubicBezTo>
                    <a:pt x="1451061" y="187541"/>
                    <a:pt x="1439084" y="192502"/>
                    <a:pt x="1426596" y="192502"/>
                  </a:cubicBezTo>
                  <a:lnTo>
                    <a:pt x="47086" y="192502"/>
                  </a:lnTo>
                  <a:cubicBezTo>
                    <a:pt x="34598" y="192502"/>
                    <a:pt x="22621" y="187541"/>
                    <a:pt x="13791" y="178710"/>
                  </a:cubicBezTo>
                  <a:cubicBezTo>
                    <a:pt x="4961" y="169880"/>
                    <a:pt x="0" y="157904"/>
                    <a:pt x="0" y="145416"/>
                  </a:cubicBezTo>
                  <a:lnTo>
                    <a:pt x="0" y="47086"/>
                  </a:lnTo>
                  <a:cubicBezTo>
                    <a:pt x="0" y="34598"/>
                    <a:pt x="4961" y="22621"/>
                    <a:pt x="13791" y="13791"/>
                  </a:cubicBezTo>
                  <a:cubicBezTo>
                    <a:pt x="22621" y="4961"/>
                    <a:pt x="34598" y="0"/>
                    <a:pt x="4708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73682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1780" y="4493212"/>
            <a:ext cx="3532932" cy="4746038"/>
            <a:chOff x="0" y="0"/>
            <a:chExt cx="989529" cy="13293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9529" cy="1329304"/>
            </a:xfrm>
            <a:custGeom>
              <a:avLst/>
              <a:gdLst/>
              <a:ahLst/>
              <a:cxnLst/>
              <a:rect r="r" b="b" t="t" l="l"/>
              <a:pathLst>
                <a:path h="1329304" w="989529">
                  <a:moveTo>
                    <a:pt x="41636" y="0"/>
                  </a:moveTo>
                  <a:lnTo>
                    <a:pt x="947893" y="0"/>
                  </a:lnTo>
                  <a:cubicBezTo>
                    <a:pt x="970888" y="0"/>
                    <a:pt x="989529" y="18641"/>
                    <a:pt x="989529" y="41636"/>
                  </a:cubicBezTo>
                  <a:lnTo>
                    <a:pt x="989529" y="1287668"/>
                  </a:lnTo>
                  <a:cubicBezTo>
                    <a:pt x="989529" y="1298711"/>
                    <a:pt x="985142" y="1309301"/>
                    <a:pt x="977334" y="1317109"/>
                  </a:cubicBezTo>
                  <a:cubicBezTo>
                    <a:pt x="969526" y="1324918"/>
                    <a:pt x="958936" y="1329304"/>
                    <a:pt x="947893" y="1329304"/>
                  </a:cubicBezTo>
                  <a:lnTo>
                    <a:pt x="41636" y="1329304"/>
                  </a:lnTo>
                  <a:cubicBezTo>
                    <a:pt x="30593" y="1329304"/>
                    <a:pt x="20003" y="1324918"/>
                    <a:pt x="12195" y="1317109"/>
                  </a:cubicBezTo>
                  <a:cubicBezTo>
                    <a:pt x="4387" y="1309301"/>
                    <a:pt x="0" y="1298711"/>
                    <a:pt x="0" y="1287668"/>
                  </a:cubicBezTo>
                  <a:lnTo>
                    <a:pt x="0" y="41636"/>
                  </a:lnTo>
                  <a:cubicBezTo>
                    <a:pt x="0" y="30593"/>
                    <a:pt x="4387" y="20003"/>
                    <a:pt x="12195" y="12195"/>
                  </a:cubicBezTo>
                  <a:cubicBezTo>
                    <a:pt x="20003" y="4387"/>
                    <a:pt x="30593" y="0"/>
                    <a:pt x="41636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89529" cy="1376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603594" y="4772307"/>
            <a:ext cx="1469304" cy="1619067"/>
          </a:xfrm>
          <a:custGeom>
            <a:avLst/>
            <a:gdLst/>
            <a:ahLst/>
            <a:cxnLst/>
            <a:rect r="r" b="b" t="t" l="l"/>
            <a:pathLst>
              <a:path h="1619067" w="1469304">
                <a:moveTo>
                  <a:pt x="0" y="0"/>
                </a:moveTo>
                <a:lnTo>
                  <a:pt x="1469304" y="0"/>
                </a:lnTo>
                <a:lnTo>
                  <a:pt x="1469304" y="1619068"/>
                </a:lnTo>
                <a:lnTo>
                  <a:pt x="0" y="1619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3257806" y="7934934"/>
            <a:ext cx="201793" cy="356868"/>
          </a:xfrm>
          <a:custGeom>
            <a:avLst/>
            <a:gdLst/>
            <a:ahLst/>
            <a:cxnLst/>
            <a:rect r="r" b="b" t="t" l="l"/>
            <a:pathLst>
              <a:path h="356868" w="201793">
                <a:moveTo>
                  <a:pt x="0" y="0"/>
                </a:moveTo>
                <a:lnTo>
                  <a:pt x="201793" y="0"/>
                </a:lnTo>
                <a:lnTo>
                  <a:pt x="201793" y="356868"/>
                </a:lnTo>
                <a:lnTo>
                  <a:pt x="0" y="35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57918" y="593473"/>
            <a:ext cx="340166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인사이트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3694" y="3482719"/>
            <a:ext cx="1952540" cy="4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2504" spc="-5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문제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33484" y="3478100"/>
            <a:ext cx="2743816" cy="4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2504" spc="-5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솔루션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75807" y="6709759"/>
            <a:ext cx="2388315" cy="89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2"/>
              </a:lnSpc>
            </a:pPr>
            <a:r>
              <a:rPr lang="en-US" sz="2505" spc="2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별도 앱 설치 필수,</a:t>
            </a:r>
          </a:p>
          <a:p>
            <a:pPr algn="ctr">
              <a:lnSpc>
                <a:spcPts val="3632"/>
              </a:lnSpc>
            </a:pPr>
            <a:r>
              <a:rPr lang="en-US" sz="2505" spc="25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복잡한 로그인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55378" y="4469610"/>
            <a:ext cx="4121671" cy="41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5"/>
              </a:lnSpc>
              <a:spcBef>
                <a:spcPct val="0"/>
              </a:spcBef>
            </a:pPr>
            <a:r>
              <a:rPr lang="en-US" b="true" sz="2820" spc="28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참여형 등산로 관리 시스템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274636" y="5220678"/>
            <a:ext cx="5261512" cy="1076213"/>
            <a:chOff x="0" y="0"/>
            <a:chExt cx="1473682" cy="3014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73682" cy="301433"/>
            </a:xfrm>
            <a:custGeom>
              <a:avLst/>
              <a:gdLst/>
              <a:ahLst/>
              <a:cxnLst/>
              <a:rect r="r" b="b" t="t" l="l"/>
              <a:pathLst>
                <a:path h="301433" w="1473682">
                  <a:moveTo>
                    <a:pt x="27957" y="0"/>
                  </a:moveTo>
                  <a:lnTo>
                    <a:pt x="1445725" y="0"/>
                  </a:lnTo>
                  <a:cubicBezTo>
                    <a:pt x="1461165" y="0"/>
                    <a:pt x="1473682" y="12517"/>
                    <a:pt x="1473682" y="27957"/>
                  </a:cubicBezTo>
                  <a:lnTo>
                    <a:pt x="1473682" y="273476"/>
                  </a:lnTo>
                  <a:cubicBezTo>
                    <a:pt x="1473682" y="288917"/>
                    <a:pt x="1461165" y="301433"/>
                    <a:pt x="1445725" y="301433"/>
                  </a:cubicBezTo>
                  <a:lnTo>
                    <a:pt x="27957" y="301433"/>
                  </a:lnTo>
                  <a:cubicBezTo>
                    <a:pt x="12517" y="301433"/>
                    <a:pt x="0" y="288917"/>
                    <a:pt x="0" y="273476"/>
                  </a:cubicBezTo>
                  <a:lnTo>
                    <a:pt x="0" y="27957"/>
                  </a:lnTo>
                  <a:cubicBezTo>
                    <a:pt x="0" y="12517"/>
                    <a:pt x="12517" y="0"/>
                    <a:pt x="279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94C6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473682" cy="349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47988" y="5517755"/>
            <a:ext cx="691989" cy="42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2447" spc="-48">
                <a:solidFill>
                  <a:srgbClr val="47403B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접속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36790" y="5436359"/>
            <a:ext cx="3428826" cy="64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sz="2162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 입구 QR 스캔 시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sz="2162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카카오톡 채널로 연결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274636" y="6544846"/>
            <a:ext cx="5261512" cy="998427"/>
            <a:chOff x="0" y="0"/>
            <a:chExt cx="1473682" cy="2796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73682" cy="279647"/>
            </a:xfrm>
            <a:custGeom>
              <a:avLst/>
              <a:gdLst/>
              <a:ahLst/>
              <a:cxnLst/>
              <a:rect r="r" b="b" t="t" l="l"/>
              <a:pathLst>
                <a:path h="279647" w="1473682">
                  <a:moveTo>
                    <a:pt x="27957" y="0"/>
                  </a:moveTo>
                  <a:lnTo>
                    <a:pt x="1445725" y="0"/>
                  </a:lnTo>
                  <a:cubicBezTo>
                    <a:pt x="1461165" y="0"/>
                    <a:pt x="1473682" y="12517"/>
                    <a:pt x="1473682" y="27957"/>
                  </a:cubicBezTo>
                  <a:lnTo>
                    <a:pt x="1473682" y="251690"/>
                  </a:lnTo>
                  <a:cubicBezTo>
                    <a:pt x="1473682" y="267130"/>
                    <a:pt x="1461165" y="279647"/>
                    <a:pt x="1445725" y="279647"/>
                  </a:cubicBezTo>
                  <a:lnTo>
                    <a:pt x="27957" y="279647"/>
                  </a:lnTo>
                  <a:cubicBezTo>
                    <a:pt x="12517" y="279647"/>
                    <a:pt x="0" y="267130"/>
                    <a:pt x="0" y="251690"/>
                  </a:cubicBezTo>
                  <a:lnTo>
                    <a:pt x="0" y="27957"/>
                  </a:lnTo>
                  <a:cubicBezTo>
                    <a:pt x="0" y="12517"/>
                    <a:pt x="12517" y="0"/>
                    <a:pt x="279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94C6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73682" cy="327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747988" y="6803030"/>
            <a:ext cx="691989" cy="42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2447" spc="-48">
                <a:solidFill>
                  <a:srgbClr val="47403B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신고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36790" y="6866231"/>
            <a:ext cx="3428826" cy="32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sz="2162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현장 사진 촬영 후 신고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274636" y="7794060"/>
            <a:ext cx="5261512" cy="1445190"/>
            <a:chOff x="0" y="0"/>
            <a:chExt cx="1473682" cy="4047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73682" cy="404779"/>
            </a:xfrm>
            <a:custGeom>
              <a:avLst/>
              <a:gdLst/>
              <a:ahLst/>
              <a:cxnLst/>
              <a:rect r="r" b="b" t="t" l="l"/>
              <a:pathLst>
                <a:path h="404779" w="1473682">
                  <a:moveTo>
                    <a:pt x="27957" y="0"/>
                  </a:moveTo>
                  <a:lnTo>
                    <a:pt x="1445725" y="0"/>
                  </a:lnTo>
                  <a:cubicBezTo>
                    <a:pt x="1461165" y="0"/>
                    <a:pt x="1473682" y="12517"/>
                    <a:pt x="1473682" y="27957"/>
                  </a:cubicBezTo>
                  <a:lnTo>
                    <a:pt x="1473682" y="376822"/>
                  </a:lnTo>
                  <a:cubicBezTo>
                    <a:pt x="1473682" y="392262"/>
                    <a:pt x="1461165" y="404779"/>
                    <a:pt x="1445725" y="404779"/>
                  </a:cubicBezTo>
                  <a:lnTo>
                    <a:pt x="27957" y="404779"/>
                  </a:lnTo>
                  <a:cubicBezTo>
                    <a:pt x="12517" y="404779"/>
                    <a:pt x="0" y="392262"/>
                    <a:pt x="0" y="376822"/>
                  </a:cubicBezTo>
                  <a:lnTo>
                    <a:pt x="0" y="27957"/>
                  </a:lnTo>
                  <a:cubicBezTo>
                    <a:pt x="0" y="12517"/>
                    <a:pt x="12517" y="0"/>
                    <a:pt x="279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394C6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473682" cy="452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747988" y="8265791"/>
            <a:ext cx="691989" cy="42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2447" spc="-48">
                <a:solidFill>
                  <a:srgbClr val="47403B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보상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36790" y="8032996"/>
            <a:ext cx="3428826" cy="96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sz="2162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등산객 급증하는 봄, 가을</a:t>
            </a:r>
          </a:p>
          <a:p>
            <a:pPr algn="ctr">
              <a:lnSpc>
                <a:spcPts val="2595"/>
              </a:lnSpc>
            </a:pPr>
            <a:r>
              <a:rPr lang="en-US" sz="2162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신고자 대상 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sz="2162" spc="21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특산품 추첨 이벤트 진행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88655" y="8438870"/>
            <a:ext cx="1899182" cy="43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b="true" sz="2444" spc="24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불편 신고 </a:t>
            </a:r>
            <a:r>
              <a:rPr lang="en-US" b="true" sz="2444" spc="24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포기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531350" y="3375484"/>
            <a:ext cx="4184869" cy="707161"/>
            <a:chOff x="0" y="0"/>
            <a:chExt cx="1139194" cy="19250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39194" cy="192502"/>
            </a:xfrm>
            <a:custGeom>
              <a:avLst/>
              <a:gdLst/>
              <a:ahLst/>
              <a:cxnLst/>
              <a:rect r="r" b="b" t="t" l="l"/>
              <a:pathLst>
                <a:path h="192502" w="1139194">
                  <a:moveTo>
                    <a:pt x="59199" y="0"/>
                  </a:moveTo>
                  <a:lnTo>
                    <a:pt x="1079995" y="0"/>
                  </a:lnTo>
                  <a:cubicBezTo>
                    <a:pt x="1112689" y="0"/>
                    <a:pt x="1139194" y="26504"/>
                    <a:pt x="1139194" y="59199"/>
                  </a:cubicBezTo>
                  <a:lnTo>
                    <a:pt x="1139194" y="133302"/>
                  </a:lnTo>
                  <a:cubicBezTo>
                    <a:pt x="1139194" y="149003"/>
                    <a:pt x="1132957" y="164060"/>
                    <a:pt x="1121855" y="175162"/>
                  </a:cubicBezTo>
                  <a:cubicBezTo>
                    <a:pt x="1110753" y="186264"/>
                    <a:pt x="1095695" y="192502"/>
                    <a:pt x="1079995" y="192502"/>
                  </a:cubicBezTo>
                  <a:lnTo>
                    <a:pt x="59199" y="192502"/>
                  </a:lnTo>
                  <a:cubicBezTo>
                    <a:pt x="26504" y="192502"/>
                    <a:pt x="0" y="165997"/>
                    <a:pt x="0" y="133302"/>
                  </a:cubicBezTo>
                  <a:lnTo>
                    <a:pt x="0" y="59199"/>
                  </a:lnTo>
                  <a:cubicBezTo>
                    <a:pt x="0" y="26504"/>
                    <a:pt x="26504" y="0"/>
                    <a:pt x="59199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139194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647515" y="3472784"/>
            <a:ext cx="1952540" cy="43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2504" spc="-5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기대 효과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531350" y="4348396"/>
            <a:ext cx="4184869" cy="1522573"/>
            <a:chOff x="0" y="0"/>
            <a:chExt cx="1172128" cy="42645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2128" cy="426453"/>
            </a:xfrm>
            <a:custGeom>
              <a:avLst/>
              <a:gdLst/>
              <a:ahLst/>
              <a:cxnLst/>
              <a:rect r="r" b="b" t="t" l="l"/>
              <a:pathLst>
                <a:path h="426453" w="1172128">
                  <a:moveTo>
                    <a:pt x="35150" y="0"/>
                  </a:moveTo>
                  <a:lnTo>
                    <a:pt x="1136979" y="0"/>
                  </a:lnTo>
                  <a:cubicBezTo>
                    <a:pt x="1156391" y="0"/>
                    <a:pt x="1172128" y="15737"/>
                    <a:pt x="1172128" y="35150"/>
                  </a:cubicBezTo>
                  <a:lnTo>
                    <a:pt x="1172128" y="391304"/>
                  </a:lnTo>
                  <a:cubicBezTo>
                    <a:pt x="1172128" y="410716"/>
                    <a:pt x="1156391" y="426453"/>
                    <a:pt x="1136979" y="426453"/>
                  </a:cubicBezTo>
                  <a:lnTo>
                    <a:pt x="35150" y="426453"/>
                  </a:lnTo>
                  <a:cubicBezTo>
                    <a:pt x="15737" y="426453"/>
                    <a:pt x="0" y="410716"/>
                    <a:pt x="0" y="391304"/>
                  </a:cubicBezTo>
                  <a:lnTo>
                    <a:pt x="0" y="35150"/>
                  </a:lnTo>
                  <a:cubicBezTo>
                    <a:pt x="0" y="15737"/>
                    <a:pt x="15737" y="0"/>
                    <a:pt x="3515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172128" cy="47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868752" y="4581761"/>
            <a:ext cx="1510066" cy="34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0"/>
              </a:lnSpc>
              <a:spcBef>
                <a:spcPct val="0"/>
              </a:spcBef>
            </a:pPr>
            <a:r>
              <a:rPr lang="en-US" b="true" sz="2350" spc="23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참여 활성화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531350" y="6032885"/>
            <a:ext cx="4184869" cy="1522573"/>
            <a:chOff x="0" y="0"/>
            <a:chExt cx="1172128" cy="42645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2128" cy="426453"/>
            </a:xfrm>
            <a:custGeom>
              <a:avLst/>
              <a:gdLst/>
              <a:ahLst/>
              <a:cxnLst/>
              <a:rect r="r" b="b" t="t" l="l"/>
              <a:pathLst>
                <a:path h="426453" w="1172128">
                  <a:moveTo>
                    <a:pt x="35150" y="0"/>
                  </a:moveTo>
                  <a:lnTo>
                    <a:pt x="1136979" y="0"/>
                  </a:lnTo>
                  <a:cubicBezTo>
                    <a:pt x="1156391" y="0"/>
                    <a:pt x="1172128" y="15737"/>
                    <a:pt x="1172128" y="35150"/>
                  </a:cubicBezTo>
                  <a:lnTo>
                    <a:pt x="1172128" y="391304"/>
                  </a:lnTo>
                  <a:cubicBezTo>
                    <a:pt x="1172128" y="410716"/>
                    <a:pt x="1156391" y="426453"/>
                    <a:pt x="1136979" y="426453"/>
                  </a:cubicBezTo>
                  <a:lnTo>
                    <a:pt x="35150" y="426453"/>
                  </a:lnTo>
                  <a:cubicBezTo>
                    <a:pt x="15737" y="426453"/>
                    <a:pt x="0" y="410716"/>
                    <a:pt x="0" y="391304"/>
                  </a:cubicBezTo>
                  <a:lnTo>
                    <a:pt x="0" y="35150"/>
                  </a:lnTo>
                  <a:cubicBezTo>
                    <a:pt x="0" y="15737"/>
                    <a:pt x="15737" y="0"/>
                    <a:pt x="3515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172128" cy="47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336703" y="6309560"/>
            <a:ext cx="2574165" cy="34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0"/>
              </a:lnSpc>
              <a:spcBef>
                <a:spcPct val="0"/>
              </a:spcBef>
            </a:pPr>
            <a:r>
              <a:rPr lang="en-US" b="true" sz="2350" spc="23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'제때제때'</a:t>
            </a:r>
            <a:r>
              <a:rPr lang="en-US" b="true" sz="2350" spc="23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유지보수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531350" y="7716677"/>
            <a:ext cx="4184869" cy="1522573"/>
            <a:chOff x="0" y="0"/>
            <a:chExt cx="1172128" cy="4264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2128" cy="426453"/>
            </a:xfrm>
            <a:custGeom>
              <a:avLst/>
              <a:gdLst/>
              <a:ahLst/>
              <a:cxnLst/>
              <a:rect r="r" b="b" t="t" l="l"/>
              <a:pathLst>
                <a:path h="426453" w="1172128">
                  <a:moveTo>
                    <a:pt x="35150" y="0"/>
                  </a:moveTo>
                  <a:lnTo>
                    <a:pt x="1136979" y="0"/>
                  </a:lnTo>
                  <a:cubicBezTo>
                    <a:pt x="1156391" y="0"/>
                    <a:pt x="1172128" y="15737"/>
                    <a:pt x="1172128" y="35150"/>
                  </a:cubicBezTo>
                  <a:lnTo>
                    <a:pt x="1172128" y="391304"/>
                  </a:lnTo>
                  <a:cubicBezTo>
                    <a:pt x="1172128" y="410716"/>
                    <a:pt x="1156391" y="426453"/>
                    <a:pt x="1136979" y="426453"/>
                  </a:cubicBezTo>
                  <a:lnTo>
                    <a:pt x="35150" y="426453"/>
                  </a:lnTo>
                  <a:cubicBezTo>
                    <a:pt x="15737" y="426453"/>
                    <a:pt x="0" y="410716"/>
                    <a:pt x="0" y="391304"/>
                  </a:cubicBezTo>
                  <a:lnTo>
                    <a:pt x="0" y="35150"/>
                  </a:lnTo>
                  <a:cubicBezTo>
                    <a:pt x="0" y="15737"/>
                    <a:pt x="15737" y="0"/>
                    <a:pt x="3515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172128" cy="474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734465" y="7993353"/>
            <a:ext cx="1778641" cy="34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0"/>
              </a:lnSpc>
              <a:spcBef>
                <a:spcPct val="0"/>
              </a:spcBef>
            </a:pPr>
            <a:r>
              <a:rPr lang="en-US" b="true" sz="2350" spc="23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안전사고</a:t>
            </a:r>
            <a:r>
              <a:rPr lang="en-US" b="true" sz="2350" spc="23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감소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841323" y="5055895"/>
            <a:ext cx="3564925" cy="53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QR 접속 &amp; 경품 추첨으로 신고를 쉽고 즐겁게 만들어 자발적 참여 극대화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841323" y="6785885"/>
            <a:ext cx="3564925" cy="53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방치되던</a:t>
            </a: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사각지대 파손 정보를 </a:t>
            </a:r>
          </a:p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실시간 수집하여 골든타임 내 즉각 보수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41323" y="8432526"/>
            <a:ext cx="3564925" cy="53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위험 요소</a:t>
            </a: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사전 제거로 </a:t>
            </a:r>
          </a:p>
          <a:p>
            <a:pPr algn="ctr">
              <a:lnSpc>
                <a:spcPts val="2106"/>
              </a:lnSpc>
              <a:spcBef>
                <a:spcPct val="0"/>
              </a:spcBef>
            </a:pPr>
            <a:r>
              <a:rPr lang="en-US" sz="1755" spc="17">
                <a:solidFill>
                  <a:srgbClr val="47403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산악 사고 예방 및 안전 환경 조성</a:t>
            </a:r>
          </a:p>
        </p:txBody>
      </p:sp>
      <p:sp>
        <p:nvSpPr>
          <p:cNvPr name="AutoShape 59" id="59"/>
          <p:cNvSpPr/>
          <p:nvPr/>
        </p:nvSpPr>
        <p:spPr>
          <a:xfrm flipH="true" flipV="true">
            <a:off x="5568640" y="4460085"/>
            <a:ext cx="0" cy="4779165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flipV="true">
            <a:off x="12065605" y="4460085"/>
            <a:ext cx="0" cy="4779165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1049042" y="2001512"/>
            <a:ext cx="7310188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65"/>
              </a:lnSpc>
              <a:spcBef>
                <a:spcPct val="0"/>
              </a:spcBef>
            </a:pPr>
            <a:r>
              <a:rPr lang="en-US" b="true" sz="3500" spc="3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취약 군집: </a:t>
            </a:r>
            <a:r>
              <a:rPr lang="en-US" sz="3500" spc="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등산로 관리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863294" y="3258037"/>
            <a:ext cx="4563617" cy="684829"/>
            <a:chOff x="0" y="0"/>
            <a:chExt cx="1282807" cy="1925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807" cy="192502"/>
            </a:xfrm>
            <a:custGeom>
              <a:avLst/>
              <a:gdLst/>
              <a:ahLst/>
              <a:cxnLst/>
              <a:rect r="r" b="b" t="t" l="l"/>
              <a:pathLst>
                <a:path h="192502" w="1282807">
                  <a:moveTo>
                    <a:pt x="54286" y="0"/>
                  </a:moveTo>
                  <a:lnTo>
                    <a:pt x="1228521" y="0"/>
                  </a:lnTo>
                  <a:cubicBezTo>
                    <a:pt x="1258503" y="0"/>
                    <a:pt x="1282807" y="24305"/>
                    <a:pt x="1282807" y="54286"/>
                  </a:cubicBezTo>
                  <a:lnTo>
                    <a:pt x="1282807" y="138215"/>
                  </a:lnTo>
                  <a:cubicBezTo>
                    <a:pt x="1282807" y="168197"/>
                    <a:pt x="1258503" y="192502"/>
                    <a:pt x="1228521" y="192502"/>
                  </a:cubicBezTo>
                  <a:lnTo>
                    <a:pt x="54286" y="192502"/>
                  </a:lnTo>
                  <a:cubicBezTo>
                    <a:pt x="24305" y="192502"/>
                    <a:pt x="0" y="168197"/>
                    <a:pt x="0" y="138215"/>
                  </a:cubicBezTo>
                  <a:lnTo>
                    <a:pt x="0" y="54286"/>
                  </a:lnTo>
                  <a:cubicBezTo>
                    <a:pt x="0" y="24305"/>
                    <a:pt x="24305" y="0"/>
                    <a:pt x="54286" y="0"/>
                  </a:cubicBezTo>
                  <a:close/>
                </a:path>
              </a:pathLst>
            </a:custGeom>
            <a:solidFill>
              <a:srgbClr val="AECD9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82807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78890" y="3294710"/>
            <a:ext cx="4563617" cy="684829"/>
            <a:chOff x="0" y="0"/>
            <a:chExt cx="1282807" cy="192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2807" cy="192502"/>
            </a:xfrm>
            <a:custGeom>
              <a:avLst/>
              <a:gdLst/>
              <a:ahLst/>
              <a:cxnLst/>
              <a:rect r="r" b="b" t="t" l="l"/>
              <a:pathLst>
                <a:path h="192502" w="1282807">
                  <a:moveTo>
                    <a:pt x="54286" y="0"/>
                  </a:moveTo>
                  <a:lnTo>
                    <a:pt x="1228521" y="0"/>
                  </a:lnTo>
                  <a:cubicBezTo>
                    <a:pt x="1258503" y="0"/>
                    <a:pt x="1282807" y="24305"/>
                    <a:pt x="1282807" y="54286"/>
                  </a:cubicBezTo>
                  <a:lnTo>
                    <a:pt x="1282807" y="138215"/>
                  </a:lnTo>
                  <a:cubicBezTo>
                    <a:pt x="1282807" y="168197"/>
                    <a:pt x="1258503" y="192502"/>
                    <a:pt x="1228521" y="192502"/>
                  </a:cubicBezTo>
                  <a:lnTo>
                    <a:pt x="54286" y="192502"/>
                  </a:lnTo>
                  <a:cubicBezTo>
                    <a:pt x="24305" y="192502"/>
                    <a:pt x="0" y="168197"/>
                    <a:pt x="0" y="138215"/>
                  </a:cubicBezTo>
                  <a:lnTo>
                    <a:pt x="0" y="54286"/>
                  </a:lnTo>
                  <a:cubicBezTo>
                    <a:pt x="0" y="24305"/>
                    <a:pt x="24305" y="0"/>
                    <a:pt x="54286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82807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79370" y="4351776"/>
            <a:ext cx="3562658" cy="1322713"/>
            <a:chOff x="0" y="0"/>
            <a:chExt cx="6365240" cy="2363231"/>
          </a:xfrm>
        </p:grpSpPr>
        <p:sp>
          <p:nvSpPr>
            <p:cNvPr name="Freeform 11" id="11"/>
            <p:cNvSpPr/>
            <p:nvPr/>
          </p:nvSpPr>
          <p:spPr>
            <a:xfrm flipH="false" flipV="false" rot="-5400000">
              <a:off x="2001005" y="-2001005"/>
              <a:ext cx="2363231" cy="6365240"/>
            </a:xfrm>
            <a:custGeom>
              <a:avLst/>
              <a:gdLst/>
              <a:ahLst/>
              <a:cxnLst/>
              <a:rect r="r" b="b" t="t" l="l"/>
              <a:pathLst>
                <a:path h="6365240" w="2363231">
                  <a:moveTo>
                    <a:pt x="0" y="5951221"/>
                  </a:moveTo>
                  <a:lnTo>
                    <a:pt x="0" y="414021"/>
                  </a:lnTo>
                  <a:cubicBezTo>
                    <a:pt x="0" y="185420"/>
                    <a:pt x="103613" y="0"/>
                    <a:pt x="230645" y="0"/>
                  </a:cubicBezTo>
                  <a:lnTo>
                    <a:pt x="2131875" y="0"/>
                  </a:lnTo>
                  <a:cubicBezTo>
                    <a:pt x="2259618" y="0"/>
                    <a:pt x="2363231" y="185420"/>
                    <a:pt x="2363231" y="414020"/>
                  </a:cubicBezTo>
                  <a:lnTo>
                    <a:pt x="2363231" y="5951221"/>
                  </a:lnTo>
                  <a:cubicBezTo>
                    <a:pt x="2363231" y="6179821"/>
                    <a:pt x="2259618" y="6365241"/>
                    <a:pt x="2131875" y="6365241"/>
                  </a:cubicBezTo>
                  <a:lnTo>
                    <a:pt x="230645" y="6365241"/>
                  </a:lnTo>
                  <a:cubicBezTo>
                    <a:pt x="103613" y="6365241"/>
                    <a:pt x="0" y="6179821"/>
                    <a:pt x="0" y="5951221"/>
                  </a:cubicBezTo>
                  <a:close/>
                </a:path>
              </a:pathLst>
            </a:custGeom>
            <a:blipFill>
              <a:blip r:embed="rId5"/>
              <a:stretch>
                <a:fillRect l="-47469" t="0" r="-4746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79370" y="6952817"/>
            <a:ext cx="3562658" cy="1355508"/>
            <a:chOff x="0" y="0"/>
            <a:chExt cx="6365240" cy="2421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65240" cy="2421824"/>
            </a:xfrm>
            <a:custGeom>
              <a:avLst/>
              <a:gdLst/>
              <a:ahLst/>
              <a:cxnLst/>
              <a:rect r="r" b="b" t="t" l="l"/>
              <a:pathLst>
                <a:path h="2421824" w="6365240">
                  <a:moveTo>
                    <a:pt x="5951220" y="2421824"/>
                  </a:moveTo>
                  <a:lnTo>
                    <a:pt x="414020" y="2421824"/>
                  </a:lnTo>
                  <a:cubicBezTo>
                    <a:pt x="185420" y="2421824"/>
                    <a:pt x="0" y="2315642"/>
                    <a:pt x="0" y="2185460"/>
                  </a:cubicBezTo>
                  <a:lnTo>
                    <a:pt x="0" y="237092"/>
                  </a:lnTo>
                  <a:cubicBezTo>
                    <a:pt x="0" y="106182"/>
                    <a:pt x="185420" y="0"/>
                    <a:pt x="414020" y="0"/>
                  </a:cubicBezTo>
                  <a:lnTo>
                    <a:pt x="5951220" y="0"/>
                  </a:lnTo>
                  <a:cubicBezTo>
                    <a:pt x="6179820" y="0"/>
                    <a:pt x="6365240" y="106182"/>
                    <a:pt x="6365240" y="237092"/>
                  </a:cubicBezTo>
                  <a:lnTo>
                    <a:pt x="6365240" y="2185460"/>
                  </a:lnTo>
                  <a:cubicBezTo>
                    <a:pt x="6365240" y="2315642"/>
                    <a:pt x="6179820" y="2421824"/>
                    <a:pt x="5951220" y="2421824"/>
                  </a:cubicBezTo>
                  <a:close/>
                </a:path>
              </a:pathLst>
            </a:custGeom>
            <a:blipFill>
              <a:blip r:embed="rId6"/>
              <a:stretch>
                <a:fillRect l="0" t="-31148" r="0" b="-31148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513037" y="4351776"/>
            <a:ext cx="2699546" cy="1548911"/>
          </a:xfrm>
          <a:custGeom>
            <a:avLst/>
            <a:gdLst/>
            <a:ahLst/>
            <a:cxnLst/>
            <a:rect r="r" b="b" t="t" l="l"/>
            <a:pathLst>
              <a:path h="1548911" w="2699546">
                <a:moveTo>
                  <a:pt x="0" y="0"/>
                </a:moveTo>
                <a:lnTo>
                  <a:pt x="2699546" y="0"/>
                </a:lnTo>
                <a:lnTo>
                  <a:pt x="2699546" y="1548911"/>
                </a:lnTo>
                <a:lnTo>
                  <a:pt x="0" y="1548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095" r="0" b="-702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19926" y="6061470"/>
            <a:ext cx="3685768" cy="1061569"/>
          </a:xfrm>
          <a:custGeom>
            <a:avLst/>
            <a:gdLst/>
            <a:ahLst/>
            <a:cxnLst/>
            <a:rect r="r" b="b" t="t" l="l"/>
            <a:pathLst>
              <a:path h="1061569" w="3685768">
                <a:moveTo>
                  <a:pt x="0" y="0"/>
                </a:moveTo>
                <a:lnTo>
                  <a:pt x="3685768" y="0"/>
                </a:lnTo>
                <a:lnTo>
                  <a:pt x="3685768" y="1061569"/>
                </a:lnTo>
                <a:lnTo>
                  <a:pt x="0" y="1061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007" t="-18066" r="-468" b="-2501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인사이트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54339" y="3360080"/>
            <a:ext cx="2885798" cy="43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b="true" sz="2529" spc="-5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기대효과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29213" y="4288142"/>
            <a:ext cx="4497699" cy="4981636"/>
            <a:chOff x="0" y="0"/>
            <a:chExt cx="1264278" cy="14003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4278" cy="1400310"/>
            </a:xfrm>
            <a:custGeom>
              <a:avLst/>
              <a:gdLst/>
              <a:ahLst/>
              <a:cxnLst/>
              <a:rect r="r" b="b" t="t" l="l"/>
              <a:pathLst>
                <a:path h="1400310" w="1264278">
                  <a:moveTo>
                    <a:pt x="32705" y="0"/>
                  </a:moveTo>
                  <a:lnTo>
                    <a:pt x="1231573" y="0"/>
                  </a:lnTo>
                  <a:cubicBezTo>
                    <a:pt x="1240247" y="0"/>
                    <a:pt x="1248566" y="3446"/>
                    <a:pt x="1254699" y="9579"/>
                  </a:cubicBezTo>
                  <a:cubicBezTo>
                    <a:pt x="1260832" y="15712"/>
                    <a:pt x="1264278" y="24031"/>
                    <a:pt x="1264278" y="32705"/>
                  </a:cubicBezTo>
                  <a:lnTo>
                    <a:pt x="1264278" y="1367605"/>
                  </a:lnTo>
                  <a:cubicBezTo>
                    <a:pt x="1264278" y="1385668"/>
                    <a:pt x="1249636" y="1400310"/>
                    <a:pt x="1231573" y="1400310"/>
                  </a:cubicBezTo>
                  <a:lnTo>
                    <a:pt x="32705" y="1400310"/>
                  </a:lnTo>
                  <a:cubicBezTo>
                    <a:pt x="14642" y="1400310"/>
                    <a:pt x="0" y="1385668"/>
                    <a:pt x="0" y="1367605"/>
                  </a:cubicBezTo>
                  <a:lnTo>
                    <a:pt x="0" y="32705"/>
                  </a:lnTo>
                  <a:cubicBezTo>
                    <a:pt x="0" y="14642"/>
                    <a:pt x="14642" y="0"/>
                    <a:pt x="32705" y="0"/>
                  </a:cubicBezTo>
                  <a:close/>
                </a:path>
              </a:pathLst>
            </a:custGeom>
            <a:solidFill>
              <a:srgbClr val="E4EB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64278" cy="1447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021463" y="4799792"/>
            <a:ext cx="2618673" cy="109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061" spc="2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체류시간 확대</a:t>
            </a:r>
          </a:p>
          <a:p>
            <a:pPr algn="l">
              <a:lnSpc>
                <a:spcPts val="2830"/>
              </a:lnSpc>
            </a:pP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등</a:t>
            </a: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산 </a:t>
            </a: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+ 체험</a:t>
            </a: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+ 소비로 관광 시간 연장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50416" y="4672184"/>
            <a:ext cx="631312" cy="85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  <a:spcBef>
                <a:spcPct val="0"/>
              </a:spcBef>
            </a:pPr>
            <a:r>
              <a:rPr lang="en-US" sz="4929" spc="4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⏱️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61925" y="6213627"/>
            <a:ext cx="608294" cy="81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9"/>
              </a:lnSpc>
              <a:spcBef>
                <a:spcPct val="0"/>
              </a:spcBef>
            </a:pPr>
            <a:r>
              <a:rPr lang="en-US" sz="4749" spc="47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👨‍🌾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20705" y="7795858"/>
            <a:ext cx="490734" cy="6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4"/>
              </a:lnSpc>
              <a:spcBef>
                <a:spcPct val="0"/>
              </a:spcBef>
            </a:pPr>
            <a:r>
              <a:rPr lang="en-US" sz="3831" spc="3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21463" y="6216020"/>
            <a:ext cx="3262876" cy="109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061" spc="2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지역경제 직접 연계</a:t>
            </a:r>
          </a:p>
          <a:p>
            <a:pPr algn="l">
              <a:lnSpc>
                <a:spcPts val="2830"/>
              </a:lnSpc>
            </a:pP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제철 임</a:t>
            </a: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산물 소비 </a:t>
            </a:r>
          </a:p>
          <a:p>
            <a:pPr algn="l">
              <a:lnSpc>
                <a:spcPts val="2830"/>
              </a:lnSpc>
            </a:pP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   지역 농가·상권 활성화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73969" y="7752640"/>
            <a:ext cx="3698997" cy="73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061" spc="2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3. 계절 기반 재방문 유도</a:t>
            </a:r>
          </a:p>
          <a:p>
            <a:pPr algn="l">
              <a:lnSpc>
                <a:spcPts val="2830"/>
              </a:lnSpc>
            </a:pP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봄·가을</a:t>
            </a:r>
            <a:r>
              <a:rPr lang="en-US" sz="1780" spc="17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다른 테마로 반복 방문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78556" y="3396753"/>
            <a:ext cx="2364285" cy="43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b="true" sz="2529" spc="-5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솔루션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11200" y="5802952"/>
            <a:ext cx="3698997" cy="78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2155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봄 - 산나물 마켓</a:t>
            </a:r>
          </a:p>
          <a:p>
            <a:pPr algn="ctr">
              <a:lnSpc>
                <a:spcPts val="2979"/>
              </a:lnSpc>
            </a:pPr>
            <a:r>
              <a:rPr lang="en-US" sz="1874" spc="18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제철 산나물 판매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11200" y="8436788"/>
            <a:ext cx="3698997" cy="789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2155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가을 - 임산물 마켓</a:t>
            </a:r>
          </a:p>
          <a:p>
            <a:pPr algn="ctr">
              <a:lnSpc>
                <a:spcPts val="2979"/>
              </a:lnSpc>
            </a:pPr>
            <a:r>
              <a:rPr lang="en-US" sz="1874" spc="18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버섯·밤·오미자 등 </a:t>
            </a:r>
            <a:r>
              <a:rPr lang="en-US" sz="1874" spc="18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제철 임산물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44327" y="7355678"/>
            <a:ext cx="4036966" cy="2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  <a:spcBef>
                <a:spcPct val="0"/>
              </a:spcBef>
            </a:pPr>
            <a:r>
              <a:rPr lang="en-US" sz="1967" spc="19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식재료의 산지·제철성에 대한 관심 증가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206129" y="7058221"/>
            <a:ext cx="355997" cy="296130"/>
            <a:chOff x="0" y="0"/>
            <a:chExt cx="812800" cy="6761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676115"/>
            </a:xfrm>
            <a:custGeom>
              <a:avLst/>
              <a:gdLst/>
              <a:ahLst/>
              <a:cxnLst/>
              <a:rect r="r" b="b" t="t" l="l"/>
              <a:pathLst>
                <a:path h="676115" w="812800">
                  <a:moveTo>
                    <a:pt x="812800" y="33805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72915"/>
                  </a:lnTo>
                  <a:lnTo>
                    <a:pt x="406400" y="472915"/>
                  </a:lnTo>
                  <a:lnTo>
                    <a:pt x="406400" y="676115"/>
                  </a:lnTo>
                  <a:lnTo>
                    <a:pt x="812800" y="338058"/>
                  </a:lnTo>
                  <a:close/>
                </a:path>
              </a:pathLst>
            </a:custGeom>
            <a:solidFill>
              <a:srgbClr val="6EA15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3675"/>
              <a:ext cx="711200" cy="27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757381" y="8366246"/>
            <a:ext cx="4210857" cy="7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024" spc="20">
                <a:solidFill>
                  <a:srgbClr val="59895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지역 식재료에 대한 관심을 등산 관광과 결합해, 체류형 소비 구조 설계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515034" y="3284811"/>
            <a:ext cx="4695552" cy="704627"/>
            <a:chOff x="0" y="0"/>
            <a:chExt cx="1282807" cy="1925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2807" cy="192502"/>
            </a:xfrm>
            <a:custGeom>
              <a:avLst/>
              <a:gdLst/>
              <a:ahLst/>
              <a:cxnLst/>
              <a:rect r="r" b="b" t="t" l="l"/>
              <a:pathLst>
                <a:path h="192502" w="1282807">
                  <a:moveTo>
                    <a:pt x="52761" y="0"/>
                  </a:moveTo>
                  <a:lnTo>
                    <a:pt x="1230046" y="0"/>
                  </a:lnTo>
                  <a:cubicBezTo>
                    <a:pt x="1259185" y="0"/>
                    <a:pt x="1282807" y="23622"/>
                    <a:pt x="1282807" y="52761"/>
                  </a:cubicBezTo>
                  <a:lnTo>
                    <a:pt x="1282807" y="139741"/>
                  </a:lnTo>
                  <a:cubicBezTo>
                    <a:pt x="1282807" y="168880"/>
                    <a:pt x="1259185" y="192502"/>
                    <a:pt x="1230046" y="192502"/>
                  </a:cubicBezTo>
                  <a:lnTo>
                    <a:pt x="52761" y="192502"/>
                  </a:lnTo>
                  <a:cubicBezTo>
                    <a:pt x="23622" y="192502"/>
                    <a:pt x="0" y="168880"/>
                    <a:pt x="0" y="139741"/>
                  </a:cubicBezTo>
                  <a:lnTo>
                    <a:pt x="0" y="52761"/>
                  </a:lnTo>
                  <a:cubicBezTo>
                    <a:pt x="0" y="23622"/>
                    <a:pt x="23622" y="0"/>
                    <a:pt x="52761" y="0"/>
                  </a:cubicBez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282807" cy="240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814025" y="3391456"/>
            <a:ext cx="2097570" cy="43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</a:pPr>
            <a:r>
              <a:rPr lang="en-US" b="true" sz="2529" spc="-50">
                <a:solidFill>
                  <a:srgbClr val="000000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목적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6431225" y="4324815"/>
            <a:ext cx="0" cy="4869289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11559859" y="4324815"/>
            <a:ext cx="0" cy="4869289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0" y="1998578"/>
            <a:ext cx="18288000" cy="792734"/>
            <a:chOff x="0" y="0"/>
            <a:chExt cx="4816593" cy="20878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16592" cy="208786"/>
            </a:xfrm>
            <a:custGeom>
              <a:avLst/>
              <a:gdLst/>
              <a:ahLst/>
              <a:cxnLst/>
              <a:rect r="r" b="b" t="t" l="l"/>
              <a:pathLst>
                <a:path h="208786" w="4816592">
                  <a:moveTo>
                    <a:pt x="4233" y="0"/>
                  </a:moveTo>
                  <a:lnTo>
                    <a:pt x="4812359" y="0"/>
                  </a:lnTo>
                  <a:cubicBezTo>
                    <a:pt x="4813482" y="0"/>
                    <a:pt x="4814558" y="446"/>
                    <a:pt x="4815353" y="1240"/>
                  </a:cubicBezTo>
                  <a:cubicBezTo>
                    <a:pt x="4816146" y="2034"/>
                    <a:pt x="4816592" y="3111"/>
                    <a:pt x="4816592" y="4233"/>
                  </a:cubicBezTo>
                  <a:lnTo>
                    <a:pt x="4816592" y="204553"/>
                  </a:lnTo>
                  <a:cubicBezTo>
                    <a:pt x="4816592" y="205675"/>
                    <a:pt x="4816146" y="206752"/>
                    <a:pt x="4815353" y="207546"/>
                  </a:cubicBezTo>
                  <a:cubicBezTo>
                    <a:pt x="4814558" y="208340"/>
                    <a:pt x="4813482" y="208786"/>
                    <a:pt x="4812359" y="208786"/>
                  </a:cubicBezTo>
                  <a:lnTo>
                    <a:pt x="4233" y="208786"/>
                  </a:lnTo>
                  <a:cubicBezTo>
                    <a:pt x="3111" y="208786"/>
                    <a:pt x="2034" y="208340"/>
                    <a:pt x="1240" y="207546"/>
                  </a:cubicBezTo>
                  <a:cubicBezTo>
                    <a:pt x="446" y="206752"/>
                    <a:pt x="0" y="205675"/>
                    <a:pt x="0" y="204553"/>
                  </a:cubicBezTo>
                  <a:lnTo>
                    <a:pt x="0" y="4233"/>
                  </a:lnTo>
                  <a:cubicBezTo>
                    <a:pt x="0" y="3111"/>
                    <a:pt x="446" y="2034"/>
                    <a:pt x="1240" y="1240"/>
                  </a:cubicBezTo>
                  <a:cubicBezTo>
                    <a:pt x="2034" y="446"/>
                    <a:pt x="3111" y="0"/>
                    <a:pt x="4233" y="0"/>
                  </a:cubicBezTo>
                  <a:close/>
                </a:path>
              </a:pathLst>
            </a:custGeom>
            <a:solidFill>
              <a:srgbClr val="A48F7B">
                <a:alpha val="13725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816593" cy="256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49042" y="2001512"/>
            <a:ext cx="7310188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65"/>
              </a:lnSpc>
              <a:spcBef>
                <a:spcPct val="0"/>
              </a:spcBef>
            </a:pPr>
            <a:r>
              <a:rPr lang="en-US" b="true" sz="3500" spc="3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취약 군집: </a:t>
            </a:r>
            <a:r>
              <a:rPr lang="en-US" sz="3500" spc="3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관광 인프라</a:t>
            </a:r>
          </a:p>
        </p:txBody>
      </p:sp>
      <p:grpSp>
        <p:nvGrpSpPr>
          <p:cNvPr name="Group 46" id="46"/>
          <p:cNvGrpSpPr/>
          <p:nvPr/>
        </p:nvGrpSpPr>
        <p:grpSpPr>
          <a:xfrm rot="5400000">
            <a:off x="3630618" y="7789536"/>
            <a:ext cx="410878" cy="504036"/>
            <a:chOff x="0" y="0"/>
            <a:chExt cx="662574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2574" cy="812800"/>
            </a:xfrm>
            <a:custGeom>
              <a:avLst/>
              <a:gdLst/>
              <a:ahLst/>
              <a:cxnLst/>
              <a:rect r="r" b="b" t="t" l="l"/>
              <a:pathLst>
                <a:path h="812800" w="662574">
                  <a:moveTo>
                    <a:pt x="662574" y="406400"/>
                  </a:moveTo>
                  <a:lnTo>
                    <a:pt x="256174" y="0"/>
                  </a:lnTo>
                  <a:lnTo>
                    <a:pt x="25617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56174" y="609600"/>
                  </a:lnTo>
                  <a:lnTo>
                    <a:pt x="256174" y="812800"/>
                  </a:lnTo>
                  <a:lnTo>
                    <a:pt x="662574" y="406400"/>
                  </a:lnTo>
                  <a:close/>
                </a:path>
              </a:pathLst>
            </a:custGeom>
            <a:solidFill>
              <a:srgbClr val="E5E2D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117475"/>
              <a:ext cx="56097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7"/>
                </a:lnSpc>
              </a:pP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69495" y="4299783"/>
            <a:ext cx="814901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59"/>
              </a:lnSpc>
              <a:spcBef>
                <a:spcPct val="0"/>
              </a:spcBef>
            </a:pPr>
            <a:r>
              <a:rPr lang="en-US" b="true" sz="12549" spc="1054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감사합니다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80253" y="6595539"/>
            <a:ext cx="8327494" cy="47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b="true" sz="2702" spc="102">
                <a:solidFill>
                  <a:srgbClr val="847B73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강승희   강태경   이혜림   임혜윤   하지웅</a:t>
            </a:r>
          </a:p>
        </p:txBody>
      </p:sp>
      <p:sp>
        <p:nvSpPr>
          <p:cNvPr name="AutoShape 4" id="4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44259" y="4204533"/>
            <a:ext cx="2999482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59"/>
              </a:lnSpc>
              <a:spcBef>
                <a:spcPct val="0"/>
              </a:spcBef>
            </a:pPr>
            <a:r>
              <a:rPr lang="en-US" b="true" sz="12549" spc="125">
                <a:solidFill>
                  <a:srgbClr val="AE9A86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부록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387495" y="4624491"/>
            <a:ext cx="5152952" cy="710515"/>
            <a:chOff x="0" y="0"/>
            <a:chExt cx="1357156" cy="1871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7156" cy="187132"/>
            </a:xfrm>
            <a:custGeom>
              <a:avLst/>
              <a:gdLst/>
              <a:ahLst/>
              <a:cxnLst/>
              <a:rect r="r" b="b" t="t" l="l"/>
              <a:pathLst>
                <a:path h="187132" w="1357156">
                  <a:moveTo>
                    <a:pt x="48078" y="0"/>
                  </a:moveTo>
                  <a:lnTo>
                    <a:pt x="1309079" y="0"/>
                  </a:lnTo>
                  <a:cubicBezTo>
                    <a:pt x="1335631" y="0"/>
                    <a:pt x="1357156" y="21525"/>
                    <a:pt x="1357156" y="48078"/>
                  </a:cubicBezTo>
                  <a:lnTo>
                    <a:pt x="1357156" y="139054"/>
                  </a:lnTo>
                  <a:cubicBezTo>
                    <a:pt x="1357156" y="165607"/>
                    <a:pt x="1335631" y="187132"/>
                    <a:pt x="1309079" y="187132"/>
                  </a:cubicBezTo>
                  <a:lnTo>
                    <a:pt x="48078" y="187132"/>
                  </a:lnTo>
                  <a:cubicBezTo>
                    <a:pt x="21525" y="187132"/>
                    <a:pt x="0" y="165607"/>
                    <a:pt x="0" y="139054"/>
                  </a:cubicBezTo>
                  <a:lnTo>
                    <a:pt x="0" y="48078"/>
                  </a:lnTo>
                  <a:cubicBezTo>
                    <a:pt x="0" y="21525"/>
                    <a:pt x="21525" y="0"/>
                    <a:pt x="48078" y="0"/>
                  </a:cubicBez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57156" cy="234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27699" y="4624491"/>
            <a:ext cx="5470552" cy="710515"/>
            <a:chOff x="0" y="0"/>
            <a:chExt cx="1440804" cy="1871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0804" cy="187132"/>
            </a:xfrm>
            <a:custGeom>
              <a:avLst/>
              <a:gdLst/>
              <a:ahLst/>
              <a:cxnLst/>
              <a:rect r="r" b="b" t="t" l="l"/>
              <a:pathLst>
                <a:path h="187132" w="1440804">
                  <a:moveTo>
                    <a:pt x="45286" y="0"/>
                  </a:moveTo>
                  <a:lnTo>
                    <a:pt x="1395517" y="0"/>
                  </a:lnTo>
                  <a:cubicBezTo>
                    <a:pt x="1407528" y="0"/>
                    <a:pt x="1419047" y="4771"/>
                    <a:pt x="1427540" y="13264"/>
                  </a:cubicBezTo>
                  <a:cubicBezTo>
                    <a:pt x="1436033" y="21757"/>
                    <a:pt x="1440804" y="33276"/>
                    <a:pt x="1440804" y="45286"/>
                  </a:cubicBezTo>
                  <a:lnTo>
                    <a:pt x="1440804" y="141845"/>
                  </a:lnTo>
                  <a:cubicBezTo>
                    <a:pt x="1440804" y="153856"/>
                    <a:pt x="1436033" y="165375"/>
                    <a:pt x="1427540" y="173868"/>
                  </a:cubicBezTo>
                  <a:cubicBezTo>
                    <a:pt x="1419047" y="182360"/>
                    <a:pt x="1407528" y="187132"/>
                    <a:pt x="1395517" y="187132"/>
                  </a:cubicBezTo>
                  <a:lnTo>
                    <a:pt x="45286" y="187132"/>
                  </a:lnTo>
                  <a:cubicBezTo>
                    <a:pt x="33276" y="187132"/>
                    <a:pt x="21757" y="182360"/>
                    <a:pt x="13264" y="173868"/>
                  </a:cubicBezTo>
                  <a:cubicBezTo>
                    <a:pt x="4771" y="165375"/>
                    <a:pt x="0" y="153856"/>
                    <a:pt x="0" y="141845"/>
                  </a:cubicBezTo>
                  <a:lnTo>
                    <a:pt x="0" y="45286"/>
                  </a:lnTo>
                  <a:cubicBezTo>
                    <a:pt x="0" y="33276"/>
                    <a:pt x="4771" y="21757"/>
                    <a:pt x="13264" y="13264"/>
                  </a:cubicBezTo>
                  <a:cubicBezTo>
                    <a:pt x="21757" y="4771"/>
                    <a:pt x="33276" y="0"/>
                    <a:pt x="45286" y="0"/>
                  </a:cubicBez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40804" cy="234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9148762" y="4290283"/>
            <a:ext cx="0" cy="4372736"/>
          </a:xfrm>
          <a:prstGeom prst="line">
            <a:avLst/>
          </a:prstGeom>
          <a:ln cap="flat" w="95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62561" y="2361948"/>
            <a:ext cx="13737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팀 회고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7305" y="3027749"/>
            <a:ext cx="633190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분석 및 데이터셋의 한계점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57817" y="4774961"/>
            <a:ext cx="441230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등산로 </a:t>
            </a:r>
            <a:r>
              <a:rPr lang="en-US" b="true" sz="2599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이용객 집계 데이터 부재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2423" y="6142211"/>
            <a:ext cx="6563097" cy="191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산악사고 건수에 영향을 미치는 핵심 변수 중</a:t>
            </a:r>
          </a:p>
          <a:p>
            <a:pPr algn="l">
              <a:lnSpc>
                <a:spcPts val="3899"/>
              </a:lnSpc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등산로별 이용객 집계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 부재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절대 사고 건수만으로는</a:t>
            </a:r>
          </a:p>
          <a:p>
            <a:pPr algn="l">
              <a:lnSpc>
                <a:spcPts val="3899"/>
              </a:lnSpc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산악 안전도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정확히 평가하기 어려움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0180" y="6191741"/>
            <a:ext cx="778559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주차장/정류장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데이터의 위치 정보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오류 및 결측 존재</a:t>
            </a:r>
          </a:p>
          <a:p>
            <a:pPr algn="l" marL="561339" indent="-280669" lvl="1">
              <a:lnSpc>
                <a:spcPts val="3899"/>
              </a:lnSpc>
              <a:buFont typeface="Arial"/>
              <a:buChar char="•"/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정합성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검증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및 주기적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업데이트 필요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29655" y="4774961"/>
            <a:ext cx="486663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47403B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공공 데이터의 품질 및 최신성 문제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80721" y="3166660"/>
            <a:ext cx="6573274" cy="3943964"/>
          </a:xfrm>
          <a:custGeom>
            <a:avLst/>
            <a:gdLst/>
            <a:ahLst/>
            <a:cxnLst/>
            <a:rect r="r" b="b" t="t" l="l"/>
            <a:pathLst>
              <a:path h="3943964" w="6573274">
                <a:moveTo>
                  <a:pt x="0" y="0"/>
                </a:moveTo>
                <a:lnTo>
                  <a:pt x="6573274" y="0"/>
                </a:lnTo>
                <a:lnTo>
                  <a:pt x="6573274" y="3943965"/>
                </a:lnTo>
                <a:lnTo>
                  <a:pt x="0" y="3943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4005" y="3166660"/>
            <a:ext cx="6573274" cy="3943964"/>
          </a:xfrm>
          <a:custGeom>
            <a:avLst/>
            <a:gdLst/>
            <a:ahLst/>
            <a:cxnLst/>
            <a:rect r="r" b="b" t="t" l="l"/>
            <a:pathLst>
              <a:path h="3943964" w="6573274">
                <a:moveTo>
                  <a:pt x="0" y="0"/>
                </a:moveTo>
                <a:lnTo>
                  <a:pt x="6573274" y="0"/>
                </a:lnTo>
                <a:lnTo>
                  <a:pt x="6573274" y="3943965"/>
                </a:lnTo>
                <a:lnTo>
                  <a:pt x="0" y="394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7772" y="7434475"/>
            <a:ext cx="5325740" cy="146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589" indent="-218294" lvl="1">
              <a:lnSpc>
                <a:spcPts val="40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2" spc="60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500~750m</a:t>
            </a: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구간에 빈도가 가장 높게 집중 </a:t>
            </a:r>
          </a:p>
          <a:p>
            <a:pPr algn="l" marL="436589" indent="-218294" lvl="1">
              <a:lnSpc>
                <a:spcPts val="40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전반적으로 완만한 </a:t>
            </a:r>
            <a:r>
              <a:rPr lang="en-US" b="true" sz="2022" spc="60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정규분포</a:t>
            </a: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형태.</a:t>
            </a:r>
          </a:p>
          <a:p>
            <a:pPr algn="l" marL="436589" indent="-218294" lvl="1">
              <a:lnSpc>
                <a:spcPts val="40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1,000m 이상의 고지대 코스도 일부 존재.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97699" y="7434475"/>
            <a:ext cx="5939318" cy="146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6589" indent="-218294" lvl="1">
              <a:lnSpc>
                <a:spcPts val="40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2" spc="60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1,</a:t>
            </a:r>
            <a:r>
              <a:rPr lang="en-US" b="true" sz="2022" spc="60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000m</a:t>
            </a: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미만 구간에 데이터가 밀집</a:t>
            </a:r>
          </a:p>
          <a:p>
            <a:pPr algn="l" marL="436589" indent="-218294" lvl="1">
              <a:lnSpc>
                <a:spcPts val="40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등반 난이도가 높지 않은 코스가 주류를 이룸</a:t>
            </a:r>
          </a:p>
          <a:p>
            <a:pPr algn="l" marL="436589" indent="-218294" lvl="1">
              <a:lnSpc>
                <a:spcPts val="404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22" spc="6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일부 전문가를 위한 고난도(고경사) 코스도 포함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2561" y="2361948"/>
            <a:ext cx="277323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 - 산 특성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87421" y="3290148"/>
            <a:ext cx="6917315" cy="4150389"/>
          </a:xfrm>
          <a:custGeom>
            <a:avLst/>
            <a:gdLst/>
            <a:ahLst/>
            <a:cxnLst/>
            <a:rect r="r" b="b" t="t" l="l"/>
            <a:pathLst>
              <a:path h="4150389" w="6917315">
                <a:moveTo>
                  <a:pt x="0" y="0"/>
                </a:moveTo>
                <a:lnTo>
                  <a:pt x="6917315" y="0"/>
                </a:lnTo>
                <a:lnTo>
                  <a:pt x="6917315" y="4150389"/>
                </a:lnTo>
                <a:lnTo>
                  <a:pt x="0" y="4150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3264" y="3290148"/>
            <a:ext cx="6917315" cy="4150389"/>
          </a:xfrm>
          <a:custGeom>
            <a:avLst/>
            <a:gdLst/>
            <a:ahLst/>
            <a:cxnLst/>
            <a:rect r="r" b="b" t="t" l="l"/>
            <a:pathLst>
              <a:path h="4150389" w="6917315">
                <a:moveTo>
                  <a:pt x="0" y="0"/>
                </a:moveTo>
                <a:lnTo>
                  <a:pt x="6917315" y="0"/>
                </a:lnTo>
                <a:lnTo>
                  <a:pt x="6917315" y="4150389"/>
                </a:lnTo>
                <a:lnTo>
                  <a:pt x="0" y="4150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7918" y="8066999"/>
            <a:ext cx="5423222" cy="97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674" indent="-222337" lvl="1">
              <a:lnSpc>
                <a:spcPts val="4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59" spc="61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5~10km </a:t>
            </a:r>
            <a:r>
              <a:rPr lang="en-US" b="true" sz="2059" spc="6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사이의 단거리 구간 빈도가 압도적</a:t>
            </a:r>
          </a:p>
          <a:p>
            <a:pPr algn="l" marL="444674" indent="-222337" lvl="1">
              <a:lnSpc>
                <a:spcPts val="41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59" spc="61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  <a:r>
              <a:rPr lang="en-US" b="true" sz="2059" spc="61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0km 이상</a:t>
            </a:r>
            <a:r>
              <a:rPr lang="en-US" b="true" sz="2059" spc="6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의 장거리 코스는 매우 드뭄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83264" y="8066999"/>
            <a:ext cx="8479901" cy="97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513" indent="-222257" lvl="1">
              <a:lnSpc>
                <a:spcPts val="41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58" spc="61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  <a:r>
              <a:rPr lang="en-US" b="true" sz="2058" spc="61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00~300분(약 3~5시간)</a:t>
            </a:r>
            <a:r>
              <a:rPr lang="en-US" b="true" sz="2058" spc="6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내외가 많은 비중을 차지</a:t>
            </a:r>
          </a:p>
          <a:p>
            <a:pPr algn="l" marL="444513" indent="-222257" lvl="1">
              <a:lnSpc>
                <a:spcPts val="41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58" spc="6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거리 분포와 유사하게 </a:t>
            </a:r>
            <a:r>
              <a:rPr lang="en-US" b="true" sz="2058" spc="61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오른쪽으로 치우친 분포</a:t>
            </a:r>
            <a:r>
              <a:rPr lang="en-US" b="true" sz="2058" spc="6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(Right Skewed)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2561" y="2361948"/>
            <a:ext cx="277323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 - 산 특성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1163" y="3747685"/>
            <a:ext cx="5481271" cy="3288763"/>
          </a:xfrm>
          <a:custGeom>
            <a:avLst/>
            <a:gdLst/>
            <a:ahLst/>
            <a:cxnLst/>
            <a:rect r="r" b="b" t="t" l="l"/>
            <a:pathLst>
              <a:path h="3288763" w="5481271">
                <a:moveTo>
                  <a:pt x="0" y="0"/>
                </a:moveTo>
                <a:lnTo>
                  <a:pt x="5481272" y="0"/>
                </a:lnTo>
                <a:lnTo>
                  <a:pt x="5481272" y="3288763"/>
                </a:lnTo>
                <a:lnTo>
                  <a:pt x="0" y="328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18223" y="3747685"/>
            <a:ext cx="5481271" cy="3288763"/>
          </a:xfrm>
          <a:custGeom>
            <a:avLst/>
            <a:gdLst/>
            <a:ahLst/>
            <a:cxnLst/>
            <a:rect r="r" b="b" t="t" l="l"/>
            <a:pathLst>
              <a:path h="3288763" w="5481271">
                <a:moveTo>
                  <a:pt x="0" y="0"/>
                </a:moveTo>
                <a:lnTo>
                  <a:pt x="5481272" y="0"/>
                </a:lnTo>
                <a:lnTo>
                  <a:pt x="5481272" y="3288763"/>
                </a:lnTo>
                <a:lnTo>
                  <a:pt x="0" y="3288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56039" y="3747685"/>
            <a:ext cx="5481271" cy="3288763"/>
          </a:xfrm>
          <a:custGeom>
            <a:avLst/>
            <a:gdLst/>
            <a:ahLst/>
            <a:cxnLst/>
            <a:rect r="r" b="b" t="t" l="l"/>
            <a:pathLst>
              <a:path h="3288763" w="5481271">
                <a:moveTo>
                  <a:pt x="0" y="0"/>
                </a:moveTo>
                <a:lnTo>
                  <a:pt x="5481271" y="0"/>
                </a:lnTo>
                <a:lnTo>
                  <a:pt x="5481271" y="3288763"/>
                </a:lnTo>
                <a:lnTo>
                  <a:pt x="0" y="3288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2848" y="7817786"/>
            <a:ext cx="5372249" cy="133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240" indent="-194620" lvl="1">
              <a:lnSpc>
                <a:spcPts val="36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00점</a:t>
            </a: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대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에 빈도가 집중</a:t>
            </a:r>
          </a:p>
          <a:p>
            <a:pPr algn="l" marL="389240" indent="-194620" lvl="1">
              <a:lnSpc>
                <a:spcPts val="36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신체적 부담이 적은 </a:t>
            </a:r>
            <a:r>
              <a:rPr lang="en-US" b="true" sz="1802" spc="54">
                <a:solidFill>
                  <a:srgbClr val="4844EC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초·중급자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맞춤형 코스가 주류</a:t>
            </a:r>
          </a:p>
          <a:p>
            <a:pPr algn="l" marL="389240" indent="-194620" lvl="1">
              <a:lnSpc>
                <a:spcPts val="36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고난도(40</a:t>
            </a: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0점 이상) 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구간의 비중이 현저히 낮음</a:t>
            </a: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9047" y="7817786"/>
            <a:ext cx="4369906" cy="87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101" indent="-19455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</a:t>
            </a:r>
            <a:r>
              <a:rPr lang="en-US" b="true" sz="1802" spc="54">
                <a:solidFill>
                  <a:srgbClr val="3835E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~6점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대를 중심으로 완만한 정규분포</a:t>
            </a:r>
          </a:p>
          <a:p>
            <a:pPr algn="l" marL="389101" indent="-19455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전반적으로 상향 평준화된 인프라 수준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56039" y="7817786"/>
            <a:ext cx="5615284" cy="132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2356" indent="-196178" lvl="1">
              <a:lnSpc>
                <a:spcPts val="363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17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낮은 점수대의 빈도가 극히 낮음</a:t>
            </a:r>
          </a:p>
          <a:p>
            <a:pPr algn="l" marL="392356" indent="-196178" lvl="1">
              <a:lnSpc>
                <a:spcPts val="363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17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어떤 곳을 방문하더라도 실패할 확률이 적고</a:t>
            </a:r>
          </a:p>
          <a:p>
            <a:pPr algn="l">
              <a:lnSpc>
                <a:spcPts val="3634"/>
              </a:lnSpc>
              <a:spcBef>
                <a:spcPct val="0"/>
              </a:spcBef>
            </a:pPr>
            <a:r>
              <a:rPr lang="en-US" b="true" sz="1817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  일정 수준 이상의 만족을 주는 </a:t>
            </a:r>
            <a:r>
              <a:rPr lang="en-US" b="true" sz="1817" spc="54">
                <a:solidFill>
                  <a:srgbClr val="4844EC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검증된 명소</a:t>
            </a:r>
            <a:r>
              <a:rPr lang="en-US" b="true" sz="1817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들입니다.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62561" y="2361948"/>
            <a:ext cx="277323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 - 점수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86554" y="3166660"/>
            <a:ext cx="7279709" cy="4367825"/>
          </a:xfrm>
          <a:custGeom>
            <a:avLst/>
            <a:gdLst/>
            <a:ahLst/>
            <a:cxnLst/>
            <a:rect r="r" b="b" t="t" l="l"/>
            <a:pathLst>
              <a:path h="4367825" w="7279709">
                <a:moveTo>
                  <a:pt x="0" y="0"/>
                </a:moveTo>
                <a:lnTo>
                  <a:pt x="7279709" y="0"/>
                </a:lnTo>
                <a:lnTo>
                  <a:pt x="7279709" y="4367825"/>
                </a:lnTo>
                <a:lnTo>
                  <a:pt x="0" y="4367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80981" y="3166660"/>
            <a:ext cx="7279709" cy="4367825"/>
          </a:xfrm>
          <a:custGeom>
            <a:avLst/>
            <a:gdLst/>
            <a:ahLst/>
            <a:cxnLst/>
            <a:rect r="r" b="b" t="t" l="l"/>
            <a:pathLst>
              <a:path h="4367825" w="7279709">
                <a:moveTo>
                  <a:pt x="0" y="0"/>
                </a:moveTo>
                <a:lnTo>
                  <a:pt x="7279709" y="0"/>
                </a:lnTo>
                <a:lnTo>
                  <a:pt x="7279709" y="4367825"/>
                </a:lnTo>
                <a:lnTo>
                  <a:pt x="0" y="4367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867860"/>
            <a:ext cx="6559674" cy="13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239" indent="-194619" lvl="1">
              <a:lnSpc>
                <a:spcPts val="36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대한민국 대표 명산만큼 </a:t>
            </a:r>
            <a:r>
              <a:rPr lang="en-US" b="true" sz="1802" spc="54">
                <a:solidFill>
                  <a:srgbClr val="4844EC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우수한 주차 인프라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구축</a:t>
            </a:r>
          </a:p>
          <a:p>
            <a:pPr algn="l" marL="389239" indent="-194619" lvl="1">
              <a:lnSpc>
                <a:spcPts val="36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자차를 이용한 원거리 산행에도 주차 부담이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적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은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편</a:t>
            </a:r>
          </a:p>
          <a:p>
            <a:pPr algn="l" marL="389239" indent="-194619" lvl="1">
              <a:lnSpc>
                <a:spcPts val="36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일부 오지 산행지를 제외하면 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중앙값이 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매우 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높은 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구간에 형성</a:t>
            </a: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0981" y="7867795"/>
            <a:ext cx="7986937" cy="133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099" indent="-194550" lvl="1">
              <a:lnSpc>
                <a:spcPts val="3604"/>
              </a:lnSpc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대한민국 대표 명산의 명성에 걸맞은 촘촘한 대중교통 노선망 확보</a:t>
            </a:r>
          </a:p>
          <a:p>
            <a:pPr algn="l" marL="389099" indent="-194550" lvl="1">
              <a:lnSpc>
                <a:spcPts val="3604"/>
              </a:lnSpc>
              <a:buFont typeface="Arial"/>
              <a:buChar char="•"/>
            </a:pPr>
            <a:r>
              <a:rPr lang="en-US" b="true" sz="1802" spc="5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자차 없이도 방문이 용이하여 '대중교통 이용 산행'의 진입 장벽이 매우 낮음</a:t>
            </a:r>
          </a:p>
          <a:p>
            <a:pPr algn="l" marL="389099" indent="-194550" lvl="1">
              <a:lnSpc>
                <a:spcPts val="360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2" spc="54">
                <a:solidFill>
                  <a:srgbClr val="4844EC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최상위권 점수에 데이터가 집중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2561" y="2361948"/>
            <a:ext cx="277323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 - 접근성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36733"/>
            <a:ext cx="7645763" cy="7645763"/>
          </a:xfrm>
          <a:custGeom>
            <a:avLst/>
            <a:gdLst/>
            <a:ahLst/>
            <a:cxnLst/>
            <a:rect r="r" b="b" t="t" l="l"/>
            <a:pathLst>
              <a:path h="7645763" w="7645763">
                <a:moveTo>
                  <a:pt x="0" y="0"/>
                </a:moveTo>
                <a:lnTo>
                  <a:pt x="7645763" y="0"/>
                </a:lnTo>
                <a:lnTo>
                  <a:pt x="7645763" y="7645763"/>
                </a:lnTo>
                <a:lnTo>
                  <a:pt x="0" y="7645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744876" y="5605688"/>
            <a:ext cx="7707423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같은 난이도에서도</a:t>
            </a:r>
          </a:p>
          <a:p>
            <a:pPr algn="l">
              <a:lnSpc>
                <a:spcPts val="3119"/>
              </a:lnSpc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접근성·인프라·매력도가 전혀 다름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→ ‘좋은 산’이 아니라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‘다른 성격의 산들’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존재</a:t>
            </a:r>
          </a:p>
          <a:p>
            <a:pPr algn="l">
              <a:lnSpc>
                <a:spcPts val="3119"/>
              </a:lnSpc>
            </a:pPr>
          </a:p>
          <a:p>
            <a:pPr algn="l">
              <a:lnSpc>
                <a:spcPts val="3119"/>
              </a:lnSpc>
            </a:pP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→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군집화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7918" y="593473"/>
            <a:ext cx="6516546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227" y="3625214"/>
            <a:ext cx="10181745" cy="6303819"/>
            <a:chOff x="0" y="0"/>
            <a:chExt cx="5011667" cy="3102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1667" cy="3102662"/>
            </a:xfrm>
            <a:custGeom>
              <a:avLst/>
              <a:gdLst/>
              <a:ahLst/>
              <a:cxnLst/>
              <a:rect r="r" b="b" t="t" l="l"/>
              <a:pathLst>
                <a:path h="3102662" w="5011667">
                  <a:moveTo>
                    <a:pt x="5011667" y="0"/>
                  </a:moveTo>
                  <a:lnTo>
                    <a:pt x="5011667" y="3102662"/>
                  </a:lnTo>
                  <a:lnTo>
                    <a:pt x="0" y="31026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011667" cy="3102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7607" y="7032804"/>
            <a:ext cx="178205" cy="155929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4E1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50800"/>
              <a:ext cx="5588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42482" y="4098554"/>
            <a:ext cx="4154568" cy="2734539"/>
          </a:xfrm>
          <a:custGeom>
            <a:avLst/>
            <a:gdLst/>
            <a:ahLst/>
            <a:cxnLst/>
            <a:rect r="r" b="b" t="t" l="l"/>
            <a:pathLst>
              <a:path h="2734539" w="4154568">
                <a:moveTo>
                  <a:pt x="0" y="0"/>
                </a:moveTo>
                <a:lnTo>
                  <a:pt x="4154568" y="0"/>
                </a:lnTo>
                <a:lnTo>
                  <a:pt x="4154568" y="2734539"/>
                </a:lnTo>
                <a:lnTo>
                  <a:pt x="0" y="2734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84" r="0" b="-17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02740" y="4098554"/>
            <a:ext cx="3699604" cy="2734539"/>
          </a:xfrm>
          <a:custGeom>
            <a:avLst/>
            <a:gdLst/>
            <a:ahLst/>
            <a:cxnLst/>
            <a:rect r="r" b="b" t="t" l="l"/>
            <a:pathLst>
              <a:path h="2734539" w="3699604">
                <a:moveTo>
                  <a:pt x="0" y="0"/>
                </a:moveTo>
                <a:lnTo>
                  <a:pt x="3699604" y="0"/>
                </a:lnTo>
                <a:lnTo>
                  <a:pt x="3699604" y="2734539"/>
                </a:lnTo>
                <a:lnTo>
                  <a:pt x="0" y="2734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84" r="0" b="-178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39842" y="7174842"/>
            <a:ext cx="4154568" cy="2734539"/>
          </a:xfrm>
          <a:custGeom>
            <a:avLst/>
            <a:gdLst/>
            <a:ahLst/>
            <a:cxnLst/>
            <a:rect r="r" b="b" t="t" l="l"/>
            <a:pathLst>
              <a:path h="2734539" w="4154568">
                <a:moveTo>
                  <a:pt x="0" y="0"/>
                </a:moveTo>
                <a:lnTo>
                  <a:pt x="4154568" y="0"/>
                </a:lnTo>
                <a:lnTo>
                  <a:pt x="4154568" y="2734539"/>
                </a:lnTo>
                <a:lnTo>
                  <a:pt x="0" y="2734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84" r="0" b="-178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00100" y="7174842"/>
            <a:ext cx="3699604" cy="2734539"/>
          </a:xfrm>
          <a:custGeom>
            <a:avLst/>
            <a:gdLst/>
            <a:ahLst/>
            <a:cxnLst/>
            <a:rect r="r" b="b" t="t" l="l"/>
            <a:pathLst>
              <a:path h="2734539" w="3699604">
                <a:moveTo>
                  <a:pt x="0" y="0"/>
                </a:moveTo>
                <a:lnTo>
                  <a:pt x="3699604" y="0"/>
                </a:lnTo>
                <a:lnTo>
                  <a:pt x="3699604" y="2734539"/>
                </a:lnTo>
                <a:lnTo>
                  <a:pt x="0" y="27345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84" r="0" b="-178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33281" y="3812825"/>
            <a:ext cx="1457680" cy="470535"/>
            <a:chOff x="0" y="0"/>
            <a:chExt cx="383916" cy="1239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3916" cy="123927"/>
            </a:xfrm>
            <a:custGeom>
              <a:avLst/>
              <a:gdLst/>
              <a:ahLst/>
              <a:cxnLst/>
              <a:rect r="r" b="b" t="t" l="l"/>
              <a:pathLst>
                <a:path h="123927" w="383916">
                  <a:moveTo>
                    <a:pt x="0" y="0"/>
                  </a:moveTo>
                  <a:lnTo>
                    <a:pt x="383916" y="0"/>
                  </a:lnTo>
                  <a:lnTo>
                    <a:pt x="383916" y="123927"/>
                  </a:lnTo>
                  <a:lnTo>
                    <a:pt x="0" y="123927"/>
                  </a:ln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83916" cy="11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  <a:r>
                <a:rPr lang="en-US" b="true" sz="1999" spc="19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버스정류장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8227" y="4614219"/>
            <a:ext cx="194957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37"/>
              </a:lnSpc>
            </a:pPr>
            <a:r>
              <a:rPr lang="en-US" sz="1364" spc="1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Spearman r = 0.239</a:t>
            </a:r>
          </a:p>
          <a:p>
            <a:pPr algn="r">
              <a:lnSpc>
                <a:spcPts val="1637"/>
              </a:lnSpc>
              <a:spcBef>
                <a:spcPct val="0"/>
              </a:spcBef>
            </a:pPr>
            <a:r>
              <a:rPr lang="en-US" sz="1364" spc="1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(p &lt; 0.05)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1833" y="7544720"/>
            <a:ext cx="200597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6"/>
              </a:lnSpc>
            </a:pPr>
            <a:r>
              <a:rPr lang="en-US" sz="1313" spc="1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Spearman r = 0.018</a:t>
            </a:r>
          </a:p>
          <a:p>
            <a:pPr algn="r">
              <a:lnSpc>
                <a:spcPts val="1576"/>
              </a:lnSpc>
              <a:spcBef>
                <a:spcPct val="0"/>
              </a:spcBef>
            </a:pPr>
            <a:r>
              <a:rPr lang="en-US" sz="1313" spc="1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(p &gt; 0.05)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92232" y="7979308"/>
            <a:ext cx="6405266" cy="101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sz="2284" spc="22">
                <a:solidFill>
                  <a:srgbClr val="58504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284" spc="22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주차장</a:t>
            </a:r>
            <a:r>
              <a:rPr lang="en-US" sz="2284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 </a:t>
            </a:r>
            <a:r>
              <a:rPr lang="en-US" b="true" sz="228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코스 개발 이후 조성</a:t>
            </a:r>
            <a:r>
              <a:rPr lang="en-US" sz="2284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되는 편의시설인 반면, </a:t>
            </a:r>
          </a:p>
          <a:p>
            <a:pPr algn="ctr">
              <a:lnSpc>
                <a:spcPts val="2741"/>
              </a:lnSpc>
            </a:pPr>
            <a:r>
              <a:rPr lang="en-US" b="true" sz="2284" spc="22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대중교통</a:t>
            </a:r>
            <a:r>
              <a:rPr lang="en-US" sz="2284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접근성은 </a:t>
            </a:r>
            <a:r>
              <a:rPr lang="en-US" b="true" sz="228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산의 입지 특성 및 개발 수준</a:t>
            </a:r>
            <a:r>
              <a:rPr lang="en-US" sz="2284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</a:t>
            </a:r>
          </a:p>
          <a:p>
            <a:pPr algn="ctr">
              <a:lnSpc>
                <a:spcPts val="2741"/>
              </a:lnSpc>
              <a:spcBef>
                <a:spcPct val="0"/>
              </a:spcBef>
            </a:pPr>
            <a:r>
              <a:rPr lang="en-US" b="true" sz="2284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반영</a:t>
            </a:r>
            <a:r>
              <a:rPr lang="en-US" sz="2284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하는 구조적 변수로 해석됨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20125" y="6883685"/>
            <a:ext cx="1457680" cy="470535"/>
            <a:chOff x="0" y="0"/>
            <a:chExt cx="383916" cy="1239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3916" cy="123927"/>
            </a:xfrm>
            <a:custGeom>
              <a:avLst/>
              <a:gdLst/>
              <a:ahLst/>
              <a:cxnLst/>
              <a:rect r="r" b="b" t="t" l="l"/>
              <a:pathLst>
                <a:path h="123927" w="383916">
                  <a:moveTo>
                    <a:pt x="0" y="0"/>
                  </a:moveTo>
                  <a:lnTo>
                    <a:pt x="383916" y="0"/>
                  </a:lnTo>
                  <a:lnTo>
                    <a:pt x="383916" y="123927"/>
                  </a:lnTo>
                  <a:lnTo>
                    <a:pt x="0" y="123927"/>
                  </a:lnTo>
                  <a:close/>
                </a:path>
              </a:pathLst>
            </a:custGeom>
            <a:solidFill>
              <a:srgbClr val="E2E1E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383916" cy="11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  <a:r>
                <a:rPr lang="en-US" b="true" sz="1999" spc="19">
                  <a:solidFill>
                    <a:srgbClr val="47403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주차장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203129" y="4645134"/>
            <a:ext cx="6368955" cy="66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  <a:spcBef>
                <a:spcPct val="0"/>
              </a:spcBef>
            </a:pP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접근성 점수가 </a:t>
            </a:r>
            <a:r>
              <a:rPr lang="en-US" b="true" sz="2193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높을수록</a:t>
            </a: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평균 코스 수가 </a:t>
            </a:r>
            <a:r>
              <a:rPr lang="en-US" b="true" sz="2193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증가</a:t>
            </a: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하며,</a:t>
            </a:r>
          </a:p>
          <a:p>
            <a:pPr algn="ctr">
              <a:lnSpc>
                <a:spcPts val="2631"/>
              </a:lnSpc>
              <a:spcBef>
                <a:spcPct val="0"/>
              </a:spcBef>
            </a:pP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193" spc="21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대중교통</a:t>
            </a: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접근성과 코스 개발 간의 </a:t>
            </a:r>
            <a:r>
              <a:rPr lang="en-US" b="true" sz="2193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양의 관계</a:t>
            </a: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 확인됨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45088" y="5625030"/>
            <a:ext cx="4957319" cy="66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  <a:spcBef>
                <a:spcPct val="0"/>
              </a:spcBef>
            </a:pP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반면, </a:t>
            </a:r>
            <a:r>
              <a:rPr lang="en-US" b="true" sz="2193" spc="21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주차장</a:t>
            </a: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접근성 점수와 코스 수 간에는</a:t>
            </a:r>
          </a:p>
          <a:p>
            <a:pPr algn="ctr">
              <a:lnSpc>
                <a:spcPts val="2631"/>
              </a:lnSpc>
              <a:spcBef>
                <a:spcPct val="0"/>
              </a:spcBef>
            </a:pPr>
            <a:r>
              <a:rPr lang="en-US" sz="2193" spc="21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유의미한 관계가 </a:t>
            </a:r>
            <a:r>
              <a:rPr lang="en-US" b="true" sz="2193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확인되지 않음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0847" y="2083768"/>
            <a:ext cx="406891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 - 가설 검정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8227" y="2598118"/>
            <a:ext cx="16851115" cy="1027096"/>
            <a:chOff x="0" y="0"/>
            <a:chExt cx="2820885" cy="1719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20885" cy="171936"/>
            </a:xfrm>
            <a:custGeom>
              <a:avLst/>
              <a:gdLst/>
              <a:ahLst/>
              <a:cxnLst/>
              <a:rect r="r" b="b" t="t" l="l"/>
              <a:pathLst>
                <a:path h="171936" w="2820885">
                  <a:moveTo>
                    <a:pt x="0" y="0"/>
                  </a:moveTo>
                  <a:lnTo>
                    <a:pt x="2820885" y="0"/>
                  </a:lnTo>
                  <a:lnTo>
                    <a:pt x="2820885" y="171936"/>
                  </a:lnTo>
                  <a:lnTo>
                    <a:pt x="0" y="171936"/>
                  </a:ln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820885" cy="21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36442" y="2721141"/>
            <a:ext cx="683091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✔️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H0 : 접근성과 개설된 코스 수는 관계가 없다 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H1 : 접근성이 높을수록 개설된 코스 수가 많다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0011" y="4311935"/>
            <a:ext cx="181779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b="true" sz="1700" spc="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귀무가설(H0) 채택</a:t>
            </a:r>
          </a:p>
        </p:txBody>
      </p:sp>
      <p:sp>
        <p:nvSpPr>
          <p:cNvPr name="AutoShape 29" id="29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55146" y="3617644"/>
            <a:ext cx="15099537" cy="5142082"/>
            <a:chOff x="0" y="0"/>
            <a:chExt cx="6332617" cy="215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32617" cy="2156400"/>
            </a:xfrm>
            <a:custGeom>
              <a:avLst/>
              <a:gdLst/>
              <a:ahLst/>
              <a:cxnLst/>
              <a:rect r="r" b="b" t="t" l="l"/>
              <a:pathLst>
                <a:path h="2156400" w="6332617">
                  <a:moveTo>
                    <a:pt x="6332617" y="0"/>
                  </a:moveTo>
                  <a:lnTo>
                    <a:pt x="6332617" y="2156400"/>
                  </a:lnTo>
                  <a:lnTo>
                    <a:pt x="0" y="2156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332617" cy="215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56389" y="3914138"/>
            <a:ext cx="5158126" cy="3758337"/>
          </a:xfrm>
          <a:custGeom>
            <a:avLst/>
            <a:gdLst/>
            <a:ahLst/>
            <a:cxnLst/>
            <a:rect r="r" b="b" t="t" l="l"/>
            <a:pathLst>
              <a:path h="3758337" w="5158126">
                <a:moveTo>
                  <a:pt x="0" y="0"/>
                </a:moveTo>
                <a:lnTo>
                  <a:pt x="5158125" y="0"/>
                </a:lnTo>
                <a:lnTo>
                  <a:pt x="5158125" y="3758337"/>
                </a:lnTo>
                <a:lnTo>
                  <a:pt x="0" y="3758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5146" y="2569543"/>
            <a:ext cx="15099537" cy="1027096"/>
            <a:chOff x="0" y="0"/>
            <a:chExt cx="2527670" cy="171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27670" cy="171936"/>
            </a:xfrm>
            <a:custGeom>
              <a:avLst/>
              <a:gdLst/>
              <a:ahLst/>
              <a:cxnLst/>
              <a:rect r="r" b="b" t="t" l="l"/>
              <a:pathLst>
                <a:path h="171936" w="2527670">
                  <a:moveTo>
                    <a:pt x="0" y="0"/>
                  </a:moveTo>
                  <a:lnTo>
                    <a:pt x="2527670" y="0"/>
                  </a:lnTo>
                  <a:lnTo>
                    <a:pt x="2527670" y="171936"/>
                  </a:lnTo>
                  <a:lnTo>
                    <a:pt x="0" y="171936"/>
                  </a:ln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27670" cy="21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57880" y="3914155"/>
            <a:ext cx="5015903" cy="3654710"/>
          </a:xfrm>
          <a:custGeom>
            <a:avLst/>
            <a:gdLst/>
            <a:ahLst/>
            <a:cxnLst/>
            <a:rect r="r" b="b" t="t" l="l"/>
            <a:pathLst>
              <a:path h="3654710" w="5015903">
                <a:moveTo>
                  <a:pt x="0" y="0"/>
                </a:moveTo>
                <a:lnTo>
                  <a:pt x="5015904" y="0"/>
                </a:lnTo>
                <a:lnTo>
                  <a:pt x="5015904" y="3654710"/>
                </a:lnTo>
                <a:lnTo>
                  <a:pt x="0" y="3654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74584" y="7834400"/>
            <a:ext cx="5725373" cy="54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3"/>
              </a:lnSpc>
              <a:spcBef>
                <a:spcPct val="0"/>
              </a:spcBef>
            </a:pPr>
            <a:r>
              <a:rPr lang="en-US" b="true" sz="181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귀무가설(H0) 채택</a:t>
            </a:r>
          </a:p>
          <a:p>
            <a:pPr algn="just">
              <a:lnSpc>
                <a:spcPts val="2173"/>
              </a:lnSpc>
              <a:spcBef>
                <a:spcPct val="0"/>
              </a:spcBef>
            </a:pPr>
            <a:r>
              <a:rPr lang="en-US" sz="181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전망과 힐링은 직관과 달리 유의미한 상관관계를 보이지 않음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8052" y="7834400"/>
            <a:ext cx="5069146" cy="54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3"/>
              </a:lnSpc>
              <a:spcBef>
                <a:spcPct val="0"/>
              </a:spcBef>
            </a:pPr>
            <a:r>
              <a:rPr lang="en-US" b="true" sz="181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강한 정적</a:t>
            </a:r>
            <a:r>
              <a:rPr lang="en-US" b="true" sz="181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상관관계</a:t>
            </a:r>
          </a:p>
          <a:p>
            <a:pPr algn="just">
              <a:lnSpc>
                <a:spcPts val="2173"/>
              </a:lnSpc>
              <a:spcBef>
                <a:spcPct val="0"/>
              </a:spcBef>
            </a:pPr>
            <a:r>
              <a:rPr lang="en-US" sz="181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전망이 좋을수록 사진 감성 점수가 높아지는 경향 확인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00608" y="7887373"/>
            <a:ext cx="3220756" cy="2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  <a:spcBef>
                <a:spcPct val="0"/>
              </a:spcBef>
            </a:pPr>
            <a:r>
              <a:rPr lang="en-US" sz="1497" spc="1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Spearman r = -0.044 (p &gt; 0.05)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95583" y="7887373"/>
            <a:ext cx="2878201" cy="21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7"/>
              </a:lnSpc>
              <a:spcBef>
                <a:spcPct val="0"/>
              </a:spcBef>
            </a:pPr>
            <a:r>
              <a:rPr lang="en-US" sz="1497" spc="1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Spearman r = 0.774 (p &lt; 0.05)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77923" y="9007376"/>
            <a:ext cx="865398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전망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시각적 만족도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관련이 깊으나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심리적 치유와는 무관함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85406" y="9588401"/>
            <a:ext cx="1191718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'보기 좋은 산'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과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'편안한 산'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 다르며, 등산 목적에 따른 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차별화된 코스 선택</a:t>
            </a:r>
            <a:r>
              <a:rPr lang="en-US" sz="2599" spc="2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필요함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08028" y="2692566"/>
            <a:ext cx="695682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✔️</a:t>
            </a: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H0 : 전망 점수와 힐링 점수는 상관관계가 없다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b="true" sz="2599" spc="2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H1 : 전망 점수가 높을수록 힐링 점수도 높다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AutoShape 22" id="22"/>
          <p:cNvSpPr/>
          <p:nvPr/>
        </p:nvSpPr>
        <p:spPr>
          <a:xfrm>
            <a:off x="9204914" y="3914155"/>
            <a:ext cx="0" cy="4463352"/>
          </a:xfrm>
          <a:prstGeom prst="line">
            <a:avLst/>
          </a:prstGeom>
          <a:ln cap="flat" w="95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50847" y="2083768"/>
            <a:ext cx="406891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 - 가설 검정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93309" y="3220414"/>
            <a:ext cx="5619057" cy="6749618"/>
          </a:xfrm>
          <a:custGeom>
            <a:avLst/>
            <a:gdLst/>
            <a:ahLst/>
            <a:cxnLst/>
            <a:rect r="r" b="b" t="t" l="l"/>
            <a:pathLst>
              <a:path h="6749618" w="5619057">
                <a:moveTo>
                  <a:pt x="0" y="0"/>
                </a:moveTo>
                <a:lnTo>
                  <a:pt x="5619057" y="0"/>
                </a:lnTo>
                <a:lnTo>
                  <a:pt x="5619057" y="6749618"/>
                </a:lnTo>
                <a:lnTo>
                  <a:pt x="0" y="6749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32870" y="2136474"/>
            <a:ext cx="5807125" cy="76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  <a:spcBef>
                <a:spcPct val="0"/>
              </a:spcBef>
            </a:pPr>
            <a:r>
              <a:rPr lang="en-US" b="true" sz="3300" spc="9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분석 - 생성된 군집 수 확인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21928" y="3679708"/>
            <a:ext cx="5923062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 spc="2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 Elbow Method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• </a:t>
            </a:r>
            <a:r>
              <a:rPr lang="en-US" b="true" sz="2499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K=6</a:t>
            </a: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에서 Inertia </a:t>
            </a:r>
            <a:r>
              <a:rPr lang="en-US" b="true" sz="2499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감소세 둔화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K=2~6 : 급격한 감소 (군집화 효과 ↑)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K=6 이후 : 완만한 감소 (추가 분할 효과 ↓)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→ K=6이 최적의 분할 지점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1928" y="6600458"/>
            <a:ext cx="8076456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 spc="2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 Silhouette Score (실루엣 점수)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</a:t>
            </a: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• </a:t>
            </a:r>
            <a:r>
              <a:rPr lang="en-US" b="true" sz="2499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K=6</a:t>
            </a: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에서 </a:t>
            </a:r>
            <a:r>
              <a:rPr lang="en-US" b="true" sz="2499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높은 군집 품질</a:t>
            </a: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확인 (0.27)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군집 간 분리도와 군집 내 응집도가 균형있게 유지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2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K=5, 7과 유사한 수준이나, Elbow 결과와 종합 시 K=6 최적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→ 명확한 군집 구분 가능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94228" y="3512897"/>
            <a:ext cx="15099537" cy="5617613"/>
            <a:chOff x="0" y="0"/>
            <a:chExt cx="3976833" cy="1479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76833" cy="1479536"/>
            </a:xfrm>
            <a:custGeom>
              <a:avLst/>
              <a:gdLst/>
              <a:ahLst/>
              <a:cxnLst/>
              <a:rect r="r" b="b" t="t" l="l"/>
              <a:pathLst>
                <a:path h="1479536" w="3976833">
                  <a:moveTo>
                    <a:pt x="0" y="0"/>
                  </a:moveTo>
                  <a:lnTo>
                    <a:pt x="3976833" y="0"/>
                  </a:lnTo>
                  <a:lnTo>
                    <a:pt x="3976833" y="1479536"/>
                  </a:lnTo>
                  <a:lnTo>
                    <a:pt x="0" y="14795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3976833" cy="1479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58316" y="4163674"/>
            <a:ext cx="4811534" cy="4023646"/>
          </a:xfrm>
          <a:custGeom>
            <a:avLst/>
            <a:gdLst/>
            <a:ahLst/>
            <a:cxnLst/>
            <a:rect r="r" b="b" t="t" l="l"/>
            <a:pathLst>
              <a:path h="4023646" w="4811534">
                <a:moveTo>
                  <a:pt x="0" y="0"/>
                </a:moveTo>
                <a:lnTo>
                  <a:pt x="4811534" y="0"/>
                </a:lnTo>
                <a:lnTo>
                  <a:pt x="4811534" y="4023646"/>
                </a:lnTo>
                <a:lnTo>
                  <a:pt x="0" y="4023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80981" y="4171769"/>
            <a:ext cx="5150266" cy="4023646"/>
          </a:xfrm>
          <a:custGeom>
            <a:avLst/>
            <a:gdLst/>
            <a:ahLst/>
            <a:cxnLst/>
            <a:rect r="r" b="b" t="t" l="l"/>
            <a:pathLst>
              <a:path h="4023646" w="5150266">
                <a:moveTo>
                  <a:pt x="0" y="0"/>
                </a:moveTo>
                <a:lnTo>
                  <a:pt x="5150267" y="0"/>
                </a:lnTo>
                <a:lnTo>
                  <a:pt x="5150267" y="4023645"/>
                </a:lnTo>
                <a:lnTo>
                  <a:pt x="0" y="4023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4228" y="2000027"/>
            <a:ext cx="406891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- 가설 검정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94228" y="2485802"/>
            <a:ext cx="15099537" cy="1027096"/>
            <a:chOff x="0" y="0"/>
            <a:chExt cx="2527670" cy="171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27670" cy="171936"/>
            </a:xfrm>
            <a:custGeom>
              <a:avLst/>
              <a:gdLst/>
              <a:ahLst/>
              <a:cxnLst/>
              <a:rect r="r" b="b" t="t" l="l"/>
              <a:pathLst>
                <a:path h="171936" w="2527670">
                  <a:moveTo>
                    <a:pt x="0" y="0"/>
                  </a:moveTo>
                  <a:lnTo>
                    <a:pt x="2527670" y="0"/>
                  </a:lnTo>
                  <a:lnTo>
                    <a:pt x="2527670" y="171936"/>
                  </a:lnTo>
                  <a:lnTo>
                    <a:pt x="0" y="171936"/>
                  </a:ln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27670" cy="21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91465" y="2563105"/>
            <a:ext cx="14905062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✔️</a:t>
            </a:r>
            <a:r>
              <a:rPr lang="en-US" b="true" sz="2400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H0(귀무가설) : 클러스터 4에서 '관광인프라점수'와 '힐링' 점수 사이에는 유의미한 상관관계가 존재하지 않는다</a:t>
            </a:r>
          </a:p>
          <a:p>
            <a:pPr algn="l">
              <a:lnSpc>
                <a:spcPts val="3359"/>
              </a:lnSpc>
            </a:pPr>
            <a:r>
              <a:rPr lang="en-US" b="true" sz="2400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H1(대립가설) : 클러스터 4에서 '관광인프라점수'와 '힐링' 점수 사이에는 유의미한 상관관계가 존재한다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58316" y="3725524"/>
            <a:ext cx="46574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정규성 검정 수행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80981" y="3714569"/>
            <a:ext cx="46574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스피어만 상관분석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17225" y="8311145"/>
            <a:ext cx="509371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관광인프라, 힐링 점수 정규성 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p-value &lt; 0.05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비정규 분포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확인 →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스피어만 상관분석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적용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35822" y="8319239"/>
            <a:ext cx="384058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p-value &gt; 0.05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→ 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귀무가설 채택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통계적으로 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유의하지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않음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28775" y="9378161"/>
            <a:ext cx="1132768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 spc="26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힐링형 이용자</a:t>
            </a:r>
            <a:r>
              <a:rPr lang="en-US" sz="2699" spc="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‘잘 갖춰진 관광지’보다 </a:t>
            </a:r>
            <a:r>
              <a:rPr lang="en-US" b="true" sz="2699" spc="2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‘자연 그대로의 환경’</a:t>
            </a:r>
            <a:r>
              <a:rPr lang="en-US" sz="2699" spc="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에서 </a:t>
            </a:r>
            <a:r>
              <a:rPr lang="en-US" b="true" sz="2699" spc="2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가치</a:t>
            </a:r>
            <a:r>
              <a:rPr lang="en-US" sz="2699" spc="2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느낌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8481" y="3998672"/>
            <a:ext cx="11816685" cy="5617613"/>
            <a:chOff x="0" y="0"/>
            <a:chExt cx="3112213" cy="1479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2213" cy="1479536"/>
            </a:xfrm>
            <a:custGeom>
              <a:avLst/>
              <a:gdLst/>
              <a:ahLst/>
              <a:cxnLst/>
              <a:rect r="r" b="b" t="t" l="l"/>
              <a:pathLst>
                <a:path h="1479536" w="3112213">
                  <a:moveTo>
                    <a:pt x="0" y="0"/>
                  </a:moveTo>
                  <a:lnTo>
                    <a:pt x="3112213" y="0"/>
                  </a:lnTo>
                  <a:lnTo>
                    <a:pt x="3112213" y="1479536"/>
                  </a:lnTo>
                  <a:lnTo>
                    <a:pt x="0" y="14795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3112213" cy="1479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995108" y="4560647"/>
            <a:ext cx="7275973" cy="4902187"/>
          </a:xfrm>
          <a:custGeom>
            <a:avLst/>
            <a:gdLst/>
            <a:ahLst/>
            <a:cxnLst/>
            <a:rect r="r" b="b" t="t" l="l"/>
            <a:pathLst>
              <a:path h="4902187" w="7275973">
                <a:moveTo>
                  <a:pt x="0" y="0"/>
                </a:moveTo>
                <a:lnTo>
                  <a:pt x="7275973" y="0"/>
                </a:lnTo>
                <a:lnTo>
                  <a:pt x="7275973" y="4902187"/>
                </a:lnTo>
                <a:lnTo>
                  <a:pt x="0" y="4902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94228" y="2714402"/>
            <a:ext cx="15099537" cy="1027096"/>
            <a:chOff x="0" y="0"/>
            <a:chExt cx="2527670" cy="1719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7670" cy="171936"/>
            </a:xfrm>
            <a:custGeom>
              <a:avLst/>
              <a:gdLst/>
              <a:ahLst/>
              <a:cxnLst/>
              <a:rect r="r" b="b" t="t" l="l"/>
              <a:pathLst>
                <a:path h="171936" w="2527670">
                  <a:moveTo>
                    <a:pt x="0" y="0"/>
                  </a:moveTo>
                  <a:lnTo>
                    <a:pt x="2527670" y="0"/>
                  </a:lnTo>
                  <a:lnTo>
                    <a:pt x="2527670" y="171936"/>
                  </a:lnTo>
                  <a:lnTo>
                    <a:pt x="0" y="171936"/>
                  </a:ln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27670" cy="21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4228" y="2238123"/>
            <a:ext cx="406891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- 가설 검정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1465" y="2791705"/>
            <a:ext cx="1431071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</a:t>
            </a:r>
            <a:r>
              <a:rPr lang="en-US" b="true" sz="2400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H0(귀무가설) : 클러스터 5의 '전망' 및 '특출점수'는 클러스터 3(인프라가 좋은 그룹)보다 낮거나 같다</a:t>
            </a:r>
          </a:p>
          <a:p>
            <a:pPr algn="l">
              <a:lnSpc>
                <a:spcPts val="3359"/>
              </a:lnSpc>
            </a:pPr>
            <a:r>
              <a:rPr lang="en-US" b="true" sz="2400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✔️H1(대립가설) : 클러스터 5의 '전망' 및 '특출점수'는 클러스터 3(인프라가 좋은 그룹)과 대등하거나 더 높다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5108" y="4122497"/>
            <a:ext cx="46666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정규성 검정(Shapiro-Wilk, QQ plot)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97226" y="7501452"/>
            <a:ext cx="331291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 spc="1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[클러스터 3]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전망 점수: W = 0.9558, </a:t>
            </a:r>
            <a:r>
              <a:rPr lang="en-US" b="true" sz="1699" spc="1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 &lt; 0.05</a:t>
            </a:r>
            <a:r>
              <a:rPr lang="en-US" sz="1699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특출점수: W = 0.9382, </a:t>
            </a:r>
            <a:r>
              <a:rPr lang="en-US" b="true" sz="1699" spc="1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 &lt; 0.05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96482" y="8486775"/>
            <a:ext cx="331291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9" spc="1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[클러스터 5]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전망 점수: W = 0.9527, </a:t>
            </a:r>
            <a:r>
              <a:rPr lang="en-US" b="true" sz="1699" spc="1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 &lt; 0.05</a:t>
            </a:r>
            <a:r>
              <a:rPr lang="en-US" sz="1699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sz="1699" spc="16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특출점수: W = 0.9716, </a:t>
            </a:r>
            <a:r>
              <a:rPr lang="en-US" b="true" sz="1699" spc="16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 &lt; 0.05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81331" y="1990473"/>
            <a:ext cx="18469331" cy="0"/>
          </a:xfrm>
          <a:prstGeom prst="line">
            <a:avLst/>
          </a:prstGeom>
          <a:ln cap="flat" w="19050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1163" y="1058232"/>
            <a:ext cx="1686010" cy="600833"/>
          </a:xfrm>
          <a:custGeom>
            <a:avLst/>
            <a:gdLst/>
            <a:ahLst/>
            <a:cxnLst/>
            <a:rect r="r" b="b" t="t" l="l"/>
            <a:pathLst>
              <a:path h="600833" w="1686010">
                <a:moveTo>
                  <a:pt x="0" y="0"/>
                </a:moveTo>
                <a:lnTo>
                  <a:pt x="1686010" y="0"/>
                </a:lnTo>
                <a:lnTo>
                  <a:pt x="1686010" y="600833"/>
                </a:lnTo>
                <a:lnTo>
                  <a:pt x="0" y="600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7761"/>
            <a:ext cx="112921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150" b="true">
                <a:solidFill>
                  <a:srgbClr val="585049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06.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6652" y="982811"/>
            <a:ext cx="100653" cy="150842"/>
          </a:xfrm>
          <a:custGeom>
            <a:avLst/>
            <a:gdLst/>
            <a:ahLst/>
            <a:cxnLst/>
            <a:rect r="r" b="b" t="t" l="l"/>
            <a:pathLst>
              <a:path h="150842" w="100653">
                <a:moveTo>
                  <a:pt x="0" y="0"/>
                </a:moveTo>
                <a:lnTo>
                  <a:pt x="100653" y="0"/>
                </a:lnTo>
                <a:lnTo>
                  <a:pt x="100653" y="150842"/>
                </a:lnTo>
                <a:lnTo>
                  <a:pt x="0" y="150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92918" y="3998672"/>
            <a:ext cx="12507811" cy="4995599"/>
            <a:chOff x="0" y="0"/>
            <a:chExt cx="3294238" cy="13157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4238" cy="1315713"/>
            </a:xfrm>
            <a:custGeom>
              <a:avLst/>
              <a:gdLst/>
              <a:ahLst/>
              <a:cxnLst/>
              <a:rect r="r" b="b" t="t" l="l"/>
              <a:pathLst>
                <a:path h="1315713" w="3294238">
                  <a:moveTo>
                    <a:pt x="0" y="0"/>
                  </a:moveTo>
                  <a:lnTo>
                    <a:pt x="3294238" y="0"/>
                  </a:lnTo>
                  <a:lnTo>
                    <a:pt x="3294238" y="1315713"/>
                  </a:lnTo>
                  <a:lnTo>
                    <a:pt x="0" y="1315713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FEFE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294238" cy="1315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57918" y="593473"/>
            <a:ext cx="15046127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5000" spc="50">
                <a:solidFill>
                  <a:srgbClr val="A48F7B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어펜딕스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4228" y="2238123"/>
            <a:ext cx="406891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3199" spc="3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군집 - 가설 검정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56521" y="4141547"/>
            <a:ext cx="304093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 spc="21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Mann-Whitney U 검정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4865" y="6002958"/>
            <a:ext cx="2799672" cy="48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Mann–Whitney U = 11088.50</a:t>
            </a:r>
          </a:p>
          <a:p>
            <a:pPr algn="l">
              <a:lnSpc>
                <a:spcPts val="1915"/>
              </a:lnSpc>
              <a:spcBef>
                <a:spcPct val="0"/>
              </a:spcBef>
            </a:pPr>
            <a:r>
              <a:rPr lang="en-US" b="true" sz="1596" spc="1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p-value = 0.0149 (&lt; 0.05)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54865" y="4732097"/>
            <a:ext cx="5456520" cy="100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1915" spc="1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</a:t>
            </a:r>
            <a:r>
              <a:rPr lang="en-US" b="true" sz="1915" spc="1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가설 1 : 전망 점수]</a:t>
            </a:r>
          </a:p>
          <a:p>
            <a:pPr algn="l">
              <a:lnSpc>
                <a:spcPts val="1915"/>
              </a:lnSpc>
              <a:spcBef>
                <a:spcPct val="0"/>
              </a:spcBef>
            </a:pPr>
          </a:p>
          <a:p>
            <a:pPr algn="l">
              <a:lnSpc>
                <a:spcPts val="1915"/>
              </a:lnSpc>
              <a:spcBef>
                <a:spcPct val="0"/>
              </a:spcBef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H0: 클러스터 5의 전망 점수 &lt;= 클러스터 3의 전망 점수 </a:t>
            </a:r>
          </a:p>
          <a:p>
            <a:pPr algn="l">
              <a:lnSpc>
                <a:spcPts val="1915"/>
              </a:lnSpc>
              <a:spcBef>
                <a:spcPct val="0"/>
              </a:spcBef>
            </a:pPr>
            <a:r>
              <a:rPr lang="en-US" b="true" sz="1596" spc="1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H1: 클러스터 5의 전망 점수 &gt;= 클러스터 3의 전망 점수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06592" y="4722572"/>
            <a:ext cx="4800671" cy="100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  <a:spcBef>
                <a:spcPct val="0"/>
              </a:spcBef>
            </a:pPr>
            <a:r>
              <a:rPr lang="en-US" b="true" sz="1915" spc="1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[가설 2: 특출점수]</a:t>
            </a:r>
          </a:p>
          <a:p>
            <a:pPr algn="l">
              <a:lnSpc>
                <a:spcPts val="1915"/>
              </a:lnSpc>
              <a:spcBef>
                <a:spcPct val="0"/>
              </a:spcBef>
            </a:pPr>
          </a:p>
          <a:p>
            <a:pPr algn="l">
              <a:lnSpc>
                <a:spcPts val="1915"/>
              </a:lnSpc>
              <a:spcBef>
                <a:spcPct val="0"/>
              </a:spcBef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H0: 클러스터 5의 특출 점수 &lt;= 클러스터 3의 특출 점수 </a:t>
            </a:r>
          </a:p>
          <a:p>
            <a:pPr algn="l">
              <a:lnSpc>
                <a:spcPts val="1915"/>
              </a:lnSpc>
              <a:spcBef>
                <a:spcPct val="0"/>
              </a:spcBef>
            </a:pPr>
            <a:r>
              <a:rPr lang="en-US" b="true" sz="1596" spc="1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H1: 클러스터 5의 특출 점수 &gt;= 클러스터 3의 특출 점수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06592" y="6956252"/>
            <a:ext cx="58941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특출 점수 평균 : 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클러스터5 7.86 &gt;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클러스터3 7.75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06592" y="5983908"/>
            <a:ext cx="2788110" cy="48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596" spc="15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Mann-Whitney U = 11698.00</a:t>
            </a:r>
          </a:p>
          <a:p>
            <a:pPr algn="l">
              <a:lnSpc>
                <a:spcPts val="1915"/>
              </a:lnSpc>
              <a:spcBef>
                <a:spcPct val="0"/>
              </a:spcBef>
            </a:pPr>
            <a:r>
              <a:rPr lang="en-US" b="true" sz="1596" spc="15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p-value = 0.0010 (&lt; 0.05)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31819" y="7942729"/>
            <a:ext cx="71688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</a:t>
            </a:r>
            <a:r>
              <a:rPr lang="en-US" b="true" sz="2099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모든 귀무가설 기각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</a:t>
            </a:r>
            <a:r>
              <a:rPr lang="en-US" b="true" sz="2099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클러스터 5</a:t>
            </a:r>
            <a:r>
              <a:rPr lang="en-US" sz="2099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전망, 특출 점수가 </a:t>
            </a:r>
            <a:r>
              <a:rPr lang="en-US" b="true" sz="2099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통계적으로 유의하게 더 높음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54865" y="6975302"/>
            <a:ext cx="557480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전망 점수 평균 : </a:t>
            </a:r>
            <a:r>
              <a:rPr lang="en-US" b="true" sz="2000" spc="2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클러스터5 7.80 &gt;</a:t>
            </a:r>
            <a:r>
              <a:rPr lang="en-US" sz="2000" spc="20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클러스터3 7.73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2109" y="9435311"/>
            <a:ext cx="1603518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 spc="22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숨은명소형</a:t>
            </a:r>
            <a:r>
              <a:rPr lang="en-US" b="true" sz="2299" spc="22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(C5)</a:t>
            </a:r>
            <a:r>
              <a:rPr lang="en-US" sz="2299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 </a:t>
            </a:r>
            <a:r>
              <a:rPr lang="en-US" b="true" sz="2299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접근성이 낮음</a:t>
            </a:r>
            <a:r>
              <a:rPr lang="en-US" sz="2299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에도 </a:t>
            </a:r>
            <a:r>
              <a:rPr lang="en-US" b="true" sz="2299" spc="22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자연 희소성과 비경 가치</a:t>
            </a:r>
            <a:r>
              <a:rPr lang="en-US" sz="2299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로 가족,인프라형(C3)보다 </a:t>
            </a:r>
            <a:r>
              <a:rPr lang="en-US" b="true" sz="2299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높은 평가를 받음</a:t>
            </a:r>
            <a:r>
              <a:rPr lang="en-US" sz="2299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→ </a:t>
            </a:r>
            <a:r>
              <a:rPr lang="en-US" b="true" sz="2299" spc="22">
                <a:solidFill>
                  <a:srgbClr val="296913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불편함의 보상</a:t>
            </a:r>
            <a:r>
              <a:rPr lang="en-US" b="true" sz="2299" spc="22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충족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4228" y="2714402"/>
            <a:ext cx="15099537" cy="1027096"/>
            <a:chOff x="0" y="0"/>
            <a:chExt cx="2527670" cy="1719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27670" cy="171936"/>
            </a:xfrm>
            <a:custGeom>
              <a:avLst/>
              <a:gdLst/>
              <a:ahLst/>
              <a:cxnLst/>
              <a:rect r="r" b="b" t="t" l="l"/>
              <a:pathLst>
                <a:path h="171936" w="2527670">
                  <a:moveTo>
                    <a:pt x="0" y="0"/>
                  </a:moveTo>
                  <a:lnTo>
                    <a:pt x="2527670" y="0"/>
                  </a:lnTo>
                  <a:lnTo>
                    <a:pt x="2527670" y="171936"/>
                  </a:lnTo>
                  <a:lnTo>
                    <a:pt x="0" y="171936"/>
                  </a:lnTo>
                  <a:close/>
                </a:path>
              </a:pathLst>
            </a:custGeom>
            <a:solidFill>
              <a:srgbClr val="F6EFE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527670" cy="219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91465" y="2791705"/>
            <a:ext cx="1431071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" b="tru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  </a:t>
            </a:r>
            <a:r>
              <a:rPr lang="en-US" b="true" sz="2400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H0(귀무가설) : 클러스터 5의 '전망' 및 '특출점수'는 클러스터 3(인프라가 좋은 그룹)보다 낮거나 같다</a:t>
            </a:r>
          </a:p>
          <a:p>
            <a:pPr algn="l">
              <a:lnSpc>
                <a:spcPts val="3359"/>
              </a:lnSpc>
            </a:pPr>
            <a:r>
              <a:rPr lang="en-US" b="true" sz="2400" spc="24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✔️H1(대립가설) : 클러스터 5의 '전망' 및 '특출점수'는 클러스터 3(인프라가 좋은 그룹)과 대등하거나 더 높다</a:t>
            </a:r>
          </a:p>
        </p:txBody>
      </p:sp>
      <p:sp>
        <p:nvSpPr>
          <p:cNvPr name="AutoShape 24" id="24"/>
          <p:cNvSpPr/>
          <p:nvPr/>
        </p:nvSpPr>
        <p:spPr>
          <a:xfrm flipH="true">
            <a:off x="8642061" y="4455872"/>
            <a:ext cx="4763" cy="3205869"/>
          </a:xfrm>
          <a:prstGeom prst="line">
            <a:avLst/>
          </a:prstGeom>
          <a:ln cap="flat" w="95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2636692" y="7661742"/>
            <a:ext cx="12033218" cy="0"/>
          </a:xfrm>
          <a:prstGeom prst="line">
            <a:avLst/>
          </a:prstGeom>
          <a:ln cap="flat" w="9525">
            <a:solidFill>
              <a:srgbClr val="C6C8B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DAG7vm-ocHs</dc:identifier>
  <dcterms:modified xsi:type="dcterms:W3CDTF">2011-08-01T06:04:30Z</dcterms:modified>
  <cp:revision>1</cp:revision>
  <dc:title>관광 - 등산 프레젠테이션 </dc:title>
</cp:coreProperties>
</file>