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각진펜 Bold" charset="1" panose="020B0500000000000000"/>
      <p:regular r:id="rId31"/>
    </p:embeddedFont>
    <p:embeddedFont>
      <p:font typeface="Gotham Bold" charset="1" panose="00000000000000000000"/>
      <p:regular r:id="rId32"/>
    </p:embeddedFont>
    <p:embeddedFont>
      <p:font typeface="Nanum Square" charset="1" panose="020B0600000101010101"/>
      <p:regular r:id="rId33"/>
    </p:embeddedFont>
    <p:embeddedFont>
      <p:font typeface="Nanum Square Bold" charset="1" panose="020B0600000101010101"/>
      <p:regular r:id="rId39"/>
    </p:embeddedFont>
    <p:embeddedFont>
      <p:font typeface="각진펜" charset="1" panose="020B05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데이터셋의 관계랑 사용한 컬럼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지연여부가 리뷰 점수에 영향을 미치는지 검정</a:t>
            </a:r>
          </a:p>
          <a:p>
            <a:r>
              <a:rPr lang="en-US"/>
              <a:t/>
            </a:r>
          </a:p>
          <a:p>
            <a:r>
              <a:rPr lang="en-US"/>
              <a:t>예측 배송일 보다 지연된 배송 주문 건은 리뷰에 부정적인 영향을 가져왔다.</a:t>
            </a:r>
          </a:p>
          <a:p>
            <a:r>
              <a:rPr lang="en-US"/>
              <a:t/>
            </a:r>
          </a:p>
          <a:p>
            <a:r>
              <a:rPr lang="en-US"/>
              <a:t>→ 첫번째 가설의 결과로 나온 목표 지연일과 지연확률을 제공함으로써 소비자들의 부정적인 영향을 줄이는 목표를 세움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그림 아래에는 그래프에 대한 설명 추가.</a:t>
            </a:r>
          </a:p>
          <a:p>
            <a:r>
              <a:rPr lang="en-US"/>
              <a:t>분석 목표는 따로 한 슬라이드로.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데이터셋의 관계랑 사용한 컬럼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로그변환  설명한 뒤 파생 변수 생성 설명 </a:t>
            </a:r>
          </a:p>
          <a:p>
            <a:r>
              <a:rPr lang="en-US"/>
              <a:t/>
            </a:r>
          </a:p>
          <a:p>
            <a:r>
              <a:rPr lang="en-US"/>
              <a:t>로그변환 전 → 후 시각화(중요 요인만)</a:t>
            </a:r>
          </a:p>
          <a:p>
            <a:r>
              <a:rPr lang="en-US"/>
              <a:t>로그 변환 후 IQR 1.5배 기준 이상치 제거(독립변수 + 지연일 포함)</a:t>
            </a:r>
          </a:p>
          <a:p>
            <a:r>
              <a:rPr lang="en-US"/>
              <a:t>→ 극단치 제거로 모델 안정화 및 예측 정확도 향상(R, RMSE 기준)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로그변환  설명한 뒤 파생 변수 생성 설명 </a:t>
            </a:r>
          </a:p>
          <a:p>
            <a:r>
              <a:rPr lang="en-US"/>
              <a:t/>
            </a:r>
          </a:p>
          <a:p>
            <a:r>
              <a:rPr lang="en-US"/>
              <a:t>로그변환 전 → 후 시각화(중요 요인만)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위도·경도를 라디안으로 변환 →  Haversine 함수를 적용하여 두 지점 간  직선거리(km)를 계산하였으며,</a:t>
            </a:r>
          </a:p>
          <a:p>
            <a:r>
              <a:rPr lang="en-US"/>
              <a:t> 실제 도로 주행 특성을 반영하기 위해  OSRM API(2,000개 샘플)로 비교한 결과,</a:t>
            </a:r>
          </a:p>
          <a:p>
            <a:r>
              <a:rPr lang="en-US"/>
              <a:t> 평균적으로 직선거리 × 1.6 , 실제 도로 거리로 보정 계수를 적용하였습니다.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상품의 무게나 길이, 높이 등 배송 지연과 관련되어 있다는 가정으로 </a:t>
            </a:r>
          </a:p>
          <a:p>
            <a:r>
              <a:rPr lang="en-US"/>
              <a:t>네 개의 상관관계를 파악했는데 중간정도 (결과 첨부하면서)</a:t>
            </a:r>
          </a:p>
          <a:p>
            <a:r>
              <a:rPr lang="en-US"/>
              <a:t>vif 보여주며 다중공선성 없음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주와 지연여부를 카이제곱 독립성 검정을 통해 영향이 있음을 확인하고 변수를 선정 했고 도시는 범주가 많아 제거 결정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연속형 변수는 값 크기를 맞추기 위해 스케일링을 해주었으면 범주형 변수는 원핫인코딩을 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왼쪽은 주와 도시가 늦고 빠른지</a:t>
            </a:r>
          </a:p>
          <a:p>
            <a:r>
              <a:rPr lang="en-US"/>
              <a:t>오른쪽 영향 파악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왼쪽 주요 변수 </a:t>
            </a:r>
          </a:p>
          <a:p>
            <a:r>
              <a:rPr lang="en-US"/>
              <a:t>오른쪽 유의하지 않은 변수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로그변환 먼저 설명한 뒤 파생 변수 생성 설명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같은 “여유일 1일”이라도 요일·시간·지역·운임에 따라 리스크가 다름</a:t>
            </a:r>
          </a:p>
          <a:p>
            <a:r>
              <a:rPr lang="en-US"/>
              <a:t>여유일만으로는 정책을 일괄 적용하기 어려움 → 유사 리스크 집단을 나눠 맞춤 운영</a:t>
            </a:r>
          </a:p>
          <a:p>
            <a:r>
              <a:rPr lang="en-US"/>
              <a:t>이제, 여유일을 축으로 실제 리스크가 비슷한 주문들을 묶어보자.”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3차원 그래프 제시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3차원 그래프 제시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embeddings/oleObject3.bin" Type="http://schemas.openxmlformats.org/officeDocument/2006/relationships/oleObject"/><Relationship Id="rId12" Target="../media/image8.png" Type="http://schemas.openxmlformats.org/officeDocument/2006/relationships/image"/><Relationship Id="rId13" Target="../embeddings/oleObject4.bin" Type="http://schemas.openxmlformats.org/officeDocument/2006/relationships/oleObject"/><Relationship Id="rId14" Target="../media/image9.png" Type="http://schemas.openxmlformats.org/officeDocument/2006/relationships/image"/><Relationship Id="rId15" Target="../embeddings/oleObject5.bin" Type="http://schemas.openxmlformats.org/officeDocument/2006/relationships/oleObject"/><Relationship Id="rId16" Target="../media/image10.png" Type="http://schemas.openxmlformats.org/officeDocument/2006/relationships/image"/><Relationship Id="rId17" Target="../embeddings/oleObject6.bin" Type="http://schemas.openxmlformats.org/officeDocument/2006/relationships/oleObject"/><Relationship Id="rId18" Target="../media/image11.png" Type="http://schemas.openxmlformats.org/officeDocument/2006/relationships/image"/><Relationship Id="rId19" Target="../embeddings/oleObject7.bin" Type="http://schemas.openxmlformats.org/officeDocument/2006/relationships/oleObject"/><Relationship Id="rId2" Target="../notesSlides/notesSlide1.xml" Type="http://schemas.openxmlformats.org/officeDocument/2006/relationships/notesSlide"/><Relationship Id="rId20" Target="../media/image12.png" Type="http://schemas.openxmlformats.org/officeDocument/2006/relationships/image"/><Relationship Id="rId21" Target="../embeddings/oleObject8.bin" Type="http://schemas.openxmlformats.org/officeDocument/2006/relationships/oleObject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6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embeddings/oleObject9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763307"/>
            <a:ext cx="16672477" cy="8847904"/>
            <a:chOff x="0" y="0"/>
            <a:chExt cx="4391105" cy="2330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2330312"/>
            </a:xfrm>
            <a:custGeom>
              <a:avLst/>
              <a:gdLst/>
              <a:ahLst/>
              <a:cxnLst/>
              <a:rect r="r" b="b" t="t" l="l"/>
              <a:pathLst>
                <a:path h="233031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30312"/>
                  </a:lnTo>
                  <a:lnTo>
                    <a:pt x="0" y="2330312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2368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85329" y="2367660"/>
            <a:ext cx="14111551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12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“ 배송 지연 분석을 통한</a:t>
            </a:r>
          </a:p>
          <a:p>
            <a:pPr algn="ctr">
              <a:lnSpc>
                <a:spcPts val="8400"/>
              </a:lnSpc>
            </a:pPr>
            <a:r>
              <a:rPr lang="en-US" b="true" sz="6000" spc="-12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소비자 만족도 제고 프로젝트 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68246" y="5133975"/>
            <a:ext cx="77197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spc="-52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Olist 데이터를 활용한 배송 지연 요인 분석 및 개선 전략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4757" y="8632148"/>
            <a:ext cx="851730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spc="-5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8조 에잇이잇 &gt; &lt;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638" y="7079594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59491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74280" y="4164608"/>
            <a:ext cx="4379558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배송 지연 요인 분석</a:t>
            </a:r>
          </a:p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(회귀)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4275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4270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92247" y="3580209"/>
            <a:ext cx="13814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true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58879" y="4129048"/>
            <a:ext cx="3292270" cy="14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개요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609772" y="4129048"/>
            <a:ext cx="3439013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배송 지연 유형 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(군집)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519641" y="6331247"/>
            <a:ext cx="7248719" cy="1496694"/>
            <a:chOff x="0" y="0"/>
            <a:chExt cx="9664958" cy="19955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029132" y="-19050"/>
              <a:ext cx="1841970" cy="62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000" b="true">
                  <a:solidFill>
                    <a:srgbClr val="004AA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04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549126" y="-19050"/>
              <a:ext cx="1841970" cy="62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000" b="true">
                  <a:solidFill>
                    <a:srgbClr val="004AA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05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65345"/>
              <a:ext cx="4389694" cy="61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 spc="-56">
                  <a:solidFill>
                    <a:srgbClr val="2D2D2D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비즈니스 인사이트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275264" y="721995"/>
              <a:ext cx="4389694" cy="1273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 spc="-56">
                  <a:solidFill>
                    <a:srgbClr val="2D2D2D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한계점과 추가 분석 목표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7762" y="594917"/>
            <a:ext cx="16672477" cy="1265838"/>
            <a:chOff x="0" y="0"/>
            <a:chExt cx="4391105" cy="3333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85350" y="856058"/>
            <a:ext cx="8517301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spc="-8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2687521" y="3049096"/>
            <a:ext cx="13456801" cy="370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2015년도 설립된 </a:t>
            </a: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브라질 쿠리치바 소재 전자상거래 플랫폼 기업</a:t>
            </a: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중소 </a:t>
            </a: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판매자에게 상품 등록, 주문·물류 관리, 결제 통합 서비스 제공하여 온라인 비즈니스 성장을 지원하는 유니콘 스타트업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 marL="0" indent="0" lvl="0">
              <a:lnSpc>
                <a:spcPts val="42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687521" y="5776067"/>
            <a:ext cx="13309109" cy="317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2016년부터 2018년까지 브라질 여러 온라인 마켓플레이스에서 발생한 약 10만 건의 실제 주문 데이터</a:t>
            </a: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고객, 판매자, 상품, 주문, 결제, 배송, 각 주문에 대한 위치 정보, 리뷰 등으로 구성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</a:t>
            </a:r>
          </a:p>
          <a:p>
            <a:pPr algn="just" marL="0" indent="0" lvl="0">
              <a:lnSpc>
                <a:spcPts val="42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051854" y="5568105"/>
            <a:ext cx="36669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OLIST store dataset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06158" y="2865765"/>
            <a:ext cx="850375" cy="595262"/>
          </a:xfrm>
          <a:custGeom>
            <a:avLst/>
            <a:gdLst/>
            <a:ahLst/>
            <a:cxnLst/>
            <a:rect r="r" b="b" t="t" l="l"/>
            <a:pathLst>
              <a:path h="595262" w="850375">
                <a:moveTo>
                  <a:pt x="0" y="0"/>
                </a:moveTo>
                <a:lnTo>
                  <a:pt x="850374" y="0"/>
                </a:lnTo>
                <a:lnTo>
                  <a:pt x="850374" y="595263"/>
                </a:lnTo>
                <a:lnTo>
                  <a:pt x="0" y="595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12789" y="2854603"/>
            <a:ext cx="36669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     OLIST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7762" y="594917"/>
            <a:ext cx="16672477" cy="1265838"/>
            <a:chOff x="0" y="0"/>
            <a:chExt cx="4391105" cy="333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06158" y="5548050"/>
            <a:ext cx="881363" cy="616954"/>
          </a:xfrm>
          <a:custGeom>
            <a:avLst/>
            <a:gdLst/>
            <a:ahLst/>
            <a:cxnLst/>
            <a:rect r="r" b="b" t="t" l="l"/>
            <a:pathLst>
              <a:path h="616954" w="881363">
                <a:moveTo>
                  <a:pt x="0" y="0"/>
                </a:moveTo>
                <a:lnTo>
                  <a:pt x="881363" y="0"/>
                </a:lnTo>
                <a:lnTo>
                  <a:pt x="881363" y="616954"/>
                </a:lnTo>
                <a:lnTo>
                  <a:pt x="0" y="616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39238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07762" y="859536"/>
            <a:ext cx="395882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1. 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9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39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08288" y="2395801"/>
            <a:ext cx="2563743" cy="515581"/>
            <a:chOff x="0" y="0"/>
            <a:chExt cx="3418324" cy="68744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166"/>
              <a:ext cx="3418324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주요 컬럼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1092" cy="557848"/>
            </a:xfrm>
            <a:custGeom>
              <a:avLst/>
              <a:gdLst/>
              <a:ahLst/>
              <a:cxnLst/>
              <a:rect r="r" b="b" t="t" l="l"/>
              <a:pathLst>
                <a:path h="557848" w="581092">
                  <a:moveTo>
                    <a:pt x="0" y="0"/>
                  </a:moveTo>
                  <a:lnTo>
                    <a:pt x="581092" y="0"/>
                  </a:lnTo>
                  <a:lnTo>
                    <a:pt x="581092" y="557848"/>
                  </a:lnTo>
                  <a:lnTo>
                    <a:pt x="0" y="55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5387" y="594917"/>
            <a:ext cx="16701052" cy="1265838"/>
            <a:chOff x="0" y="0"/>
            <a:chExt cx="4398631" cy="333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8631" cy="333389"/>
            </a:xfrm>
            <a:custGeom>
              <a:avLst/>
              <a:gdLst/>
              <a:ahLst/>
              <a:cxnLst/>
              <a:rect r="r" b="b" t="t" l="l"/>
              <a:pathLst>
                <a:path h="333389" w="4398631">
                  <a:moveTo>
                    <a:pt x="0" y="0"/>
                  </a:moveTo>
                  <a:lnTo>
                    <a:pt x="4398631" y="0"/>
                  </a:lnTo>
                  <a:lnTo>
                    <a:pt x="4398631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8631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7475574" y="6607668"/>
          <a:ext cx="4243388" cy="3771900"/>
        </p:xfrm>
        <a:graphic>
          <a:graphicData uri="http://schemas.openxmlformats.org/presentationml/2006/ole">
            <p:oleObj imgW="5092700" imgH="46101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12403387" y="3349231"/>
          <a:ext cx="4243388" cy="6915150"/>
        </p:xfrm>
        <a:graphic>
          <a:graphicData uri="http://schemas.openxmlformats.org/presentationml/2006/ole">
            <p:oleObj imgW="5626100" imgH="82931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4" id="14"/>
          <p:cNvGraphicFramePr/>
          <p:nvPr/>
        </p:nvGraphicFramePr>
        <p:xfrm>
          <a:off x="2608288" y="3349231"/>
          <a:ext cx="4243388" cy="6286500"/>
        </p:xfrm>
        <a:graphic>
          <a:graphicData uri="http://schemas.openxmlformats.org/presentationml/2006/ole">
            <p:oleObj imgW="5499100" imgH="75438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5" id="15"/>
          <p:cNvGraphicFramePr/>
          <p:nvPr/>
        </p:nvGraphicFramePr>
        <p:xfrm>
          <a:off x="2643584" y="6607668"/>
          <a:ext cx="4243388" cy="4400550"/>
        </p:xfrm>
        <a:graphic>
          <a:graphicData uri="http://schemas.openxmlformats.org/presentationml/2006/ole">
            <p:oleObj imgW="5118100" imgH="52705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6" id="16"/>
          <p:cNvGraphicFramePr/>
          <p:nvPr/>
        </p:nvGraphicFramePr>
        <p:xfrm>
          <a:off x="12403387" y="5837908"/>
          <a:ext cx="4243388" cy="5657850"/>
        </p:xfrm>
        <a:graphic>
          <a:graphicData uri="http://schemas.openxmlformats.org/presentationml/2006/ole">
            <p:oleObj imgW="5372100" imgH="6781800" r:id="rId1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7" id="17"/>
          <p:cNvGraphicFramePr/>
          <p:nvPr/>
        </p:nvGraphicFramePr>
        <p:xfrm>
          <a:off x="7475574" y="5015631"/>
          <a:ext cx="4243388" cy="4400550"/>
        </p:xfrm>
        <a:graphic>
          <a:graphicData uri="http://schemas.openxmlformats.org/presentationml/2006/ole">
            <p:oleObj imgW="5118100" imgH="5270500" r:id="rId1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8" id="18"/>
          <p:cNvGraphicFramePr/>
          <p:nvPr/>
        </p:nvGraphicFramePr>
        <p:xfrm>
          <a:off x="7475574" y="3349231"/>
          <a:ext cx="4243388" cy="4400550"/>
        </p:xfrm>
        <a:graphic>
          <a:graphicData uri="http://schemas.openxmlformats.org/presentationml/2006/ole">
            <p:oleObj imgW="5118100" imgH="5270500" r:id="rId1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9" id="19"/>
          <p:cNvGraphicFramePr/>
          <p:nvPr/>
        </p:nvGraphicFramePr>
        <p:xfrm>
          <a:off x="12403387" y="7721281"/>
          <a:ext cx="4243388" cy="5657850"/>
        </p:xfrm>
        <a:graphic>
          <a:graphicData uri="http://schemas.openxmlformats.org/presentationml/2006/ole">
            <p:oleObj imgW="5372100" imgH="6781800" r:id="rId2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883962" y="859536"/>
            <a:ext cx="832022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1. 프로젝트 개요 - Olist Store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59491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594917"/>
            <a:ext cx="16672477" cy="1265838"/>
            <a:chOff x="0" y="0"/>
            <a:chExt cx="4391105" cy="333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303858" y="3079545"/>
            <a:ext cx="6409288" cy="5213186"/>
          </a:xfrm>
          <a:custGeom>
            <a:avLst/>
            <a:gdLst/>
            <a:ahLst/>
            <a:cxnLst/>
            <a:rect r="r" b="b" t="t" l="l"/>
            <a:pathLst>
              <a:path h="5213186" w="6409288">
                <a:moveTo>
                  <a:pt x="0" y="0"/>
                </a:moveTo>
                <a:lnTo>
                  <a:pt x="6409287" y="0"/>
                </a:lnTo>
                <a:lnTo>
                  <a:pt x="6409287" y="5213187"/>
                </a:lnTo>
                <a:lnTo>
                  <a:pt x="0" y="5213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370" t="0" r="-281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85378" y="3079545"/>
            <a:ext cx="6025776" cy="5089015"/>
          </a:xfrm>
          <a:custGeom>
            <a:avLst/>
            <a:gdLst/>
            <a:ahLst/>
            <a:cxnLst/>
            <a:rect r="r" b="b" t="t" l="l"/>
            <a:pathLst>
              <a:path h="5089015" w="6025776">
                <a:moveTo>
                  <a:pt x="0" y="0"/>
                </a:moveTo>
                <a:lnTo>
                  <a:pt x="6025776" y="0"/>
                </a:lnTo>
                <a:lnTo>
                  <a:pt x="6025776" y="5089015"/>
                </a:lnTo>
                <a:lnTo>
                  <a:pt x="0" y="5089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473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7762" y="859536"/>
            <a:ext cx="1259694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1. 프로젝트 개요 - 배송 지연과 고객 만족도의 상관관계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59491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2307968" y="2533814"/>
            <a:ext cx="13672065" cy="3031807"/>
            <a:chOff x="0" y="0"/>
            <a:chExt cx="3600873" cy="7985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00873" cy="798501"/>
            </a:xfrm>
            <a:custGeom>
              <a:avLst/>
              <a:gdLst/>
              <a:ahLst/>
              <a:cxnLst/>
              <a:rect r="r" b="b" t="t" l="l"/>
              <a:pathLst>
                <a:path h="798501" w="3600873">
                  <a:moveTo>
                    <a:pt x="15289" y="0"/>
                  </a:moveTo>
                  <a:lnTo>
                    <a:pt x="3585584" y="0"/>
                  </a:lnTo>
                  <a:cubicBezTo>
                    <a:pt x="3594028" y="0"/>
                    <a:pt x="3600873" y="6845"/>
                    <a:pt x="3600873" y="15289"/>
                  </a:cubicBezTo>
                  <a:lnTo>
                    <a:pt x="3600873" y="783212"/>
                  </a:lnTo>
                  <a:cubicBezTo>
                    <a:pt x="3600873" y="791656"/>
                    <a:pt x="3594028" y="798501"/>
                    <a:pt x="3585584" y="798501"/>
                  </a:cubicBezTo>
                  <a:lnTo>
                    <a:pt x="15289" y="798501"/>
                  </a:lnTo>
                  <a:cubicBezTo>
                    <a:pt x="6845" y="798501"/>
                    <a:pt x="0" y="791656"/>
                    <a:pt x="0" y="783212"/>
                  </a:cubicBezTo>
                  <a:lnTo>
                    <a:pt x="0" y="15289"/>
                  </a:lnTo>
                  <a:cubicBezTo>
                    <a:pt x="0" y="6845"/>
                    <a:pt x="6845" y="0"/>
                    <a:pt x="15289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3600873" cy="741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4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목적: 지연 여부가 리뷰 점수(1~5)에 영향을 미치는지 검정 (검정 방법: 카이제곱 검정)</a:t>
              </a:r>
            </a:p>
            <a:p>
              <a:pPr algn="ctr">
                <a:lnSpc>
                  <a:spcPts val="2224"/>
                </a:lnSpc>
              </a:pPr>
            </a:p>
            <a:p>
              <a:pPr algn="ctr">
                <a:lnSpc>
                  <a:spcPts val="2224"/>
                </a:lnSpc>
              </a:pPr>
            </a:p>
            <a:p>
              <a:pPr algn="ctr">
                <a:lnSpc>
                  <a:spcPts val="2224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H0: 배송 지연 여부와 리뷰 점수는 독립이다</a:t>
              </a:r>
            </a:p>
            <a:p>
              <a:pPr algn="ctr">
                <a:lnSpc>
                  <a:spcPts val="2224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.</a:t>
              </a:r>
            </a:p>
            <a:p>
              <a:pPr algn="ctr">
                <a:lnSpc>
                  <a:spcPts val="2224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→ μ(지연) ≠ μ(정상) 같은 평균이 아니라 분포 자체가 독립</a:t>
              </a:r>
            </a:p>
            <a:p>
              <a:pPr algn="ctr">
                <a:lnSpc>
                  <a:spcPts val="2224"/>
                </a:lnSpc>
              </a:pPr>
            </a:p>
            <a:p>
              <a:pPr algn="ctr">
                <a:lnSpc>
                  <a:spcPts val="2224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          </a:t>
              </a: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     H1: 배송 지연 여부와 리뷰 점수는 독립이 아니다. </a:t>
              </a:r>
            </a:p>
            <a:p>
              <a:pPr algn="ctr">
                <a:lnSpc>
                  <a:spcPts val="2224"/>
                </a:lnSpc>
              </a:pPr>
            </a:p>
            <a:p>
              <a:pPr algn="ctr">
                <a:lnSpc>
                  <a:spcPts val="2224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→ 지연 여부에 따라 리뷰 점수 분포가 달라진다.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2824" y="5900254"/>
            <a:ext cx="7822353" cy="2728304"/>
            <a:chOff x="0" y="0"/>
            <a:chExt cx="10429804" cy="363773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429804" cy="1097686"/>
              <a:chOff x="0" y="0"/>
              <a:chExt cx="2060208" cy="21682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60208" cy="216827"/>
              </a:xfrm>
              <a:custGeom>
                <a:avLst/>
                <a:gdLst/>
                <a:ahLst/>
                <a:cxnLst/>
                <a:rect r="r" b="b" t="t" l="l"/>
                <a:pathLst>
                  <a:path h="216827" w="2060208">
                    <a:moveTo>
                      <a:pt x="26722" y="0"/>
                    </a:moveTo>
                    <a:lnTo>
                      <a:pt x="2033486" y="0"/>
                    </a:lnTo>
                    <a:cubicBezTo>
                      <a:pt x="2048244" y="0"/>
                      <a:pt x="2060208" y="11964"/>
                      <a:pt x="2060208" y="26722"/>
                    </a:cubicBezTo>
                    <a:lnTo>
                      <a:pt x="2060208" y="190105"/>
                    </a:lnTo>
                    <a:cubicBezTo>
                      <a:pt x="2060208" y="204863"/>
                      <a:pt x="2048244" y="216827"/>
                      <a:pt x="2033486" y="216827"/>
                    </a:cubicBezTo>
                    <a:lnTo>
                      <a:pt x="26722" y="216827"/>
                    </a:lnTo>
                    <a:cubicBezTo>
                      <a:pt x="19635" y="216827"/>
                      <a:pt x="12838" y="214012"/>
                      <a:pt x="7827" y="209000"/>
                    </a:cubicBezTo>
                    <a:cubicBezTo>
                      <a:pt x="2815" y="203989"/>
                      <a:pt x="0" y="197192"/>
                      <a:pt x="0" y="190105"/>
                    </a:cubicBezTo>
                    <a:lnTo>
                      <a:pt x="0" y="26722"/>
                    </a:lnTo>
                    <a:cubicBezTo>
                      <a:pt x="0" y="11964"/>
                      <a:pt x="11964" y="0"/>
                      <a:pt x="26722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2060208" cy="273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Nanum Square"/>
                    <a:ea typeface="Nanum Square"/>
                    <a:cs typeface="Nanum Square"/>
                    <a:sym typeface="Nanum Square"/>
                  </a:rPr>
                  <a:t>카이제곱 통계량: 16,799.9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270026"/>
              <a:ext cx="10429804" cy="1097686"/>
              <a:chOff x="0" y="0"/>
              <a:chExt cx="2060208" cy="21682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60208" cy="216827"/>
              </a:xfrm>
              <a:custGeom>
                <a:avLst/>
                <a:gdLst/>
                <a:ahLst/>
                <a:cxnLst/>
                <a:rect r="r" b="b" t="t" l="l"/>
                <a:pathLst>
                  <a:path h="216827" w="2060208">
                    <a:moveTo>
                      <a:pt x="26722" y="0"/>
                    </a:moveTo>
                    <a:lnTo>
                      <a:pt x="2033486" y="0"/>
                    </a:lnTo>
                    <a:cubicBezTo>
                      <a:pt x="2048244" y="0"/>
                      <a:pt x="2060208" y="11964"/>
                      <a:pt x="2060208" y="26722"/>
                    </a:cubicBezTo>
                    <a:lnTo>
                      <a:pt x="2060208" y="190105"/>
                    </a:lnTo>
                    <a:cubicBezTo>
                      <a:pt x="2060208" y="204863"/>
                      <a:pt x="2048244" y="216827"/>
                      <a:pt x="2033486" y="216827"/>
                    </a:cubicBezTo>
                    <a:lnTo>
                      <a:pt x="26722" y="216827"/>
                    </a:lnTo>
                    <a:cubicBezTo>
                      <a:pt x="19635" y="216827"/>
                      <a:pt x="12838" y="214012"/>
                      <a:pt x="7827" y="209000"/>
                    </a:cubicBezTo>
                    <a:cubicBezTo>
                      <a:pt x="2815" y="203989"/>
                      <a:pt x="0" y="197192"/>
                      <a:pt x="0" y="190105"/>
                    </a:cubicBezTo>
                    <a:lnTo>
                      <a:pt x="0" y="26722"/>
                    </a:lnTo>
                    <a:cubicBezTo>
                      <a:pt x="0" y="11964"/>
                      <a:pt x="11964" y="0"/>
                      <a:pt x="26722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2060208" cy="273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Nanum Square"/>
                    <a:ea typeface="Nanum Square"/>
                    <a:cs typeface="Nanum Square"/>
                    <a:sym typeface="Nanum Square"/>
                  </a:rPr>
                  <a:t> p-value 0.000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2540052"/>
              <a:ext cx="10429804" cy="1097686"/>
              <a:chOff x="0" y="0"/>
              <a:chExt cx="2060208" cy="21682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60208" cy="216827"/>
              </a:xfrm>
              <a:custGeom>
                <a:avLst/>
                <a:gdLst/>
                <a:ahLst/>
                <a:cxnLst/>
                <a:rect r="r" b="b" t="t" l="l"/>
                <a:pathLst>
                  <a:path h="216827" w="2060208">
                    <a:moveTo>
                      <a:pt x="26722" y="0"/>
                    </a:moveTo>
                    <a:lnTo>
                      <a:pt x="2033486" y="0"/>
                    </a:lnTo>
                    <a:cubicBezTo>
                      <a:pt x="2048244" y="0"/>
                      <a:pt x="2060208" y="11964"/>
                      <a:pt x="2060208" y="26722"/>
                    </a:cubicBezTo>
                    <a:lnTo>
                      <a:pt x="2060208" y="190105"/>
                    </a:lnTo>
                    <a:cubicBezTo>
                      <a:pt x="2060208" y="204863"/>
                      <a:pt x="2048244" y="216827"/>
                      <a:pt x="2033486" y="216827"/>
                    </a:cubicBezTo>
                    <a:lnTo>
                      <a:pt x="26722" y="216827"/>
                    </a:lnTo>
                    <a:cubicBezTo>
                      <a:pt x="19635" y="216827"/>
                      <a:pt x="12838" y="214012"/>
                      <a:pt x="7827" y="209000"/>
                    </a:cubicBezTo>
                    <a:cubicBezTo>
                      <a:pt x="2815" y="203989"/>
                      <a:pt x="0" y="197192"/>
                      <a:pt x="0" y="190105"/>
                    </a:cubicBezTo>
                    <a:lnTo>
                      <a:pt x="0" y="26722"/>
                    </a:lnTo>
                    <a:cubicBezTo>
                      <a:pt x="0" y="11964"/>
                      <a:pt x="11964" y="0"/>
                      <a:pt x="26722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2060208" cy="273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Nanum Square"/>
                    <a:ea typeface="Nanum Square"/>
                    <a:cs typeface="Nanum Square"/>
                    <a:sym typeface="Nanum Square"/>
                  </a:rPr>
                  <a:t>Cramér’s V = 0.42 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807762" y="594917"/>
            <a:ext cx="16672477" cy="1265838"/>
            <a:chOff x="0" y="0"/>
            <a:chExt cx="4391105" cy="333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07762" y="859536"/>
            <a:ext cx="1259983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프로젝트 개요 - 배송 지연과 고객 만족도의 상관관계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6337" y="926211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2190241" y="7340111"/>
            <a:ext cx="13907518" cy="2030555"/>
            <a:chOff x="0" y="0"/>
            <a:chExt cx="18543358" cy="270740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543358" cy="2707407"/>
              <a:chOff x="0" y="0"/>
              <a:chExt cx="3662885" cy="5347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62885" cy="534796"/>
              </a:xfrm>
              <a:custGeom>
                <a:avLst/>
                <a:gdLst/>
                <a:ahLst/>
                <a:cxnLst/>
                <a:rect r="r" b="b" t="t" l="l"/>
                <a:pathLst>
                  <a:path h="534796" w="3662885">
                    <a:moveTo>
                      <a:pt x="15030" y="0"/>
                    </a:moveTo>
                    <a:lnTo>
                      <a:pt x="3647855" y="0"/>
                    </a:lnTo>
                    <a:cubicBezTo>
                      <a:pt x="3656156" y="0"/>
                      <a:pt x="3662885" y="6729"/>
                      <a:pt x="3662885" y="15030"/>
                    </a:cubicBezTo>
                    <a:lnTo>
                      <a:pt x="3662885" y="519766"/>
                    </a:lnTo>
                    <a:cubicBezTo>
                      <a:pt x="3662885" y="523753"/>
                      <a:pt x="3661302" y="527576"/>
                      <a:pt x="3658483" y="530394"/>
                    </a:cubicBezTo>
                    <a:cubicBezTo>
                      <a:pt x="3655664" y="533213"/>
                      <a:pt x="3651841" y="534796"/>
                      <a:pt x="3647855" y="534796"/>
                    </a:cubicBezTo>
                    <a:lnTo>
                      <a:pt x="15030" y="534796"/>
                    </a:lnTo>
                    <a:cubicBezTo>
                      <a:pt x="6729" y="534796"/>
                      <a:pt x="0" y="528067"/>
                      <a:pt x="0" y="519766"/>
                    </a:cubicBezTo>
                    <a:lnTo>
                      <a:pt x="0" y="15030"/>
                    </a:lnTo>
                    <a:cubicBezTo>
                      <a:pt x="0" y="11044"/>
                      <a:pt x="1584" y="7221"/>
                      <a:pt x="4402" y="4402"/>
                    </a:cubicBezTo>
                    <a:cubicBezTo>
                      <a:pt x="7221" y="1584"/>
                      <a:pt x="11044" y="0"/>
                      <a:pt x="15030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662885" cy="572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2399" y="370040"/>
              <a:ext cx="17483613" cy="230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</a:p>
            <a:p>
              <a:pPr algn="l">
                <a:lnSpc>
                  <a:spcPts val="3499"/>
                </a:lnSpc>
              </a:pPr>
              <a:r>
                <a:rPr lang="en-US" sz="2499" spc="-74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배송 지연이 고객 평점에 미치는 영향을 분석하고, 관련 요인 개선을 통해 서비스를 향상시켜 고객 만족도를 높이는 방안을 도출한다.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8481"/>
              <a:ext cx="3418324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 분석 목표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63859" y="0"/>
              <a:ext cx="648540" cy="628273"/>
            </a:xfrm>
            <a:custGeom>
              <a:avLst/>
              <a:gdLst/>
              <a:ahLst/>
              <a:cxnLst/>
              <a:rect r="r" b="b" t="t" l="l"/>
              <a:pathLst>
                <a:path h="628273" w="648540">
                  <a:moveTo>
                    <a:pt x="0" y="0"/>
                  </a:moveTo>
                  <a:lnTo>
                    <a:pt x="648540" y="0"/>
                  </a:lnTo>
                  <a:lnTo>
                    <a:pt x="648540" y="628273"/>
                  </a:lnTo>
                  <a:lnTo>
                    <a:pt x="0" y="628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6812" y="594917"/>
            <a:ext cx="16672477" cy="1265838"/>
            <a:chOff x="0" y="0"/>
            <a:chExt cx="4391105" cy="333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0241" y="2284205"/>
            <a:ext cx="13907518" cy="1380217"/>
            <a:chOff x="0" y="0"/>
            <a:chExt cx="3662885" cy="3635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62885" cy="363514"/>
            </a:xfrm>
            <a:custGeom>
              <a:avLst/>
              <a:gdLst/>
              <a:ahLst/>
              <a:cxnLst/>
              <a:rect r="r" b="b" t="t" l="l"/>
              <a:pathLst>
                <a:path h="363514" w="3662885">
                  <a:moveTo>
                    <a:pt x="15030" y="0"/>
                  </a:moveTo>
                  <a:lnTo>
                    <a:pt x="3647855" y="0"/>
                  </a:lnTo>
                  <a:cubicBezTo>
                    <a:pt x="3656156" y="0"/>
                    <a:pt x="3662885" y="6729"/>
                    <a:pt x="3662885" y="15030"/>
                  </a:cubicBezTo>
                  <a:lnTo>
                    <a:pt x="3662885" y="348484"/>
                  </a:lnTo>
                  <a:cubicBezTo>
                    <a:pt x="3662885" y="352470"/>
                    <a:pt x="3661302" y="356293"/>
                    <a:pt x="3658483" y="359112"/>
                  </a:cubicBezTo>
                  <a:cubicBezTo>
                    <a:pt x="3655664" y="361930"/>
                    <a:pt x="3651841" y="363514"/>
                    <a:pt x="3647855" y="363514"/>
                  </a:cubicBezTo>
                  <a:lnTo>
                    <a:pt x="15030" y="363514"/>
                  </a:lnTo>
                  <a:cubicBezTo>
                    <a:pt x="11044" y="363514"/>
                    <a:pt x="7221" y="361930"/>
                    <a:pt x="4402" y="359112"/>
                  </a:cubicBezTo>
                  <a:cubicBezTo>
                    <a:pt x="1584" y="356293"/>
                    <a:pt x="0" y="352470"/>
                    <a:pt x="0" y="348484"/>
                  </a:cubicBezTo>
                  <a:lnTo>
                    <a:pt x="0" y="15030"/>
                  </a:lnTo>
                  <a:cubicBezTo>
                    <a:pt x="0" y="11044"/>
                    <a:pt x="1584" y="7221"/>
                    <a:pt x="4402" y="4402"/>
                  </a:cubicBezTo>
                  <a:cubicBezTo>
                    <a:pt x="7221" y="1584"/>
                    <a:pt x="11044" y="0"/>
                    <a:pt x="15030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62885" cy="40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556338" y="2406159"/>
            <a:ext cx="25637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회귀 분석 목표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313135" y="2284205"/>
            <a:ext cx="486405" cy="471205"/>
          </a:xfrm>
          <a:custGeom>
            <a:avLst/>
            <a:gdLst/>
            <a:ahLst/>
            <a:cxnLst/>
            <a:rect r="r" b="b" t="t" l="l"/>
            <a:pathLst>
              <a:path h="471205" w="486405">
                <a:moveTo>
                  <a:pt x="0" y="0"/>
                </a:moveTo>
                <a:lnTo>
                  <a:pt x="486405" y="0"/>
                </a:lnTo>
                <a:lnTo>
                  <a:pt x="486405" y="471204"/>
                </a:lnTo>
                <a:lnTo>
                  <a:pt x="0" y="471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56338" y="2396634"/>
            <a:ext cx="1311271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</a:pPr>
            <a:r>
              <a:rPr lang="en-US" sz="2499" spc="-74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배송 지연일의 영향을 미치는 요인을 찾는다.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2190241" y="4899980"/>
            <a:ext cx="13907518" cy="1420955"/>
            <a:chOff x="0" y="0"/>
            <a:chExt cx="18543358" cy="189460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8543358" cy="1894607"/>
              <a:chOff x="0" y="0"/>
              <a:chExt cx="3662885" cy="37424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62885" cy="374243"/>
              </a:xfrm>
              <a:custGeom>
                <a:avLst/>
                <a:gdLst/>
                <a:ahLst/>
                <a:cxnLst/>
                <a:rect r="r" b="b" t="t" l="l"/>
                <a:pathLst>
                  <a:path h="374243" w="3662885">
                    <a:moveTo>
                      <a:pt x="15030" y="0"/>
                    </a:moveTo>
                    <a:lnTo>
                      <a:pt x="3647855" y="0"/>
                    </a:lnTo>
                    <a:cubicBezTo>
                      <a:pt x="3656156" y="0"/>
                      <a:pt x="3662885" y="6729"/>
                      <a:pt x="3662885" y="15030"/>
                    </a:cubicBezTo>
                    <a:lnTo>
                      <a:pt x="3662885" y="359213"/>
                    </a:lnTo>
                    <a:cubicBezTo>
                      <a:pt x="3662885" y="363199"/>
                      <a:pt x="3661302" y="367022"/>
                      <a:pt x="3658483" y="369841"/>
                    </a:cubicBezTo>
                    <a:cubicBezTo>
                      <a:pt x="3655664" y="372660"/>
                      <a:pt x="3651841" y="374243"/>
                      <a:pt x="3647855" y="374243"/>
                    </a:cubicBezTo>
                    <a:lnTo>
                      <a:pt x="15030" y="374243"/>
                    </a:lnTo>
                    <a:cubicBezTo>
                      <a:pt x="11044" y="374243"/>
                      <a:pt x="7221" y="372660"/>
                      <a:pt x="4402" y="369841"/>
                    </a:cubicBezTo>
                    <a:cubicBezTo>
                      <a:pt x="1584" y="367022"/>
                      <a:pt x="0" y="363199"/>
                      <a:pt x="0" y="359213"/>
                    </a:cubicBezTo>
                    <a:lnTo>
                      <a:pt x="0" y="15030"/>
                    </a:lnTo>
                    <a:cubicBezTo>
                      <a:pt x="0" y="11044"/>
                      <a:pt x="1584" y="7221"/>
                      <a:pt x="4402" y="4402"/>
                    </a:cubicBezTo>
                    <a:cubicBezTo>
                      <a:pt x="7221" y="1584"/>
                      <a:pt x="11044" y="0"/>
                      <a:pt x="15030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662885" cy="4123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12399" y="841470"/>
              <a:ext cx="17483613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파악한 요인과 추가 변수를 넣어서 지연 유형을 분류하고 유형별 개선 전략을 도출한다.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88129" y="233487"/>
              <a:ext cx="3418324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 군집 분석 목표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163859" y="69264"/>
              <a:ext cx="648540" cy="628273"/>
            </a:xfrm>
            <a:custGeom>
              <a:avLst/>
              <a:gdLst/>
              <a:ahLst/>
              <a:cxnLst/>
              <a:rect r="r" b="b" t="t" l="l"/>
              <a:pathLst>
                <a:path h="628273" w="648540">
                  <a:moveTo>
                    <a:pt x="0" y="0"/>
                  </a:moveTo>
                  <a:lnTo>
                    <a:pt x="648540" y="0"/>
                  </a:lnTo>
                  <a:lnTo>
                    <a:pt x="648540" y="628273"/>
                  </a:lnTo>
                  <a:lnTo>
                    <a:pt x="0" y="628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5400000">
            <a:off x="8701026" y="3968844"/>
            <a:ext cx="943098" cy="667028"/>
          </a:xfrm>
          <a:custGeom>
            <a:avLst/>
            <a:gdLst/>
            <a:ahLst/>
            <a:cxnLst/>
            <a:rect r="r" b="b" t="t" l="l"/>
            <a:pathLst>
              <a:path h="667028" w="943098">
                <a:moveTo>
                  <a:pt x="0" y="0"/>
                </a:moveTo>
                <a:lnTo>
                  <a:pt x="943098" y="0"/>
                </a:lnTo>
                <a:lnTo>
                  <a:pt x="943098" y="667027"/>
                </a:lnTo>
                <a:lnTo>
                  <a:pt x="0" y="667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84026" y="859536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프로젝트 개요 - 분석 목표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5400000">
            <a:off x="8803854" y="6497071"/>
            <a:ext cx="943098" cy="667028"/>
          </a:xfrm>
          <a:custGeom>
            <a:avLst/>
            <a:gdLst/>
            <a:ahLst/>
            <a:cxnLst/>
            <a:rect r="r" b="b" t="t" l="l"/>
            <a:pathLst>
              <a:path h="667028" w="943098">
                <a:moveTo>
                  <a:pt x="0" y="0"/>
                </a:moveTo>
                <a:lnTo>
                  <a:pt x="943098" y="0"/>
                </a:lnTo>
                <a:lnTo>
                  <a:pt x="943098" y="667027"/>
                </a:lnTo>
                <a:lnTo>
                  <a:pt x="0" y="667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594917"/>
            <a:ext cx="16672477" cy="8927902"/>
            <a:chOff x="0" y="0"/>
            <a:chExt cx="4391105" cy="23513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2351381"/>
            </a:xfrm>
            <a:custGeom>
              <a:avLst/>
              <a:gdLst/>
              <a:ahLst/>
              <a:cxnLst/>
              <a:rect r="r" b="b" t="t" l="l"/>
              <a:pathLst>
                <a:path h="2351381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51381"/>
                  </a:lnTo>
                  <a:lnTo>
                    <a:pt x="0" y="2351381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2389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0241" y="4126141"/>
            <a:ext cx="13907518" cy="1865455"/>
            <a:chOff x="0" y="0"/>
            <a:chExt cx="18543358" cy="248727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8543358" cy="2487274"/>
              <a:chOff x="0" y="0"/>
              <a:chExt cx="3662885" cy="49131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62885" cy="491313"/>
              </a:xfrm>
              <a:custGeom>
                <a:avLst/>
                <a:gdLst/>
                <a:ahLst/>
                <a:cxnLst/>
                <a:rect r="r" b="b" t="t" l="l"/>
                <a:pathLst>
                  <a:path h="491313" w="3662885">
                    <a:moveTo>
                      <a:pt x="15030" y="0"/>
                    </a:moveTo>
                    <a:lnTo>
                      <a:pt x="3647855" y="0"/>
                    </a:lnTo>
                    <a:cubicBezTo>
                      <a:pt x="3656156" y="0"/>
                      <a:pt x="3662885" y="6729"/>
                      <a:pt x="3662885" y="15030"/>
                    </a:cubicBezTo>
                    <a:lnTo>
                      <a:pt x="3662885" y="476283"/>
                    </a:lnTo>
                    <a:cubicBezTo>
                      <a:pt x="3662885" y="480269"/>
                      <a:pt x="3661302" y="484092"/>
                      <a:pt x="3658483" y="486911"/>
                    </a:cubicBezTo>
                    <a:cubicBezTo>
                      <a:pt x="3655664" y="489730"/>
                      <a:pt x="3651841" y="491313"/>
                      <a:pt x="3647855" y="491313"/>
                    </a:cubicBezTo>
                    <a:lnTo>
                      <a:pt x="15030" y="491313"/>
                    </a:lnTo>
                    <a:cubicBezTo>
                      <a:pt x="11044" y="491313"/>
                      <a:pt x="7221" y="489730"/>
                      <a:pt x="4402" y="486911"/>
                    </a:cubicBezTo>
                    <a:cubicBezTo>
                      <a:pt x="1584" y="484092"/>
                      <a:pt x="0" y="480269"/>
                      <a:pt x="0" y="476283"/>
                    </a:cubicBezTo>
                    <a:lnTo>
                      <a:pt x="0" y="15030"/>
                    </a:lnTo>
                    <a:cubicBezTo>
                      <a:pt x="0" y="11044"/>
                      <a:pt x="1584" y="7221"/>
                      <a:pt x="4402" y="4402"/>
                    </a:cubicBezTo>
                    <a:cubicBezTo>
                      <a:pt x="7221" y="1584"/>
                      <a:pt x="11044" y="0"/>
                      <a:pt x="15030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662885" cy="5294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88129" y="178481"/>
              <a:ext cx="3418324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회귀 분석 목표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63859" y="0"/>
              <a:ext cx="648540" cy="628273"/>
            </a:xfrm>
            <a:custGeom>
              <a:avLst/>
              <a:gdLst/>
              <a:ahLst/>
              <a:cxnLst/>
              <a:rect r="r" b="b" t="t" l="l"/>
              <a:pathLst>
                <a:path h="628273" w="648540">
                  <a:moveTo>
                    <a:pt x="0" y="0"/>
                  </a:moveTo>
                  <a:lnTo>
                    <a:pt x="648540" y="0"/>
                  </a:lnTo>
                  <a:lnTo>
                    <a:pt x="648540" y="628273"/>
                  </a:lnTo>
                  <a:lnTo>
                    <a:pt x="0" y="628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29872" y="228411"/>
              <a:ext cx="17483613" cy="211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  <a:p>
              <a:pPr algn="ctr">
                <a:lnSpc>
                  <a:spcPts val="4200"/>
                </a:lnSpc>
              </a:pPr>
              <a:r>
                <a:rPr lang="en-US" sz="3000" spc="-8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배송 지연일의 영향을 미치는 요인을 분석한다.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6076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70451" y="2130883"/>
            <a:ext cx="5148913" cy="3319332"/>
          </a:xfrm>
          <a:custGeom>
            <a:avLst/>
            <a:gdLst/>
            <a:ahLst/>
            <a:cxnLst/>
            <a:rect r="r" b="b" t="t" l="l"/>
            <a:pathLst>
              <a:path h="3319332" w="5148913">
                <a:moveTo>
                  <a:pt x="0" y="0"/>
                </a:moveTo>
                <a:lnTo>
                  <a:pt x="5148913" y="0"/>
                </a:lnTo>
                <a:lnTo>
                  <a:pt x="5148913" y="3319333"/>
                </a:lnTo>
                <a:lnTo>
                  <a:pt x="0" y="3319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5" r="0" b="-20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0702" y="2130883"/>
            <a:ext cx="4738206" cy="3319332"/>
          </a:xfrm>
          <a:custGeom>
            <a:avLst/>
            <a:gdLst/>
            <a:ahLst/>
            <a:cxnLst/>
            <a:rect r="r" b="b" t="t" l="l"/>
            <a:pathLst>
              <a:path h="3319332" w="4738206">
                <a:moveTo>
                  <a:pt x="0" y="0"/>
                </a:moveTo>
                <a:lnTo>
                  <a:pt x="4738207" y="0"/>
                </a:lnTo>
                <a:lnTo>
                  <a:pt x="4738207" y="3319333"/>
                </a:lnTo>
                <a:lnTo>
                  <a:pt x="0" y="33193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0" t="0" r="-62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930978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로그 변환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97663" y="5538089"/>
            <a:ext cx="8561755" cy="3539689"/>
            <a:chOff x="0" y="0"/>
            <a:chExt cx="2254948" cy="932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4948" cy="932264"/>
            </a:xfrm>
            <a:custGeom>
              <a:avLst/>
              <a:gdLst/>
              <a:ahLst/>
              <a:cxnLst/>
              <a:rect r="r" b="b" t="t" l="l"/>
              <a:pathLst>
                <a:path h="932264" w="2254948">
                  <a:moveTo>
                    <a:pt x="24415" y="0"/>
                  </a:moveTo>
                  <a:lnTo>
                    <a:pt x="2230533" y="0"/>
                  </a:lnTo>
                  <a:cubicBezTo>
                    <a:pt x="2237008" y="0"/>
                    <a:pt x="2243218" y="2572"/>
                    <a:pt x="2247797" y="7151"/>
                  </a:cubicBezTo>
                  <a:cubicBezTo>
                    <a:pt x="2252376" y="11729"/>
                    <a:pt x="2254948" y="17939"/>
                    <a:pt x="2254948" y="24415"/>
                  </a:cubicBezTo>
                  <a:lnTo>
                    <a:pt x="2254948" y="907849"/>
                  </a:lnTo>
                  <a:cubicBezTo>
                    <a:pt x="2254948" y="921333"/>
                    <a:pt x="2244017" y="932264"/>
                    <a:pt x="2230533" y="932264"/>
                  </a:cubicBezTo>
                  <a:lnTo>
                    <a:pt x="24415" y="932264"/>
                  </a:lnTo>
                  <a:cubicBezTo>
                    <a:pt x="17939" y="932264"/>
                    <a:pt x="11729" y="929692"/>
                    <a:pt x="7151" y="925113"/>
                  </a:cubicBezTo>
                  <a:cubicBezTo>
                    <a:pt x="2572" y="920534"/>
                    <a:pt x="0" y="914324"/>
                    <a:pt x="0" y="907849"/>
                  </a:cubicBezTo>
                  <a:lnTo>
                    <a:pt x="0" y="24415"/>
                  </a:lnTo>
                  <a:cubicBezTo>
                    <a:pt x="0" y="17939"/>
                    <a:pt x="2572" y="11729"/>
                    <a:pt x="7151" y="7151"/>
                  </a:cubicBezTo>
                  <a:cubicBezTo>
                    <a:pt x="11729" y="2572"/>
                    <a:pt x="17939" y="0"/>
                    <a:pt x="24415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54948" cy="97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430066" y="5777311"/>
            <a:ext cx="7696948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product_weight_g   →   log_product_weight_g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product_length_cm   →   log_product_length_cm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product_height_cm   →   log_product_height_cm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product_width_cm   →   log_product_width_cm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price   →   log_price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freight   →   log_freight</a:t>
            </a:r>
          </a:p>
          <a:p>
            <a:pPr algn="ctr">
              <a:lnSpc>
                <a:spcPts val="3424"/>
              </a:lnSpc>
            </a:pPr>
            <a:r>
              <a:rPr lang="en-US" sz="24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payment_value   →   log_payment_value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374222" y="3790550"/>
            <a:ext cx="1079106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4608" y="543786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4608" y="543786"/>
            <a:ext cx="16672477" cy="1265838"/>
            <a:chOff x="0" y="0"/>
            <a:chExt cx="4391105" cy="33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090196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파생변수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48456" y="2191043"/>
            <a:ext cx="13784045" cy="1589245"/>
            <a:chOff x="0" y="0"/>
            <a:chExt cx="3793994" cy="437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93994" cy="437432"/>
            </a:xfrm>
            <a:custGeom>
              <a:avLst/>
              <a:gdLst/>
              <a:ahLst/>
              <a:cxnLst/>
              <a:rect r="r" b="b" t="t" l="l"/>
              <a:pathLst>
                <a:path h="437432" w="3793994">
                  <a:moveTo>
                    <a:pt x="15165" y="0"/>
                  </a:moveTo>
                  <a:lnTo>
                    <a:pt x="3778829" y="0"/>
                  </a:lnTo>
                  <a:cubicBezTo>
                    <a:pt x="3782851" y="0"/>
                    <a:pt x="3786708" y="1598"/>
                    <a:pt x="3789552" y="4442"/>
                  </a:cubicBezTo>
                  <a:cubicBezTo>
                    <a:pt x="3792396" y="7286"/>
                    <a:pt x="3793994" y="11143"/>
                    <a:pt x="3793994" y="15165"/>
                  </a:cubicBezTo>
                  <a:lnTo>
                    <a:pt x="3793994" y="422267"/>
                  </a:lnTo>
                  <a:cubicBezTo>
                    <a:pt x="3793994" y="426289"/>
                    <a:pt x="3792396" y="430147"/>
                    <a:pt x="3789552" y="432991"/>
                  </a:cubicBezTo>
                  <a:cubicBezTo>
                    <a:pt x="3786708" y="435835"/>
                    <a:pt x="3782851" y="437432"/>
                    <a:pt x="3778829" y="437432"/>
                  </a:cubicBezTo>
                  <a:lnTo>
                    <a:pt x="15165" y="437432"/>
                  </a:lnTo>
                  <a:cubicBezTo>
                    <a:pt x="11143" y="437432"/>
                    <a:pt x="7286" y="435835"/>
                    <a:pt x="4442" y="432991"/>
                  </a:cubicBezTo>
                  <a:cubicBezTo>
                    <a:pt x="1598" y="430147"/>
                    <a:pt x="0" y="426289"/>
                    <a:pt x="0" y="422267"/>
                  </a:cubicBezTo>
                  <a:lnTo>
                    <a:pt x="0" y="15165"/>
                  </a:lnTo>
                  <a:cubicBezTo>
                    <a:pt x="0" y="11143"/>
                    <a:pt x="1598" y="7286"/>
                    <a:pt x="4442" y="4442"/>
                  </a:cubicBezTo>
                  <a:cubicBezTo>
                    <a:pt x="7286" y="1598"/>
                    <a:pt x="11143" y="0"/>
                    <a:pt x="15165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793994" cy="475532"/>
            </a:xfrm>
            <a:prstGeom prst="rect">
              <a:avLst/>
            </a:prstGeom>
          </p:spPr>
          <p:txBody>
            <a:bodyPr anchor="ctr" rtlCol="false" tIns="48609" lIns="48609" bIns="48609" rIns="4860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62756" y="2247478"/>
            <a:ext cx="13720611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road_distance_km</a:t>
            </a:r>
          </a:p>
          <a:p>
            <a:pPr algn="ctr">
              <a:lnSpc>
                <a:spcPts val="1874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위도·경도를 라디안으로 변환 →  Haversine 함수를 적용 →</a:t>
            </a: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직선거리 × 1.26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2222"/>
                </a:solidFill>
                <a:latin typeface="Nanum Square"/>
                <a:ea typeface="Nanum Square"/>
                <a:cs typeface="Nanum Square"/>
                <a:sym typeface="Nanum Square"/>
              </a:rPr>
              <a:t>(OSRM로 계산한 실제 도로거리를 직선거리로 나눈 값(약 1.26)을 보정계수로 활용)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212431" y="4106144"/>
            <a:ext cx="13796831" cy="4585031"/>
            <a:chOff x="0" y="0"/>
            <a:chExt cx="3633733" cy="1207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33733" cy="1207580"/>
            </a:xfrm>
            <a:custGeom>
              <a:avLst/>
              <a:gdLst/>
              <a:ahLst/>
              <a:cxnLst/>
              <a:rect r="r" b="b" t="t" l="l"/>
              <a:pathLst>
                <a:path h="1207580" w="3633733">
                  <a:moveTo>
                    <a:pt x="15151" y="0"/>
                  </a:moveTo>
                  <a:lnTo>
                    <a:pt x="3618583" y="0"/>
                  </a:lnTo>
                  <a:cubicBezTo>
                    <a:pt x="3622601" y="0"/>
                    <a:pt x="3626454" y="1596"/>
                    <a:pt x="3629296" y="4438"/>
                  </a:cubicBezTo>
                  <a:cubicBezTo>
                    <a:pt x="3632137" y="7279"/>
                    <a:pt x="3633733" y="11132"/>
                    <a:pt x="3633733" y="15151"/>
                  </a:cubicBezTo>
                  <a:lnTo>
                    <a:pt x="3633733" y="1192429"/>
                  </a:lnTo>
                  <a:cubicBezTo>
                    <a:pt x="3633733" y="1200797"/>
                    <a:pt x="3626950" y="1207580"/>
                    <a:pt x="3618583" y="1207580"/>
                  </a:cubicBezTo>
                  <a:lnTo>
                    <a:pt x="15151" y="1207580"/>
                  </a:lnTo>
                  <a:cubicBezTo>
                    <a:pt x="11132" y="1207580"/>
                    <a:pt x="7279" y="1205984"/>
                    <a:pt x="4438" y="1203143"/>
                  </a:cubicBezTo>
                  <a:cubicBezTo>
                    <a:pt x="1596" y="1200301"/>
                    <a:pt x="0" y="1196448"/>
                    <a:pt x="0" y="1192429"/>
                  </a:cubicBezTo>
                  <a:lnTo>
                    <a:pt x="0" y="15151"/>
                  </a:lnTo>
                  <a:cubicBezTo>
                    <a:pt x="0" y="6783"/>
                    <a:pt x="6783" y="0"/>
                    <a:pt x="15151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33733" cy="124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78737" y="4218438"/>
            <a:ext cx="13730525" cy="421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계절성 / 주기성 파생 변수</a:t>
            </a:r>
          </a:p>
          <a:p>
            <a:pPr algn="ctr">
              <a:lnSpc>
                <a:spcPts val="2460"/>
              </a:lnSpc>
            </a:pP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배송 과정별 소요일수 산출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days_to_payment = 결제 승인일 − 주문일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days_to_ship = 배송 출발일 − 결제 승인일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days_until_limit = 배송 마감일 − 배송 출발일</a:t>
            </a:r>
          </a:p>
          <a:p>
            <a:pPr algn="ctr">
              <a:lnSpc>
                <a:spcPts val="2829"/>
              </a:lnSpc>
            </a:pP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계절·시간 패턴 반영 변수 추가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각 날짜(order_purchase_timestamp 등)에서 월(month), 요일(dayofweek), 시각(hour) 추출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불필요한 원본 날짜 컬럼 제거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→ delay_re.drop(columns = date_cols, inplace=True)</a:t>
            </a:r>
          </a:p>
          <a:p>
            <a:pPr algn="ctr">
              <a:lnSpc>
                <a:spcPts val="2829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→ 시간 흐름과 계절적 요인을 함께 반영한 예측 변수 구축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638" y="7228744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7287" y="705461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391105" cy="2364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53228" y="6581923"/>
            <a:ext cx="5306072" cy="2306019"/>
            <a:chOff x="0" y="0"/>
            <a:chExt cx="1397484" cy="607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7484" cy="607347"/>
            </a:xfrm>
            <a:custGeom>
              <a:avLst/>
              <a:gdLst/>
              <a:ahLst/>
              <a:cxnLst/>
              <a:rect r="r" b="b" t="t" l="l"/>
              <a:pathLst>
                <a:path h="607347" w="1397484">
                  <a:moveTo>
                    <a:pt x="39395" y="0"/>
                  </a:moveTo>
                  <a:lnTo>
                    <a:pt x="1358089" y="0"/>
                  </a:lnTo>
                  <a:cubicBezTo>
                    <a:pt x="1368537" y="0"/>
                    <a:pt x="1378558" y="4151"/>
                    <a:pt x="1385946" y="11538"/>
                  </a:cubicBezTo>
                  <a:cubicBezTo>
                    <a:pt x="1393334" y="18926"/>
                    <a:pt x="1397484" y="28947"/>
                    <a:pt x="1397484" y="39395"/>
                  </a:cubicBezTo>
                  <a:lnTo>
                    <a:pt x="1397484" y="567952"/>
                  </a:lnTo>
                  <a:cubicBezTo>
                    <a:pt x="1397484" y="589709"/>
                    <a:pt x="1379846" y="607347"/>
                    <a:pt x="1358089" y="607347"/>
                  </a:cubicBezTo>
                  <a:lnTo>
                    <a:pt x="39395" y="607347"/>
                  </a:lnTo>
                  <a:cubicBezTo>
                    <a:pt x="17638" y="607347"/>
                    <a:pt x="0" y="589709"/>
                    <a:pt x="0" y="567952"/>
                  </a:cubicBezTo>
                  <a:lnTo>
                    <a:pt x="0" y="39395"/>
                  </a:lnTo>
                  <a:cubicBezTo>
                    <a:pt x="0" y="17638"/>
                    <a:pt x="17638" y="0"/>
                    <a:pt x="39395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97484" cy="674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53228" y="6897368"/>
            <a:ext cx="5306072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길이, 무게, 높이, 너비 상관관계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→  중간정도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다중공선성 없음 ❌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2951767"/>
            <a:ext cx="10545962" cy="5497083"/>
          </a:xfrm>
          <a:custGeom>
            <a:avLst/>
            <a:gdLst/>
            <a:ahLst/>
            <a:cxnLst/>
            <a:rect r="r" b="b" t="t" l="l"/>
            <a:pathLst>
              <a:path h="5497083" w="10545962">
                <a:moveTo>
                  <a:pt x="0" y="0"/>
                </a:moveTo>
                <a:lnTo>
                  <a:pt x="10545962" y="0"/>
                </a:lnTo>
                <a:lnTo>
                  <a:pt x="10545962" y="5497083"/>
                </a:lnTo>
                <a:lnTo>
                  <a:pt x="0" y="5497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12388913" y="3429000"/>
          <a:ext cx="5657850" cy="3771900"/>
        </p:xfrm>
        <a:graphic>
          <a:graphicData uri="http://schemas.openxmlformats.org/presentationml/2006/ole">
            <p:oleObj imgW="6781800" imgH="490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5400000">
            <a:off x="13737991" y="5521640"/>
            <a:ext cx="1449621" cy="6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3"/>
              </a:lnSpc>
              <a:spcBef>
                <a:spcPct val="0"/>
              </a:spcBef>
            </a:pPr>
            <a:r>
              <a:rPr lang="en-US" b="true" sz="4073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-250502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변수간 상관관계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95417" y="2056738"/>
            <a:ext cx="181252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상품 상관관계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8864" y="2056738"/>
            <a:ext cx="113453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상품 VIF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39778" y="2460181"/>
            <a:ext cx="13408444" cy="3174714"/>
            <a:chOff x="0" y="0"/>
            <a:chExt cx="3531442" cy="8361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31442" cy="836139"/>
            </a:xfrm>
            <a:custGeom>
              <a:avLst/>
              <a:gdLst/>
              <a:ahLst/>
              <a:cxnLst/>
              <a:rect r="r" b="b" t="t" l="l"/>
              <a:pathLst>
                <a:path h="836139" w="3531442">
                  <a:moveTo>
                    <a:pt x="15590" y="0"/>
                  </a:moveTo>
                  <a:lnTo>
                    <a:pt x="3515852" y="0"/>
                  </a:lnTo>
                  <a:cubicBezTo>
                    <a:pt x="3519987" y="0"/>
                    <a:pt x="3523952" y="1642"/>
                    <a:pt x="3526876" y="4566"/>
                  </a:cubicBezTo>
                  <a:cubicBezTo>
                    <a:pt x="3529800" y="7490"/>
                    <a:pt x="3531442" y="11455"/>
                    <a:pt x="3531442" y="15590"/>
                  </a:cubicBezTo>
                  <a:lnTo>
                    <a:pt x="3531442" y="820549"/>
                  </a:lnTo>
                  <a:cubicBezTo>
                    <a:pt x="3531442" y="824684"/>
                    <a:pt x="3529800" y="828649"/>
                    <a:pt x="3526876" y="831572"/>
                  </a:cubicBezTo>
                  <a:cubicBezTo>
                    <a:pt x="3523952" y="834496"/>
                    <a:pt x="3519987" y="836139"/>
                    <a:pt x="3515852" y="836139"/>
                  </a:cubicBezTo>
                  <a:lnTo>
                    <a:pt x="15590" y="836139"/>
                  </a:lnTo>
                  <a:cubicBezTo>
                    <a:pt x="11455" y="836139"/>
                    <a:pt x="7490" y="834496"/>
                    <a:pt x="4566" y="831572"/>
                  </a:cubicBezTo>
                  <a:cubicBezTo>
                    <a:pt x="1642" y="828649"/>
                    <a:pt x="0" y="824684"/>
                    <a:pt x="0" y="820549"/>
                  </a:cubicBezTo>
                  <a:lnTo>
                    <a:pt x="0" y="15590"/>
                  </a:lnTo>
                  <a:cubicBezTo>
                    <a:pt x="0" y="11455"/>
                    <a:pt x="1642" y="7490"/>
                    <a:pt x="4566" y="4566"/>
                  </a:cubicBezTo>
                  <a:cubicBezTo>
                    <a:pt x="7490" y="1642"/>
                    <a:pt x="11455" y="0"/>
                    <a:pt x="15590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531442" cy="89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카이제곱 독립성 검정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H₀: 주와 지연여부는 평균은 독립적이다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H₁: 주별 주와 지연여부는 독립적이지 않다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유의수준: α = 0.05, 기대빈도 5 이하 셀 : 2 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0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주와 지연여부 관계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62721" y="5796820"/>
            <a:ext cx="6562559" cy="991998"/>
            <a:chOff x="0" y="0"/>
            <a:chExt cx="1728410" cy="2612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8411" cy="261267"/>
            </a:xfrm>
            <a:custGeom>
              <a:avLst/>
              <a:gdLst/>
              <a:ahLst/>
              <a:cxnLst/>
              <a:rect r="r" b="b" t="t" l="l"/>
              <a:pathLst>
                <a:path h="261267" w="1728411">
                  <a:moveTo>
                    <a:pt x="31852" y="0"/>
                  </a:moveTo>
                  <a:lnTo>
                    <a:pt x="1696558" y="0"/>
                  </a:lnTo>
                  <a:cubicBezTo>
                    <a:pt x="1705006" y="0"/>
                    <a:pt x="1713108" y="3356"/>
                    <a:pt x="1719081" y="9329"/>
                  </a:cubicBezTo>
                  <a:cubicBezTo>
                    <a:pt x="1725055" y="15303"/>
                    <a:pt x="1728411" y="23404"/>
                    <a:pt x="1728411" y="31852"/>
                  </a:cubicBezTo>
                  <a:lnTo>
                    <a:pt x="1728411" y="229415"/>
                  </a:lnTo>
                  <a:cubicBezTo>
                    <a:pt x="1728411" y="237863"/>
                    <a:pt x="1725055" y="245964"/>
                    <a:pt x="1719081" y="251938"/>
                  </a:cubicBezTo>
                  <a:cubicBezTo>
                    <a:pt x="1713108" y="257911"/>
                    <a:pt x="1705006" y="261267"/>
                    <a:pt x="1696558" y="261267"/>
                  </a:cubicBezTo>
                  <a:lnTo>
                    <a:pt x="31852" y="261267"/>
                  </a:lnTo>
                  <a:cubicBezTo>
                    <a:pt x="23404" y="261267"/>
                    <a:pt x="15303" y="257911"/>
                    <a:pt x="9329" y="251938"/>
                  </a:cubicBezTo>
                  <a:cubicBezTo>
                    <a:pt x="3356" y="245964"/>
                    <a:pt x="0" y="237863"/>
                    <a:pt x="0" y="229415"/>
                  </a:cubicBezTo>
                  <a:lnTo>
                    <a:pt x="0" y="31852"/>
                  </a:lnTo>
                  <a:cubicBezTo>
                    <a:pt x="0" y="23404"/>
                    <a:pt x="3356" y="15303"/>
                    <a:pt x="9329" y="9329"/>
                  </a:cubicBezTo>
                  <a:cubicBezTo>
                    <a:pt x="15303" y="3356"/>
                    <a:pt x="23404" y="0"/>
                    <a:pt x="31852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728410" cy="32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유의수준: α = 0.05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62721" y="6950774"/>
            <a:ext cx="6562559" cy="1007777"/>
            <a:chOff x="0" y="0"/>
            <a:chExt cx="1728410" cy="2654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28411" cy="265423"/>
            </a:xfrm>
            <a:custGeom>
              <a:avLst/>
              <a:gdLst/>
              <a:ahLst/>
              <a:cxnLst/>
              <a:rect r="r" b="b" t="t" l="l"/>
              <a:pathLst>
                <a:path h="265423" w="1728411">
                  <a:moveTo>
                    <a:pt x="31852" y="0"/>
                  </a:moveTo>
                  <a:lnTo>
                    <a:pt x="1696558" y="0"/>
                  </a:lnTo>
                  <a:cubicBezTo>
                    <a:pt x="1705006" y="0"/>
                    <a:pt x="1713108" y="3356"/>
                    <a:pt x="1719081" y="9329"/>
                  </a:cubicBezTo>
                  <a:cubicBezTo>
                    <a:pt x="1725055" y="15303"/>
                    <a:pt x="1728411" y="23404"/>
                    <a:pt x="1728411" y="31852"/>
                  </a:cubicBezTo>
                  <a:lnTo>
                    <a:pt x="1728411" y="233571"/>
                  </a:lnTo>
                  <a:cubicBezTo>
                    <a:pt x="1728411" y="242018"/>
                    <a:pt x="1725055" y="250120"/>
                    <a:pt x="1719081" y="256094"/>
                  </a:cubicBezTo>
                  <a:cubicBezTo>
                    <a:pt x="1713108" y="262067"/>
                    <a:pt x="1705006" y="265423"/>
                    <a:pt x="1696558" y="265423"/>
                  </a:cubicBezTo>
                  <a:lnTo>
                    <a:pt x="31852" y="265423"/>
                  </a:lnTo>
                  <a:cubicBezTo>
                    <a:pt x="23404" y="265423"/>
                    <a:pt x="15303" y="262067"/>
                    <a:pt x="9329" y="256094"/>
                  </a:cubicBezTo>
                  <a:cubicBezTo>
                    <a:pt x="3356" y="250120"/>
                    <a:pt x="0" y="242018"/>
                    <a:pt x="0" y="233571"/>
                  </a:cubicBezTo>
                  <a:lnTo>
                    <a:pt x="0" y="31852"/>
                  </a:lnTo>
                  <a:cubicBezTo>
                    <a:pt x="0" y="23404"/>
                    <a:pt x="3356" y="15303"/>
                    <a:pt x="9329" y="9329"/>
                  </a:cubicBezTo>
                  <a:cubicBezTo>
                    <a:pt x="15303" y="3356"/>
                    <a:pt x="23404" y="0"/>
                    <a:pt x="31852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28410" cy="33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카이제곱 통계량: 1952.22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62721" y="8120476"/>
            <a:ext cx="6562559" cy="1183671"/>
            <a:chOff x="0" y="0"/>
            <a:chExt cx="1728410" cy="3117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8411" cy="311749"/>
            </a:xfrm>
            <a:custGeom>
              <a:avLst/>
              <a:gdLst/>
              <a:ahLst/>
              <a:cxnLst/>
              <a:rect r="r" b="b" t="t" l="l"/>
              <a:pathLst>
                <a:path h="311749" w="1728411">
                  <a:moveTo>
                    <a:pt x="31852" y="0"/>
                  </a:moveTo>
                  <a:lnTo>
                    <a:pt x="1696558" y="0"/>
                  </a:lnTo>
                  <a:cubicBezTo>
                    <a:pt x="1705006" y="0"/>
                    <a:pt x="1713108" y="3356"/>
                    <a:pt x="1719081" y="9329"/>
                  </a:cubicBezTo>
                  <a:cubicBezTo>
                    <a:pt x="1725055" y="15303"/>
                    <a:pt x="1728411" y="23404"/>
                    <a:pt x="1728411" y="31852"/>
                  </a:cubicBezTo>
                  <a:lnTo>
                    <a:pt x="1728411" y="279896"/>
                  </a:lnTo>
                  <a:cubicBezTo>
                    <a:pt x="1728411" y="288344"/>
                    <a:pt x="1725055" y="296446"/>
                    <a:pt x="1719081" y="302419"/>
                  </a:cubicBezTo>
                  <a:cubicBezTo>
                    <a:pt x="1713108" y="308393"/>
                    <a:pt x="1705006" y="311749"/>
                    <a:pt x="1696558" y="311749"/>
                  </a:cubicBezTo>
                  <a:lnTo>
                    <a:pt x="31852" y="311749"/>
                  </a:lnTo>
                  <a:cubicBezTo>
                    <a:pt x="23404" y="311749"/>
                    <a:pt x="15303" y="308393"/>
                    <a:pt x="9329" y="302419"/>
                  </a:cubicBezTo>
                  <a:cubicBezTo>
                    <a:pt x="3356" y="296446"/>
                    <a:pt x="0" y="288344"/>
                    <a:pt x="0" y="279896"/>
                  </a:cubicBezTo>
                  <a:lnTo>
                    <a:pt x="0" y="31852"/>
                  </a:lnTo>
                  <a:cubicBezTo>
                    <a:pt x="0" y="23404"/>
                    <a:pt x="3356" y="15303"/>
                    <a:pt x="9329" y="9329"/>
                  </a:cubicBezTo>
                  <a:cubicBezTo>
                    <a:pt x="15303" y="3356"/>
                    <a:pt x="23404" y="0"/>
                    <a:pt x="31852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728410" cy="378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p-value: 0.000</a:t>
              </a:r>
            </a:p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Cramér's V (효과 크기): 0.137048943939149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157244" y="2756446"/>
            <a:ext cx="426152" cy="409106"/>
          </a:xfrm>
          <a:custGeom>
            <a:avLst/>
            <a:gdLst/>
            <a:ahLst/>
            <a:cxnLst/>
            <a:rect r="r" b="b" t="t" l="l"/>
            <a:pathLst>
              <a:path h="409106" w="426152">
                <a:moveTo>
                  <a:pt x="0" y="0"/>
                </a:moveTo>
                <a:lnTo>
                  <a:pt x="426152" y="0"/>
                </a:lnTo>
                <a:lnTo>
                  <a:pt x="426152" y="409106"/>
                </a:lnTo>
                <a:lnTo>
                  <a:pt x="0" y="409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05761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스케일링 &amp; 원핫인코딩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31682" y="3516715"/>
            <a:ext cx="5833614" cy="4364607"/>
            <a:chOff x="0" y="0"/>
            <a:chExt cx="1396444" cy="1044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6445" cy="1044795"/>
            </a:xfrm>
            <a:custGeom>
              <a:avLst/>
              <a:gdLst/>
              <a:ahLst/>
              <a:cxnLst/>
              <a:rect r="r" b="b" t="t" l="l"/>
              <a:pathLst>
                <a:path h="1044795" w="1396445">
                  <a:moveTo>
                    <a:pt x="35832" y="0"/>
                  </a:moveTo>
                  <a:lnTo>
                    <a:pt x="1360612" y="0"/>
                  </a:lnTo>
                  <a:cubicBezTo>
                    <a:pt x="1370115" y="0"/>
                    <a:pt x="1379230" y="3775"/>
                    <a:pt x="1385950" y="10495"/>
                  </a:cubicBezTo>
                  <a:cubicBezTo>
                    <a:pt x="1392669" y="17215"/>
                    <a:pt x="1396445" y="26329"/>
                    <a:pt x="1396445" y="35832"/>
                  </a:cubicBezTo>
                  <a:lnTo>
                    <a:pt x="1396445" y="1008963"/>
                  </a:lnTo>
                  <a:cubicBezTo>
                    <a:pt x="1396445" y="1018466"/>
                    <a:pt x="1392669" y="1027580"/>
                    <a:pt x="1385950" y="1034300"/>
                  </a:cubicBezTo>
                  <a:cubicBezTo>
                    <a:pt x="1379230" y="1041020"/>
                    <a:pt x="1370115" y="1044795"/>
                    <a:pt x="1360612" y="1044795"/>
                  </a:cubicBezTo>
                  <a:lnTo>
                    <a:pt x="35832" y="1044795"/>
                  </a:lnTo>
                  <a:cubicBezTo>
                    <a:pt x="26329" y="1044795"/>
                    <a:pt x="17215" y="1041020"/>
                    <a:pt x="10495" y="1034300"/>
                  </a:cubicBezTo>
                  <a:cubicBezTo>
                    <a:pt x="3775" y="1027580"/>
                    <a:pt x="0" y="1018466"/>
                    <a:pt x="0" y="1008963"/>
                  </a:cubicBezTo>
                  <a:lnTo>
                    <a:pt x="0" y="35832"/>
                  </a:lnTo>
                  <a:cubicBezTo>
                    <a:pt x="0" y="26329"/>
                    <a:pt x="3775" y="17215"/>
                    <a:pt x="10495" y="10495"/>
                  </a:cubicBezTo>
                  <a:cubicBezTo>
                    <a:pt x="17215" y="3775"/>
                    <a:pt x="26329" y="0"/>
                    <a:pt x="35832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96444" cy="1111470"/>
            </a:xfrm>
            <a:prstGeom prst="rect">
              <a:avLst/>
            </a:prstGeom>
          </p:spPr>
          <p:txBody>
            <a:bodyPr anchor="ctr" rtlCol="false" tIns="55892" lIns="55892" bIns="55892" rIns="55892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891317" y="4017998"/>
            <a:ext cx="4116308" cy="264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</a:p>
          <a:p>
            <a:pPr algn="ctr">
              <a:lnSpc>
                <a:spcPts val="3542"/>
              </a:lnSpc>
              <a:spcBef>
                <a:spcPct val="0"/>
              </a:spcBef>
            </a:pP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'payment_type'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'seller_state'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'customer_state'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275352" y="3516715"/>
            <a:ext cx="9844222" cy="4364607"/>
            <a:chOff x="0" y="0"/>
            <a:chExt cx="2592717" cy="11495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2717" cy="1149526"/>
            </a:xfrm>
            <a:custGeom>
              <a:avLst/>
              <a:gdLst/>
              <a:ahLst/>
              <a:cxnLst/>
              <a:rect r="r" b="b" t="t" l="l"/>
              <a:pathLst>
                <a:path h="1149526" w="2592717">
                  <a:moveTo>
                    <a:pt x="21234" y="0"/>
                  </a:moveTo>
                  <a:lnTo>
                    <a:pt x="2571483" y="0"/>
                  </a:lnTo>
                  <a:cubicBezTo>
                    <a:pt x="2583210" y="0"/>
                    <a:pt x="2592717" y="9507"/>
                    <a:pt x="2592717" y="21234"/>
                  </a:cubicBezTo>
                  <a:lnTo>
                    <a:pt x="2592717" y="1128292"/>
                  </a:lnTo>
                  <a:cubicBezTo>
                    <a:pt x="2592717" y="1133924"/>
                    <a:pt x="2590480" y="1139325"/>
                    <a:pt x="2586498" y="1143307"/>
                  </a:cubicBezTo>
                  <a:cubicBezTo>
                    <a:pt x="2582515" y="1147289"/>
                    <a:pt x="2577115" y="1149526"/>
                    <a:pt x="2571483" y="1149526"/>
                  </a:cubicBezTo>
                  <a:lnTo>
                    <a:pt x="21234" y="1149526"/>
                  </a:lnTo>
                  <a:cubicBezTo>
                    <a:pt x="9507" y="1149526"/>
                    <a:pt x="0" y="1140019"/>
                    <a:pt x="0" y="1128292"/>
                  </a:cubicBezTo>
                  <a:lnTo>
                    <a:pt x="0" y="21234"/>
                  </a:lnTo>
                  <a:cubicBezTo>
                    <a:pt x="0" y="9507"/>
                    <a:pt x="9507" y="0"/>
                    <a:pt x="21234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2717" cy="118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17325" y="3185464"/>
            <a:ext cx="5282097" cy="634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'log_price'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'log_freight'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'log_product_weight_g'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'log_product_length_cm'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'log_product_height_cm'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'log_product_width_cm'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'log_payment_value'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'road_distance_km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'days_to_payment'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'days_to_ship'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'days_until_limit'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63616" y="3185464"/>
            <a:ext cx="5553709" cy="52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'order_purchase_timestamp_month'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'order_purchase_timestamp_day_of_week'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'order_purchase_timestamp_hour'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'order_approved_at_month'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'order_approved_at_day_of_week'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‘order_approved_at_hour'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'order_delivered_carrier_date_month'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'order_delivered_carrier_date_day_of_week'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'order_delivered_carrier_date_hour'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'shipping_limit_date_month'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'shipping_limit_date_day_of_week'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'shipping_limit_date_hour'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273528" y="2801289"/>
            <a:ext cx="58336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원핫인코딩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3616" y="2834309"/>
            <a:ext cx="130961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스케일링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1028700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88889" y="2445086"/>
            <a:ext cx="7534172" cy="4384952"/>
          </a:xfrm>
          <a:custGeom>
            <a:avLst/>
            <a:gdLst/>
            <a:ahLst/>
            <a:cxnLst/>
            <a:rect r="r" b="b" t="t" l="l"/>
            <a:pathLst>
              <a:path h="4384952" w="7534172">
                <a:moveTo>
                  <a:pt x="0" y="0"/>
                </a:moveTo>
                <a:lnTo>
                  <a:pt x="7534173" y="0"/>
                </a:lnTo>
                <a:lnTo>
                  <a:pt x="7534173" y="4384952"/>
                </a:lnTo>
                <a:lnTo>
                  <a:pt x="0" y="4384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5" t="-483" r="0" b="-519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04257" y="2445086"/>
            <a:ext cx="7834104" cy="4384952"/>
          </a:xfrm>
          <a:custGeom>
            <a:avLst/>
            <a:gdLst/>
            <a:ahLst/>
            <a:cxnLst/>
            <a:rect r="r" b="b" t="t" l="l"/>
            <a:pathLst>
              <a:path h="4384952" w="7834104">
                <a:moveTo>
                  <a:pt x="0" y="0"/>
                </a:moveTo>
                <a:lnTo>
                  <a:pt x="7834105" y="0"/>
                </a:lnTo>
                <a:lnTo>
                  <a:pt x="7834105" y="4384952"/>
                </a:lnTo>
                <a:lnTo>
                  <a:pt x="0" y="43849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02" t="-483" r="0" b="-451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159119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ols 결과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21043" y="7097638"/>
            <a:ext cx="8001675" cy="2736533"/>
            <a:chOff x="0" y="0"/>
            <a:chExt cx="2107437" cy="720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7437" cy="720733"/>
            </a:xfrm>
            <a:custGeom>
              <a:avLst/>
              <a:gdLst/>
              <a:ahLst/>
              <a:cxnLst/>
              <a:rect r="r" b="b" t="t" l="l"/>
              <a:pathLst>
                <a:path h="720733" w="2107437">
                  <a:moveTo>
                    <a:pt x="26124" y="0"/>
                  </a:moveTo>
                  <a:lnTo>
                    <a:pt x="2081313" y="0"/>
                  </a:lnTo>
                  <a:cubicBezTo>
                    <a:pt x="2088242" y="0"/>
                    <a:pt x="2094886" y="2752"/>
                    <a:pt x="2099785" y="7651"/>
                  </a:cubicBezTo>
                  <a:cubicBezTo>
                    <a:pt x="2104685" y="12551"/>
                    <a:pt x="2107437" y="19195"/>
                    <a:pt x="2107437" y="26124"/>
                  </a:cubicBezTo>
                  <a:lnTo>
                    <a:pt x="2107437" y="694609"/>
                  </a:lnTo>
                  <a:cubicBezTo>
                    <a:pt x="2107437" y="709037"/>
                    <a:pt x="2095741" y="720733"/>
                    <a:pt x="2081313" y="720733"/>
                  </a:cubicBezTo>
                  <a:lnTo>
                    <a:pt x="26124" y="720733"/>
                  </a:lnTo>
                  <a:cubicBezTo>
                    <a:pt x="19195" y="720733"/>
                    <a:pt x="12551" y="717981"/>
                    <a:pt x="7651" y="713081"/>
                  </a:cubicBezTo>
                  <a:cubicBezTo>
                    <a:pt x="2752" y="708182"/>
                    <a:pt x="0" y="701538"/>
                    <a:pt x="0" y="694609"/>
                  </a:cubicBezTo>
                  <a:lnTo>
                    <a:pt x="0" y="26124"/>
                  </a:lnTo>
                  <a:cubicBezTo>
                    <a:pt x="0" y="19195"/>
                    <a:pt x="2752" y="12551"/>
                    <a:pt x="7651" y="7651"/>
                  </a:cubicBezTo>
                  <a:cubicBezTo>
                    <a:pt x="12551" y="2752"/>
                    <a:pt x="19195" y="0"/>
                    <a:pt x="26124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07437" cy="777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모델 성능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 = 0.2 → 설명력 낮음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RMSE = 6.2→ 실제 지연값과 차이는 작지만 예측력 제한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결론: 참고용 분석 수준, 실제 예측에는 한계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543786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7322" y="3590745"/>
            <a:ext cx="7876678" cy="3359171"/>
            <a:chOff x="0" y="0"/>
            <a:chExt cx="2074516" cy="884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4516" cy="884720"/>
            </a:xfrm>
            <a:custGeom>
              <a:avLst/>
              <a:gdLst/>
              <a:ahLst/>
              <a:cxnLst/>
              <a:rect r="r" b="b" t="t" l="l"/>
              <a:pathLst>
                <a:path h="884720" w="2074516">
                  <a:moveTo>
                    <a:pt x="26538" y="0"/>
                  </a:moveTo>
                  <a:lnTo>
                    <a:pt x="2047978" y="0"/>
                  </a:lnTo>
                  <a:cubicBezTo>
                    <a:pt x="2055016" y="0"/>
                    <a:pt x="2061766" y="2796"/>
                    <a:pt x="2066743" y="7773"/>
                  </a:cubicBezTo>
                  <a:cubicBezTo>
                    <a:pt x="2071720" y="12750"/>
                    <a:pt x="2074516" y="19500"/>
                    <a:pt x="2074516" y="26538"/>
                  </a:cubicBezTo>
                  <a:lnTo>
                    <a:pt x="2074516" y="858182"/>
                  </a:lnTo>
                  <a:cubicBezTo>
                    <a:pt x="2074516" y="865220"/>
                    <a:pt x="2071720" y="871970"/>
                    <a:pt x="2066743" y="876947"/>
                  </a:cubicBezTo>
                  <a:cubicBezTo>
                    <a:pt x="2061766" y="881924"/>
                    <a:pt x="2055016" y="884720"/>
                    <a:pt x="2047978" y="884720"/>
                  </a:cubicBezTo>
                  <a:lnTo>
                    <a:pt x="26538" y="884720"/>
                  </a:lnTo>
                  <a:cubicBezTo>
                    <a:pt x="19500" y="884720"/>
                    <a:pt x="12750" y="881924"/>
                    <a:pt x="7773" y="876947"/>
                  </a:cubicBezTo>
                  <a:cubicBezTo>
                    <a:pt x="2796" y="871970"/>
                    <a:pt x="0" y="865220"/>
                    <a:pt x="0" y="858182"/>
                  </a:cubicBezTo>
                  <a:lnTo>
                    <a:pt x="0" y="26538"/>
                  </a:lnTo>
                  <a:cubicBezTo>
                    <a:pt x="0" y="19500"/>
                    <a:pt x="2796" y="12750"/>
                    <a:pt x="7773" y="7773"/>
                  </a:cubicBezTo>
                  <a:cubicBezTo>
                    <a:pt x="12750" y="2796"/>
                    <a:pt x="19500" y="0"/>
                    <a:pt x="26538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74516" cy="941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연속형 변수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배송 마감일·주문 승인 월이 특정 월일수록 배송 지연 ↑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→ 시즌·계절적 요인 영향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배송</a:t>
              </a: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마감 대비 출고 여유일↑→ 지연 ↓(가장 강한 신호)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6068" y="3655520"/>
            <a:ext cx="7876678" cy="3294396"/>
            <a:chOff x="0" y="0"/>
            <a:chExt cx="2074516" cy="8676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4516" cy="867660"/>
            </a:xfrm>
            <a:custGeom>
              <a:avLst/>
              <a:gdLst/>
              <a:ahLst/>
              <a:cxnLst/>
              <a:rect r="r" b="b" t="t" l="l"/>
              <a:pathLst>
                <a:path h="867660" w="2074516">
                  <a:moveTo>
                    <a:pt x="26538" y="0"/>
                  </a:moveTo>
                  <a:lnTo>
                    <a:pt x="2047978" y="0"/>
                  </a:lnTo>
                  <a:cubicBezTo>
                    <a:pt x="2055016" y="0"/>
                    <a:pt x="2061766" y="2796"/>
                    <a:pt x="2066743" y="7773"/>
                  </a:cubicBezTo>
                  <a:cubicBezTo>
                    <a:pt x="2071720" y="12750"/>
                    <a:pt x="2074516" y="19500"/>
                    <a:pt x="2074516" y="26538"/>
                  </a:cubicBezTo>
                  <a:lnTo>
                    <a:pt x="2074516" y="841122"/>
                  </a:lnTo>
                  <a:cubicBezTo>
                    <a:pt x="2074516" y="848160"/>
                    <a:pt x="2071720" y="854910"/>
                    <a:pt x="2066743" y="859887"/>
                  </a:cubicBezTo>
                  <a:cubicBezTo>
                    <a:pt x="2061766" y="864864"/>
                    <a:pt x="2055016" y="867660"/>
                    <a:pt x="2047978" y="867660"/>
                  </a:cubicBezTo>
                  <a:lnTo>
                    <a:pt x="26538" y="867660"/>
                  </a:lnTo>
                  <a:cubicBezTo>
                    <a:pt x="19500" y="867660"/>
                    <a:pt x="12750" y="864864"/>
                    <a:pt x="7773" y="859887"/>
                  </a:cubicBezTo>
                  <a:cubicBezTo>
                    <a:pt x="2796" y="854910"/>
                    <a:pt x="0" y="848160"/>
                    <a:pt x="0" y="841122"/>
                  </a:cubicBezTo>
                  <a:lnTo>
                    <a:pt x="0" y="26538"/>
                  </a:lnTo>
                  <a:cubicBezTo>
                    <a:pt x="0" y="19500"/>
                    <a:pt x="2796" y="12750"/>
                    <a:pt x="7773" y="7773"/>
                  </a:cubicBezTo>
                  <a:cubicBezTo>
                    <a:pt x="12750" y="2796"/>
                    <a:pt x="19500" y="0"/>
                    <a:pt x="26538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74516" cy="92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범주형 변수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주문/판매 지역(State)이 가장 큰 영향</a:t>
              </a: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customer_state_PA → 배송 지연 ↑</a:t>
              </a: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seller_state_PB → 배송 지연 ↓</a:t>
              </a:r>
            </a:p>
            <a:p>
              <a:pPr algn="ctr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결제 수단(payment_type) 영향은 미미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1028476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중요 변수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8874" y="2168838"/>
            <a:ext cx="8610518" cy="3628763"/>
            <a:chOff x="0" y="0"/>
            <a:chExt cx="2267791" cy="9557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7791" cy="955723"/>
            </a:xfrm>
            <a:custGeom>
              <a:avLst/>
              <a:gdLst/>
              <a:ahLst/>
              <a:cxnLst/>
              <a:rect r="r" b="b" t="t" l="l"/>
              <a:pathLst>
                <a:path h="955723" w="2267791">
                  <a:moveTo>
                    <a:pt x="24276" y="0"/>
                  </a:moveTo>
                  <a:lnTo>
                    <a:pt x="2243514" y="0"/>
                  </a:lnTo>
                  <a:cubicBezTo>
                    <a:pt x="2249953" y="0"/>
                    <a:pt x="2256128" y="2558"/>
                    <a:pt x="2260680" y="7110"/>
                  </a:cubicBezTo>
                  <a:cubicBezTo>
                    <a:pt x="2265233" y="11663"/>
                    <a:pt x="2267791" y="17838"/>
                    <a:pt x="2267791" y="24276"/>
                  </a:cubicBezTo>
                  <a:lnTo>
                    <a:pt x="2267791" y="931447"/>
                  </a:lnTo>
                  <a:cubicBezTo>
                    <a:pt x="2267791" y="937886"/>
                    <a:pt x="2265233" y="944060"/>
                    <a:pt x="2260680" y="948613"/>
                  </a:cubicBezTo>
                  <a:cubicBezTo>
                    <a:pt x="2256128" y="953166"/>
                    <a:pt x="2249953" y="955723"/>
                    <a:pt x="2243514" y="955723"/>
                  </a:cubicBezTo>
                  <a:lnTo>
                    <a:pt x="24276" y="955723"/>
                  </a:lnTo>
                  <a:cubicBezTo>
                    <a:pt x="17838" y="955723"/>
                    <a:pt x="11663" y="953166"/>
                    <a:pt x="7110" y="948613"/>
                  </a:cubicBezTo>
                  <a:cubicBezTo>
                    <a:pt x="2558" y="944060"/>
                    <a:pt x="0" y="937886"/>
                    <a:pt x="0" y="931447"/>
                  </a:cubicBezTo>
                  <a:lnTo>
                    <a:pt x="0" y="24276"/>
                  </a:lnTo>
                  <a:cubicBezTo>
                    <a:pt x="0" y="17838"/>
                    <a:pt x="2558" y="11663"/>
                    <a:pt x="7110" y="7110"/>
                  </a:cubicBezTo>
                  <a:cubicBezTo>
                    <a:pt x="11663" y="2558"/>
                    <a:pt x="17838" y="0"/>
                    <a:pt x="24276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67791" cy="1012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RandomForestRegressor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GradientBoostingRegressor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XGBRegressor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LGBMRegressor</a:t>
              </a:r>
            </a:p>
            <a:p>
              <a:pPr algn="ctr">
                <a:lnSpc>
                  <a:spcPts val="2940"/>
                </a:lnSpc>
              </a:pPr>
            </a:p>
            <a:p>
              <a:pPr algn="l" marL="496571" indent="-248285" lvl="1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로그 복원: Tree에서는 원래 값 사용 (OLS는 로그 변환 상태 사용)</a:t>
              </a:r>
            </a:p>
            <a:p>
              <a:pPr algn="l" marL="496571" indent="-248285" lvl="1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스케일링: Tree는 스케일링 안함 (OLS는 StandardScaler 적용)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8874" y="6338006"/>
            <a:ext cx="8610518" cy="2353169"/>
            <a:chOff x="0" y="0"/>
            <a:chExt cx="2267791" cy="6197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7791" cy="619765"/>
            </a:xfrm>
            <a:custGeom>
              <a:avLst/>
              <a:gdLst/>
              <a:ahLst/>
              <a:cxnLst/>
              <a:rect r="r" b="b" t="t" l="l"/>
              <a:pathLst>
                <a:path h="619765" w="2267791">
                  <a:moveTo>
                    <a:pt x="24276" y="0"/>
                  </a:moveTo>
                  <a:lnTo>
                    <a:pt x="2243514" y="0"/>
                  </a:lnTo>
                  <a:cubicBezTo>
                    <a:pt x="2249953" y="0"/>
                    <a:pt x="2256128" y="2558"/>
                    <a:pt x="2260680" y="7110"/>
                  </a:cubicBezTo>
                  <a:cubicBezTo>
                    <a:pt x="2265233" y="11663"/>
                    <a:pt x="2267791" y="17838"/>
                    <a:pt x="2267791" y="24276"/>
                  </a:cubicBezTo>
                  <a:lnTo>
                    <a:pt x="2267791" y="595488"/>
                  </a:lnTo>
                  <a:cubicBezTo>
                    <a:pt x="2267791" y="601927"/>
                    <a:pt x="2265233" y="608102"/>
                    <a:pt x="2260680" y="612654"/>
                  </a:cubicBezTo>
                  <a:cubicBezTo>
                    <a:pt x="2256128" y="617207"/>
                    <a:pt x="2249953" y="619765"/>
                    <a:pt x="2243514" y="619765"/>
                  </a:cubicBezTo>
                  <a:lnTo>
                    <a:pt x="24276" y="619765"/>
                  </a:lnTo>
                  <a:cubicBezTo>
                    <a:pt x="17838" y="619765"/>
                    <a:pt x="11663" y="617207"/>
                    <a:pt x="7110" y="612654"/>
                  </a:cubicBezTo>
                  <a:cubicBezTo>
                    <a:pt x="2558" y="608102"/>
                    <a:pt x="0" y="601927"/>
                    <a:pt x="0" y="595488"/>
                  </a:cubicBezTo>
                  <a:lnTo>
                    <a:pt x="0" y="24276"/>
                  </a:lnTo>
                  <a:cubicBezTo>
                    <a:pt x="0" y="17838"/>
                    <a:pt x="2558" y="11663"/>
                    <a:pt x="7110" y="7110"/>
                  </a:cubicBezTo>
                  <a:cubicBezTo>
                    <a:pt x="11663" y="2558"/>
                    <a:pt x="17838" y="0"/>
                    <a:pt x="24276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267791" cy="676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CatBoostRegressor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로그 복원: Tree에서는 원래 값 사용 (OLS는 로그 변환 상태 사용)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스케일링: Tree는 스케일링 안함 (OLS는 StandardScaler 적용)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인코딩 안함</a:t>
              </a: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seller_city와 customer_city 추가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0596390" y="2442595"/>
          <a:ext cx="6011666" cy="5936666"/>
        </p:xfrm>
        <a:graphic>
          <a:graphicData uri="http://schemas.openxmlformats.org/drawingml/2006/table">
            <a:tbl>
              <a:tblPr/>
              <a:tblGrid>
                <a:gridCol w="2336522"/>
                <a:gridCol w="1959956"/>
                <a:gridCol w="1715188"/>
              </a:tblGrid>
              <a:tr h="10257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R2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RF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0.41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5.47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2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0.32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5.59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2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XGB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5.53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2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LGBM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각진펜"/>
                          <a:ea typeface="각진펜"/>
                          <a:cs typeface="각진펜"/>
                          <a:sym typeface="각진펜"/>
                        </a:rPr>
                        <a:t>5.58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2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CatBoostRegressor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F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0.43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F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각진펜 Bold"/>
                          <a:ea typeface="각진펜 Bold"/>
                          <a:cs typeface="각진펜 Bold"/>
                          <a:sym typeface="각진펜 Bold"/>
                        </a:rPr>
                        <a:t>5.34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FF5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0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트리 모델 회귀 분석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96390" y="7274686"/>
            <a:ext cx="6009830" cy="1120415"/>
            <a:chOff x="0" y="0"/>
            <a:chExt cx="8013107" cy="1493886"/>
          </a:xfrm>
        </p:grpSpPr>
        <p:sp>
          <p:nvSpPr>
            <p:cNvPr name="AutoShape 18" id="18"/>
            <p:cNvSpPr/>
            <p:nvPr/>
          </p:nvSpPr>
          <p:spPr>
            <a:xfrm flipV="true">
              <a:off x="7938538" y="52943"/>
              <a:ext cx="22244" cy="1412547"/>
            </a:xfrm>
            <a:prstGeom prst="line">
              <a:avLst/>
            </a:prstGeom>
            <a:ln cap="flat" w="104664">
              <a:solidFill>
                <a:srgbClr val="C119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39419" y="52332"/>
              <a:ext cx="7967610" cy="0"/>
            </a:xfrm>
            <a:prstGeom prst="line">
              <a:avLst/>
            </a:prstGeom>
            <a:ln cap="flat" w="104664">
              <a:solidFill>
                <a:srgbClr val="C119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52325" y="73078"/>
              <a:ext cx="22119" cy="1412547"/>
            </a:xfrm>
            <a:prstGeom prst="line">
              <a:avLst/>
            </a:prstGeom>
            <a:ln cap="flat" w="104664">
              <a:solidFill>
                <a:srgbClr val="C1195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87700" y="1441554"/>
              <a:ext cx="7923125" cy="0"/>
            </a:xfrm>
            <a:prstGeom prst="line">
              <a:avLst/>
            </a:prstGeom>
            <a:ln cap="flat" w="104664">
              <a:solidFill>
                <a:srgbClr val="C11954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237" y="543786"/>
            <a:ext cx="16672477" cy="1265838"/>
            <a:chOff x="0" y="0"/>
            <a:chExt cx="4391105" cy="333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9033" y="2154398"/>
            <a:ext cx="4498663" cy="5506837"/>
          </a:xfrm>
          <a:custGeom>
            <a:avLst/>
            <a:gdLst/>
            <a:ahLst/>
            <a:cxnLst/>
            <a:rect r="r" b="b" t="t" l="l"/>
            <a:pathLst>
              <a:path h="5506837" w="4498663">
                <a:moveTo>
                  <a:pt x="0" y="0"/>
                </a:moveTo>
                <a:lnTo>
                  <a:pt x="4498664" y="0"/>
                </a:lnTo>
                <a:lnTo>
                  <a:pt x="4498664" y="5506837"/>
                </a:lnTo>
                <a:lnTo>
                  <a:pt x="0" y="550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7" t="0" r="-16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89168" y="2154398"/>
            <a:ext cx="4543563" cy="5506837"/>
          </a:xfrm>
          <a:custGeom>
            <a:avLst/>
            <a:gdLst/>
            <a:ahLst/>
            <a:cxnLst/>
            <a:rect r="r" b="b" t="t" l="l"/>
            <a:pathLst>
              <a:path h="5506837" w="4543563">
                <a:moveTo>
                  <a:pt x="0" y="0"/>
                </a:moveTo>
                <a:lnTo>
                  <a:pt x="4543563" y="0"/>
                </a:lnTo>
                <a:lnTo>
                  <a:pt x="4543563" y="5506837"/>
                </a:lnTo>
                <a:lnTo>
                  <a:pt x="0" y="5506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7" t="0" r="-1207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47273" y="7995715"/>
            <a:ext cx="11400182" cy="1210125"/>
            <a:chOff x="0" y="0"/>
            <a:chExt cx="3002517" cy="318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02517" cy="318716"/>
            </a:xfrm>
            <a:custGeom>
              <a:avLst/>
              <a:gdLst/>
              <a:ahLst/>
              <a:cxnLst/>
              <a:rect r="r" b="b" t="t" l="l"/>
              <a:pathLst>
                <a:path h="318716" w="3002517">
                  <a:moveTo>
                    <a:pt x="18336" y="0"/>
                  </a:moveTo>
                  <a:lnTo>
                    <a:pt x="2984181" y="0"/>
                  </a:lnTo>
                  <a:cubicBezTo>
                    <a:pt x="2989044" y="0"/>
                    <a:pt x="2993708" y="1932"/>
                    <a:pt x="2997147" y="5370"/>
                  </a:cubicBezTo>
                  <a:cubicBezTo>
                    <a:pt x="3000585" y="8809"/>
                    <a:pt x="3002517" y="13473"/>
                    <a:pt x="3002517" y="18336"/>
                  </a:cubicBezTo>
                  <a:lnTo>
                    <a:pt x="3002517" y="300380"/>
                  </a:lnTo>
                  <a:cubicBezTo>
                    <a:pt x="3002517" y="305243"/>
                    <a:pt x="3000585" y="309907"/>
                    <a:pt x="2997147" y="313346"/>
                  </a:cubicBezTo>
                  <a:cubicBezTo>
                    <a:pt x="2993708" y="316784"/>
                    <a:pt x="2989044" y="318716"/>
                    <a:pt x="2984181" y="318716"/>
                  </a:cubicBezTo>
                  <a:lnTo>
                    <a:pt x="18336" y="318716"/>
                  </a:lnTo>
                  <a:cubicBezTo>
                    <a:pt x="13473" y="318716"/>
                    <a:pt x="8809" y="316784"/>
                    <a:pt x="5370" y="313346"/>
                  </a:cubicBezTo>
                  <a:cubicBezTo>
                    <a:pt x="1932" y="309907"/>
                    <a:pt x="0" y="305243"/>
                    <a:pt x="0" y="300380"/>
                  </a:cubicBezTo>
                  <a:lnTo>
                    <a:pt x="0" y="18336"/>
                  </a:lnTo>
                  <a:cubicBezTo>
                    <a:pt x="0" y="13473"/>
                    <a:pt x="1932" y="8809"/>
                    <a:pt x="5370" y="5370"/>
                  </a:cubicBezTo>
                  <a:cubicBezTo>
                    <a:pt x="8809" y="1932"/>
                    <a:pt x="13473" y="0"/>
                    <a:pt x="18336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002517" cy="37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배송</a:t>
              </a:r>
              <a:r>
                <a:rPr lang="en-US" sz="2499" b="true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마감대비 출고 여유일(days_until_limit)이 짧을수록 지연↑ (가장 강한 신호)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마감일, 주문 승인 특정 월에서 지연 ↑ 피크월일 때 지연일 ↑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26794" y="7912484"/>
            <a:ext cx="1663142" cy="1376587"/>
            <a:chOff x="0" y="0"/>
            <a:chExt cx="981995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1995" cy="812800"/>
            </a:xfrm>
            <a:custGeom>
              <a:avLst/>
              <a:gdLst/>
              <a:ahLst/>
              <a:cxnLst/>
              <a:rect r="r" b="b" t="t" l="l"/>
              <a:pathLst>
                <a:path h="812800" w="981995">
                  <a:moveTo>
                    <a:pt x="981995" y="406400"/>
                  </a:moveTo>
                  <a:lnTo>
                    <a:pt x="575595" y="0"/>
                  </a:lnTo>
                  <a:lnTo>
                    <a:pt x="57559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75595" y="609600"/>
                  </a:lnTo>
                  <a:lnTo>
                    <a:pt x="575595" y="812800"/>
                  </a:lnTo>
                  <a:lnTo>
                    <a:pt x="981995" y="406400"/>
                  </a:lnTo>
                  <a:close/>
                </a:path>
              </a:pathLst>
            </a:custGeom>
            <a:solidFill>
              <a:srgbClr val="DBE9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65100"/>
              <a:ext cx="88039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각진펜"/>
                  <a:ea typeface="각진펜"/>
                  <a:cs typeface="각진펜"/>
                  <a:sym typeface="각진펜"/>
                </a:rPr>
                <a:t>OLS와 공통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40129" y="3034760"/>
            <a:ext cx="5965956" cy="3746113"/>
            <a:chOff x="0" y="0"/>
            <a:chExt cx="1531053" cy="9613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1052" cy="961371"/>
            </a:xfrm>
            <a:custGeom>
              <a:avLst/>
              <a:gdLst/>
              <a:ahLst/>
              <a:cxnLst/>
              <a:rect r="r" b="b" t="t" l="l"/>
              <a:pathLst>
                <a:path h="961371" w="1531052">
                  <a:moveTo>
                    <a:pt x="35037" y="0"/>
                  </a:moveTo>
                  <a:lnTo>
                    <a:pt x="1496015" y="0"/>
                  </a:lnTo>
                  <a:cubicBezTo>
                    <a:pt x="1515366" y="0"/>
                    <a:pt x="1531052" y="15687"/>
                    <a:pt x="1531052" y="35037"/>
                  </a:cubicBezTo>
                  <a:lnTo>
                    <a:pt x="1531052" y="926333"/>
                  </a:lnTo>
                  <a:cubicBezTo>
                    <a:pt x="1531052" y="945684"/>
                    <a:pt x="1515366" y="961371"/>
                    <a:pt x="1496015" y="961371"/>
                  </a:cubicBezTo>
                  <a:lnTo>
                    <a:pt x="35037" y="961371"/>
                  </a:lnTo>
                  <a:cubicBezTo>
                    <a:pt x="15687" y="961371"/>
                    <a:pt x="0" y="945684"/>
                    <a:pt x="0" y="926333"/>
                  </a:cubicBezTo>
                  <a:lnTo>
                    <a:pt x="0" y="35037"/>
                  </a:lnTo>
                  <a:cubicBezTo>
                    <a:pt x="0" y="15687"/>
                    <a:pt x="15687" y="0"/>
                    <a:pt x="35037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31053" cy="999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46224" y="3175289"/>
            <a:ext cx="4860195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하이퍼 파라미터 </a:t>
            </a:r>
          </a:p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→ RandomizedSearchCV로 선정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평가지표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→ </a:t>
            </a: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최적 RMSE (훈련 셋 기준): 5.29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→ 테스트 RMSE: 5.26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→ 테스트 R²: 0.466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81453" y="6007761"/>
            <a:ext cx="943098" cy="667028"/>
          </a:xfrm>
          <a:custGeom>
            <a:avLst/>
            <a:gdLst/>
            <a:ahLst/>
            <a:cxnLst/>
            <a:rect r="r" b="b" t="t" l="l"/>
            <a:pathLst>
              <a:path h="667028" w="943098">
                <a:moveTo>
                  <a:pt x="0" y="0"/>
                </a:moveTo>
                <a:lnTo>
                  <a:pt x="943099" y="0"/>
                </a:lnTo>
                <a:lnTo>
                  <a:pt x="943099" y="667027"/>
                </a:lnTo>
                <a:lnTo>
                  <a:pt x="0" y="6670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846224" y="6103785"/>
            <a:ext cx="4860195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약 46.6%의 지연일 변동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27" y="808405"/>
            <a:ext cx="651205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회귀 - 트리 모델 회귀 분석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543786"/>
            <a:ext cx="16672477" cy="8979906"/>
            <a:chOff x="0" y="0"/>
            <a:chExt cx="4391105" cy="2365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2365078"/>
            </a:xfrm>
            <a:custGeom>
              <a:avLst/>
              <a:gdLst/>
              <a:ahLst/>
              <a:cxnLst/>
              <a:rect r="r" b="b" t="t" l="l"/>
              <a:pathLst>
                <a:path h="236507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65078"/>
                  </a:lnTo>
                  <a:lnTo>
                    <a:pt x="0" y="236507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240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0716" y="3983130"/>
            <a:ext cx="13884470" cy="2033530"/>
            <a:chOff x="0" y="0"/>
            <a:chExt cx="18512626" cy="271137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512626" cy="2711373"/>
              <a:chOff x="0" y="0"/>
              <a:chExt cx="3662885" cy="53646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62885" cy="536469"/>
              </a:xfrm>
              <a:custGeom>
                <a:avLst/>
                <a:gdLst/>
                <a:ahLst/>
                <a:cxnLst/>
                <a:rect r="r" b="b" t="t" l="l"/>
                <a:pathLst>
                  <a:path h="536469" w="3662885">
                    <a:moveTo>
                      <a:pt x="15055" y="0"/>
                    </a:moveTo>
                    <a:lnTo>
                      <a:pt x="3647830" y="0"/>
                    </a:lnTo>
                    <a:cubicBezTo>
                      <a:pt x="3656145" y="0"/>
                      <a:pt x="3662885" y="6740"/>
                      <a:pt x="3662885" y="15055"/>
                    </a:cubicBezTo>
                    <a:lnTo>
                      <a:pt x="3662885" y="521414"/>
                    </a:lnTo>
                    <a:cubicBezTo>
                      <a:pt x="3662885" y="525407"/>
                      <a:pt x="3661299" y="529236"/>
                      <a:pt x="3658476" y="532059"/>
                    </a:cubicBezTo>
                    <a:cubicBezTo>
                      <a:pt x="3655652" y="534883"/>
                      <a:pt x="3651823" y="536469"/>
                      <a:pt x="3647830" y="536469"/>
                    </a:cubicBezTo>
                    <a:lnTo>
                      <a:pt x="15055" y="536469"/>
                    </a:lnTo>
                    <a:cubicBezTo>
                      <a:pt x="6740" y="536469"/>
                      <a:pt x="0" y="529728"/>
                      <a:pt x="0" y="521414"/>
                    </a:cubicBezTo>
                    <a:lnTo>
                      <a:pt x="0" y="15055"/>
                    </a:lnTo>
                    <a:cubicBezTo>
                      <a:pt x="0" y="6740"/>
                      <a:pt x="6740" y="0"/>
                      <a:pt x="15055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662885" cy="574569"/>
              </a:xfrm>
              <a:prstGeom prst="rect">
                <a:avLst/>
              </a:prstGeom>
            </p:spPr>
            <p:txBody>
              <a:bodyPr anchor="ctr" rtlCol="false" tIns="50716" lIns="50716" bIns="50716" rIns="5071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464" y="1166665"/>
              <a:ext cx="18345830" cy="684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3"/>
                </a:lnSpc>
                <a:spcBef>
                  <a:spcPct val="0"/>
                </a:spcBef>
              </a:pPr>
              <a:r>
                <a:rPr lang="en-US" sz="2995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파악한 요인과 추가 변수를 넣어서 지연 유형을 분류하고 유형별 개선 전략을 도출한다.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46206" y="4155515"/>
            <a:ext cx="2559494" cy="33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5"/>
              </a:lnSpc>
              <a:spcBef>
                <a:spcPct val="0"/>
              </a:spcBef>
            </a:pPr>
            <a:r>
              <a:rPr lang="en-US" b="true" sz="1996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군집 분석 목표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303407" y="4034992"/>
            <a:ext cx="485599" cy="470424"/>
          </a:xfrm>
          <a:custGeom>
            <a:avLst/>
            <a:gdLst/>
            <a:ahLst/>
            <a:cxnLst/>
            <a:rect r="r" b="b" t="t" l="l"/>
            <a:pathLst>
              <a:path h="470424" w="485599">
                <a:moveTo>
                  <a:pt x="0" y="0"/>
                </a:moveTo>
                <a:lnTo>
                  <a:pt x="485598" y="0"/>
                </a:lnTo>
                <a:lnTo>
                  <a:pt x="485598" y="470424"/>
                </a:lnTo>
                <a:lnTo>
                  <a:pt x="0" y="470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743314" y="2783258"/>
            <a:ext cx="6116793" cy="6131933"/>
          </a:xfrm>
          <a:custGeom>
            <a:avLst/>
            <a:gdLst/>
            <a:ahLst/>
            <a:cxnLst/>
            <a:rect r="r" b="b" t="t" l="l"/>
            <a:pathLst>
              <a:path h="6131933" w="6116793">
                <a:moveTo>
                  <a:pt x="0" y="0"/>
                </a:moveTo>
                <a:lnTo>
                  <a:pt x="6116793" y="0"/>
                </a:lnTo>
                <a:lnTo>
                  <a:pt x="6116793" y="6131933"/>
                </a:lnTo>
                <a:lnTo>
                  <a:pt x="0" y="613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097514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군집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69485" y="4161905"/>
            <a:ext cx="5965956" cy="3885718"/>
            <a:chOff x="0" y="0"/>
            <a:chExt cx="1531053" cy="9971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31052" cy="997198"/>
            </a:xfrm>
            <a:custGeom>
              <a:avLst/>
              <a:gdLst/>
              <a:ahLst/>
              <a:cxnLst/>
              <a:rect r="r" b="b" t="t" l="l"/>
              <a:pathLst>
                <a:path h="997198" w="1531052">
                  <a:moveTo>
                    <a:pt x="35037" y="0"/>
                  </a:moveTo>
                  <a:lnTo>
                    <a:pt x="1496015" y="0"/>
                  </a:lnTo>
                  <a:cubicBezTo>
                    <a:pt x="1515366" y="0"/>
                    <a:pt x="1531052" y="15687"/>
                    <a:pt x="1531052" y="35037"/>
                  </a:cubicBezTo>
                  <a:lnTo>
                    <a:pt x="1531052" y="962160"/>
                  </a:lnTo>
                  <a:cubicBezTo>
                    <a:pt x="1531052" y="981511"/>
                    <a:pt x="1515366" y="997198"/>
                    <a:pt x="1496015" y="997198"/>
                  </a:cubicBezTo>
                  <a:lnTo>
                    <a:pt x="35037" y="997198"/>
                  </a:lnTo>
                  <a:cubicBezTo>
                    <a:pt x="15687" y="997198"/>
                    <a:pt x="0" y="981511"/>
                    <a:pt x="0" y="962160"/>
                  </a:cubicBezTo>
                  <a:lnTo>
                    <a:pt x="0" y="35037"/>
                  </a:lnTo>
                  <a:cubicBezTo>
                    <a:pt x="0" y="15687"/>
                    <a:pt x="15687" y="0"/>
                    <a:pt x="35037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31053" cy="1035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74319" y="4510954"/>
            <a:ext cx="5275700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전체 평균이 아닌 ‘지연 발생 패턴’의 구조</a:t>
            </a: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적 원인을 찾기 위함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전체의 93% 이상이 정상 배송, 군집 시 지연 특성 희석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074319" y="4530004"/>
            <a:ext cx="162231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분석 목적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4319" y="6173074"/>
            <a:ext cx="1814459" cy="39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데이터 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47604" y="3234198"/>
            <a:ext cx="4209717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spc="-58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전체 데이터  vs  지연 데이터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2521449" y="3864894"/>
            <a:ext cx="3467171" cy="2753215"/>
            <a:chOff x="0" y="0"/>
            <a:chExt cx="835045" cy="6630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60289" y="0"/>
                  </a:moveTo>
                  <a:lnTo>
                    <a:pt x="774757" y="0"/>
                  </a:lnTo>
                  <a:cubicBezTo>
                    <a:pt x="808053" y="0"/>
                    <a:pt x="835045" y="26992"/>
                    <a:pt x="835045" y="60289"/>
                  </a:cubicBezTo>
                  <a:lnTo>
                    <a:pt x="835045" y="602805"/>
                  </a:lnTo>
                  <a:cubicBezTo>
                    <a:pt x="835045" y="618794"/>
                    <a:pt x="828694" y="634129"/>
                    <a:pt x="817387" y="645436"/>
                  </a:cubicBezTo>
                  <a:cubicBezTo>
                    <a:pt x="806081" y="656742"/>
                    <a:pt x="790746" y="663094"/>
                    <a:pt x="774757" y="663094"/>
                  </a:cubicBezTo>
                  <a:lnTo>
                    <a:pt x="60289" y="663094"/>
                  </a:lnTo>
                  <a:cubicBezTo>
                    <a:pt x="26992" y="663094"/>
                    <a:pt x="0" y="636101"/>
                    <a:pt x="0" y="602805"/>
                  </a:cubicBezTo>
                  <a:lnTo>
                    <a:pt x="0" y="60289"/>
                  </a:lnTo>
                  <a:cubicBezTo>
                    <a:pt x="0" y="44299"/>
                    <a:pt x="6352" y="28965"/>
                    <a:pt x="17658" y="17658"/>
                  </a:cubicBezTo>
                  <a:cubicBezTo>
                    <a:pt x="28965" y="6352"/>
                    <a:pt x="44299" y="0"/>
                    <a:pt x="60289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70418" y="3864894"/>
            <a:ext cx="3467171" cy="2753215"/>
            <a:chOff x="0" y="0"/>
            <a:chExt cx="835045" cy="6630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60289" y="0"/>
                  </a:moveTo>
                  <a:lnTo>
                    <a:pt x="774757" y="0"/>
                  </a:lnTo>
                  <a:cubicBezTo>
                    <a:pt x="808053" y="0"/>
                    <a:pt x="835045" y="26992"/>
                    <a:pt x="835045" y="60289"/>
                  </a:cubicBezTo>
                  <a:lnTo>
                    <a:pt x="835045" y="602805"/>
                  </a:lnTo>
                  <a:cubicBezTo>
                    <a:pt x="835045" y="618794"/>
                    <a:pt x="828694" y="634129"/>
                    <a:pt x="817387" y="645436"/>
                  </a:cubicBezTo>
                  <a:cubicBezTo>
                    <a:pt x="806081" y="656742"/>
                    <a:pt x="790746" y="663094"/>
                    <a:pt x="774757" y="663094"/>
                  </a:cubicBezTo>
                  <a:lnTo>
                    <a:pt x="60289" y="663094"/>
                  </a:lnTo>
                  <a:cubicBezTo>
                    <a:pt x="26992" y="663094"/>
                    <a:pt x="0" y="636101"/>
                    <a:pt x="0" y="602805"/>
                  </a:cubicBezTo>
                  <a:lnTo>
                    <a:pt x="0" y="60289"/>
                  </a:lnTo>
                  <a:cubicBezTo>
                    <a:pt x="0" y="44299"/>
                    <a:pt x="6352" y="28965"/>
                    <a:pt x="17658" y="17658"/>
                  </a:cubicBezTo>
                  <a:cubicBezTo>
                    <a:pt x="28965" y="6352"/>
                    <a:pt x="44299" y="0"/>
                    <a:pt x="60289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44" y="3864894"/>
            <a:ext cx="3467171" cy="2753215"/>
            <a:chOff x="0" y="0"/>
            <a:chExt cx="835045" cy="663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5045" cy="663094"/>
            </a:xfrm>
            <a:custGeom>
              <a:avLst/>
              <a:gdLst/>
              <a:ahLst/>
              <a:cxnLst/>
              <a:rect r="r" b="b" t="t" l="l"/>
              <a:pathLst>
                <a:path h="663094" w="835045">
                  <a:moveTo>
                    <a:pt x="60289" y="0"/>
                  </a:moveTo>
                  <a:lnTo>
                    <a:pt x="774757" y="0"/>
                  </a:lnTo>
                  <a:cubicBezTo>
                    <a:pt x="808053" y="0"/>
                    <a:pt x="835045" y="26992"/>
                    <a:pt x="835045" y="60289"/>
                  </a:cubicBezTo>
                  <a:lnTo>
                    <a:pt x="835045" y="602805"/>
                  </a:lnTo>
                  <a:cubicBezTo>
                    <a:pt x="835045" y="618794"/>
                    <a:pt x="828694" y="634129"/>
                    <a:pt x="817387" y="645436"/>
                  </a:cubicBezTo>
                  <a:cubicBezTo>
                    <a:pt x="806081" y="656742"/>
                    <a:pt x="790746" y="663094"/>
                    <a:pt x="774757" y="663094"/>
                  </a:cubicBezTo>
                  <a:lnTo>
                    <a:pt x="60289" y="663094"/>
                  </a:lnTo>
                  <a:cubicBezTo>
                    <a:pt x="26992" y="663094"/>
                    <a:pt x="0" y="636101"/>
                    <a:pt x="0" y="602805"/>
                  </a:cubicBezTo>
                  <a:lnTo>
                    <a:pt x="0" y="60289"/>
                  </a:lnTo>
                  <a:cubicBezTo>
                    <a:pt x="0" y="44299"/>
                    <a:pt x="6352" y="28965"/>
                    <a:pt x="17658" y="17658"/>
                  </a:cubicBezTo>
                  <a:cubicBezTo>
                    <a:pt x="28965" y="6352"/>
                    <a:pt x="44299" y="0"/>
                    <a:pt x="60289" y="0"/>
                  </a:cubicBezTo>
                  <a:close/>
                </a:path>
              </a:pathLst>
            </a:custGeom>
            <a:solidFill>
              <a:srgbClr val="EAF3FF"/>
            </a:solidFill>
            <a:ln w="28575" cap="rnd">
              <a:solidFill>
                <a:srgbClr val="004AAD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5045" cy="7011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857604" y="7542945"/>
            <a:ext cx="2794862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727723" y="7577645"/>
            <a:ext cx="2679302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585299" y="7542945"/>
            <a:ext cx="2794862" cy="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129988" y="5038369"/>
            <a:ext cx="1705482" cy="1088408"/>
          </a:xfrm>
          <a:custGeom>
            <a:avLst/>
            <a:gdLst/>
            <a:ahLst/>
            <a:cxnLst/>
            <a:rect r="r" b="b" t="t" l="l"/>
            <a:pathLst>
              <a:path h="1088408" w="1705482">
                <a:moveTo>
                  <a:pt x="0" y="0"/>
                </a:moveTo>
                <a:lnTo>
                  <a:pt x="1705482" y="0"/>
                </a:lnTo>
                <a:lnTo>
                  <a:pt x="1705482" y="1088408"/>
                </a:lnTo>
                <a:lnTo>
                  <a:pt x="0" y="1088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26526" y="4941938"/>
            <a:ext cx="934478" cy="1198048"/>
          </a:xfrm>
          <a:custGeom>
            <a:avLst/>
            <a:gdLst/>
            <a:ahLst/>
            <a:cxnLst/>
            <a:rect r="r" b="b" t="t" l="l"/>
            <a:pathLst>
              <a:path h="1198048" w="934478">
                <a:moveTo>
                  <a:pt x="0" y="0"/>
                </a:moveTo>
                <a:lnTo>
                  <a:pt x="934477" y="0"/>
                </a:lnTo>
                <a:lnTo>
                  <a:pt x="934477" y="1198049"/>
                </a:lnTo>
                <a:lnTo>
                  <a:pt x="0" y="1198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698697" y="4941938"/>
            <a:ext cx="1140265" cy="1142342"/>
          </a:xfrm>
          <a:custGeom>
            <a:avLst/>
            <a:gdLst/>
            <a:ahLst/>
            <a:cxnLst/>
            <a:rect r="r" b="b" t="t" l="l"/>
            <a:pathLst>
              <a:path h="1142342" w="1140265">
                <a:moveTo>
                  <a:pt x="0" y="0"/>
                </a:moveTo>
                <a:lnTo>
                  <a:pt x="1140266" y="0"/>
                </a:lnTo>
                <a:lnTo>
                  <a:pt x="1140266" y="1142343"/>
                </a:lnTo>
                <a:lnTo>
                  <a:pt x="0" y="1142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52014" y="6981324"/>
            <a:ext cx="260604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“ 출고 여유일 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52547" y="6963223"/>
            <a:ext cx="448243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“ 지역 내 거래 비율 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79708" y="6963223"/>
            <a:ext cx="260604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“ 지연일수 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8073" y="7754162"/>
            <a:ext cx="4013925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-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출고 마감일-  판매자 출고일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87831" y="7754162"/>
            <a:ext cx="361186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-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동일 지역 내에서 거래되는 비율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35056" y="7754162"/>
            <a:ext cx="411439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-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실제 배송 도착일 - 예상 배송 도착일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2283878" y="801018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</a:t>
            </a:r>
            <a:r>
              <a:rPr lang="en-US" b="true" sz="3999" spc="-79" strike="noStrike" u="non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군집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58026" y="3408329"/>
            <a:ext cx="267850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OLS회귀로 찾은 핵심 요인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37900" y="2337719"/>
            <a:ext cx="79117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배송 신뢰도를 구성하는 세 가지 단계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52014" y="4186501"/>
            <a:ext cx="2606043" cy="4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7"/>
              </a:lnSpc>
              <a:spcBef>
                <a:spcPct val="0"/>
              </a:spcBef>
            </a:pPr>
            <a:r>
              <a:rPr lang="en-US" b="true" sz="2533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출고 단계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00982" y="4186501"/>
            <a:ext cx="2606043" cy="4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7"/>
              </a:lnSpc>
              <a:spcBef>
                <a:spcPct val="0"/>
              </a:spcBef>
            </a:pPr>
            <a:r>
              <a:rPr lang="en-US" b="true" sz="2533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배송 단계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79708" y="4186501"/>
            <a:ext cx="2606043" cy="4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7"/>
              </a:lnSpc>
              <a:spcBef>
                <a:spcPct val="0"/>
              </a:spcBef>
            </a:pPr>
            <a:r>
              <a:rPr lang="en-US" b="true" sz="2533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도착 단계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406961" y="3668898"/>
          <a:ext cx="8251174" cy="3957102"/>
        </p:xfrm>
        <a:graphic>
          <a:graphicData uri="http://schemas.openxmlformats.org/drawingml/2006/table">
            <a:tbl>
              <a:tblPr/>
              <a:tblGrid>
                <a:gridCol w="2286487"/>
                <a:gridCol w="1964777"/>
                <a:gridCol w="1983220"/>
                <a:gridCol w="2016690"/>
              </a:tblGrid>
              <a:tr h="989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Clurster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F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출고여유일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지역내 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거래 비율</a:t>
                      </a:r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배송지연일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C"/>
                    </a:solidFill>
                  </a:tcPr>
                </a:tc>
              </a:tr>
              <a:tr h="989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장거리지연형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B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2.2일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0.025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9.1일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89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경미지연형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F6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1.4일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0.035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3.5일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89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00000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출고지연형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52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1.3일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Nanum Square Bold"/>
                          <a:ea typeface="Nanum Square Bold"/>
                          <a:cs typeface="Nanum Square Bold"/>
                          <a:sym typeface="Nanum Square Bold"/>
                        </a:rPr>
                        <a:t>0.898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9"/>
                        </a:lnSpc>
                        <a:defRPr/>
                      </a:pPr>
                      <a:r>
                        <a:rPr lang="en-US" sz="2499">
                          <a:solidFill>
                            <a:srgbClr val="222222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5.8일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7AA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1941060" y="2579904"/>
            <a:ext cx="5888580" cy="5711163"/>
          </a:xfrm>
          <a:custGeom>
            <a:avLst/>
            <a:gdLst/>
            <a:ahLst/>
            <a:cxnLst/>
            <a:rect r="r" b="b" t="t" l="l"/>
            <a:pathLst>
              <a:path h="5711163" w="5888580">
                <a:moveTo>
                  <a:pt x="0" y="0"/>
                </a:moveTo>
                <a:lnTo>
                  <a:pt x="5888579" y="0"/>
                </a:lnTo>
                <a:lnTo>
                  <a:pt x="5888579" y="5711163"/>
                </a:lnTo>
                <a:lnTo>
                  <a:pt x="0" y="5711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84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2317591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군집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73898" y="2579585"/>
            <a:ext cx="851730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63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군집별 주요 결과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-2313309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군집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20011" y="1917232"/>
            <a:ext cx="8930678" cy="6886064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017462" y="4568968"/>
            <a:ext cx="49420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spc="-152" b="true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경미지연형 (28.3%)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7462" y="6104868"/>
            <a:ext cx="49420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spc="-152" b="true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출고지연형 (20.2%)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17462" y="2502995"/>
            <a:ext cx="544803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spc="-152" b="true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장거리지연형  (51.5%)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75233" y="2993807"/>
            <a:ext cx="8172653" cy="125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358"/>
              </a:lnSpc>
              <a:buFont typeface="Arial"/>
              <a:buChar char="•"/>
            </a:pPr>
            <a:r>
              <a:rPr lang="en-US" b="true" sz="2300" spc="-117">
                <a:solidFill>
                  <a:srgbClr val="000000">
                    <a:alpha val="61961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출고 여유가 있음에도 배송이 늦은 것은 물류망(운송 경로, 허브 위치) 문제 가능성이 큼</a:t>
            </a:r>
          </a:p>
          <a:p>
            <a:pPr algn="l" marL="496571" indent="-248285" lvl="1">
              <a:lnSpc>
                <a:spcPts val="3358"/>
              </a:lnSpc>
              <a:buFont typeface="Arial"/>
              <a:buChar char="•"/>
            </a:pPr>
            <a:r>
              <a:rPr lang="en-US" b="true" sz="2300" spc="-117">
                <a:solidFill>
                  <a:srgbClr val="000000">
                    <a:alpha val="61961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즉, 운송 프로세스 효율 저하 또는 물류 거점 불균형이 지연의 원인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5233" y="6588505"/>
            <a:ext cx="8172653" cy="167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358"/>
              </a:lnSpc>
              <a:buFont typeface="Arial"/>
              <a:buChar char="•"/>
            </a:pPr>
            <a:r>
              <a:rPr lang="en-US" b="true" sz="2300" spc="-117">
                <a:solidFill>
                  <a:srgbClr val="000000">
                    <a:alpha val="61961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같은 지역 내 거래인데도 지연이 발생 → 운송보다는 판매자 측 출고 지연이 원인일 가능성</a:t>
            </a:r>
          </a:p>
          <a:p>
            <a:pPr algn="l" marL="496571" indent="-248285" lvl="1">
              <a:lnSpc>
                <a:spcPts val="3358"/>
              </a:lnSpc>
              <a:buFont typeface="Arial"/>
              <a:buChar char="•"/>
            </a:pPr>
            <a:r>
              <a:rPr lang="en-US" b="true" sz="2300" spc="-117">
                <a:solidFill>
                  <a:srgbClr val="000000">
                    <a:alpha val="61961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재고 부족, 판매자 관리 부실 등 운영·공급단 문제가 시사됨</a:t>
            </a:r>
          </a:p>
          <a:p>
            <a:pPr algn="l">
              <a:lnSpc>
                <a:spcPts val="335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875233" y="4999714"/>
            <a:ext cx="8172653" cy="83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358"/>
              </a:lnSpc>
              <a:buFont typeface="Arial"/>
              <a:buChar char="•"/>
            </a:pPr>
            <a:r>
              <a:rPr lang="en-US" b="true" sz="2300" spc="-117">
                <a:solidFill>
                  <a:srgbClr val="000000">
                    <a:alpha val="61961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장거리 운송 중 외부 요인(거리, 교통, 기상, 지역 간 물류 인프라 차이)에 영향을 받음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606465" y="2488119"/>
            <a:ext cx="223268" cy="173337"/>
          </a:xfrm>
          <a:custGeom>
            <a:avLst/>
            <a:gdLst/>
            <a:ahLst/>
            <a:cxnLst/>
            <a:rect r="r" b="b" t="t" l="l"/>
            <a:pathLst>
              <a:path h="173337" w="223268">
                <a:moveTo>
                  <a:pt x="0" y="0"/>
                </a:moveTo>
                <a:lnTo>
                  <a:pt x="223268" y="0"/>
                </a:lnTo>
                <a:lnTo>
                  <a:pt x="223268" y="173336"/>
                </a:lnTo>
                <a:lnTo>
                  <a:pt x="0" y="1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51965" y="4544793"/>
            <a:ext cx="223268" cy="173337"/>
          </a:xfrm>
          <a:custGeom>
            <a:avLst/>
            <a:gdLst/>
            <a:ahLst/>
            <a:cxnLst/>
            <a:rect r="r" b="b" t="t" l="l"/>
            <a:pathLst>
              <a:path h="173337" w="223268">
                <a:moveTo>
                  <a:pt x="0" y="0"/>
                </a:moveTo>
                <a:lnTo>
                  <a:pt x="223268" y="0"/>
                </a:lnTo>
                <a:lnTo>
                  <a:pt x="223268" y="173337"/>
                </a:lnTo>
                <a:lnTo>
                  <a:pt x="0" y="17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51965" y="6109283"/>
            <a:ext cx="223268" cy="173337"/>
          </a:xfrm>
          <a:custGeom>
            <a:avLst/>
            <a:gdLst/>
            <a:ahLst/>
            <a:cxnLst/>
            <a:rect r="r" b="b" t="t" l="l"/>
            <a:pathLst>
              <a:path h="173337" w="223268">
                <a:moveTo>
                  <a:pt x="0" y="0"/>
                </a:moveTo>
                <a:lnTo>
                  <a:pt x="223268" y="0"/>
                </a:lnTo>
                <a:lnTo>
                  <a:pt x="223268" y="173337"/>
                </a:lnTo>
                <a:lnTo>
                  <a:pt x="0" y="17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62" y="763307"/>
            <a:ext cx="16672477" cy="9344356"/>
            <a:chOff x="0" y="0"/>
            <a:chExt cx="22229969" cy="12459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681839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91105" cy="2307262"/>
              </a:xfrm>
              <a:custGeom>
                <a:avLst/>
                <a:gdLst/>
                <a:ahLst/>
                <a:cxnLst/>
                <a:rect r="r" b="b" t="t" l="l"/>
                <a:pathLst>
                  <a:path h="2307262" w="4391105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07762" y="543786"/>
            <a:ext cx="16672477" cy="1265838"/>
            <a:chOff x="0" y="0"/>
            <a:chExt cx="4391105" cy="333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1105" cy="333389"/>
            </a:xfrm>
            <a:custGeom>
              <a:avLst/>
              <a:gdLst/>
              <a:ahLst/>
              <a:cxnLst/>
              <a:rect r="r" b="b" t="t" l="l"/>
              <a:pathLst>
                <a:path h="333389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333389"/>
                  </a:lnTo>
                  <a:lnTo>
                    <a:pt x="0" y="333389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91105" cy="3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-550821" y="808405"/>
            <a:ext cx="851730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4. 인사이트 및 기대효과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7157" y="5092462"/>
            <a:ext cx="5167448" cy="4021392"/>
            <a:chOff x="0" y="0"/>
            <a:chExt cx="1360974" cy="10591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0974" cy="1059132"/>
            </a:xfrm>
            <a:custGeom>
              <a:avLst/>
              <a:gdLst/>
              <a:ahLst/>
              <a:cxnLst/>
              <a:rect r="r" b="b" t="t" l="l"/>
              <a:pathLst>
                <a:path h="1059132" w="1360974">
                  <a:moveTo>
                    <a:pt x="37455" y="0"/>
                  </a:moveTo>
                  <a:lnTo>
                    <a:pt x="1323519" y="0"/>
                  </a:lnTo>
                  <a:cubicBezTo>
                    <a:pt x="1344205" y="0"/>
                    <a:pt x="1360974" y="16769"/>
                    <a:pt x="1360974" y="37455"/>
                  </a:cubicBezTo>
                  <a:lnTo>
                    <a:pt x="1360974" y="1021677"/>
                  </a:lnTo>
                  <a:cubicBezTo>
                    <a:pt x="1360974" y="1031610"/>
                    <a:pt x="1357028" y="1041137"/>
                    <a:pt x="1350004" y="1048162"/>
                  </a:cubicBezTo>
                  <a:cubicBezTo>
                    <a:pt x="1342979" y="1055186"/>
                    <a:pt x="1333452" y="1059132"/>
                    <a:pt x="1323519" y="1059132"/>
                  </a:cubicBezTo>
                  <a:lnTo>
                    <a:pt x="37455" y="1059132"/>
                  </a:lnTo>
                  <a:cubicBezTo>
                    <a:pt x="16769" y="1059132"/>
                    <a:pt x="0" y="1042363"/>
                    <a:pt x="0" y="1021677"/>
                  </a:cubicBezTo>
                  <a:lnTo>
                    <a:pt x="0" y="37455"/>
                  </a:lnTo>
                  <a:cubicBezTo>
                    <a:pt x="0" y="27521"/>
                    <a:pt x="3946" y="17995"/>
                    <a:pt x="10970" y="10970"/>
                  </a:cubicBezTo>
                  <a:cubicBezTo>
                    <a:pt x="17995" y="3946"/>
                    <a:pt x="27521" y="0"/>
                    <a:pt x="374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rnd">
              <a:solidFill>
                <a:srgbClr val="012776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60974" cy="1116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68798" y="4442269"/>
            <a:ext cx="184110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장거리 지연형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8616" y="6442074"/>
            <a:ext cx="4204530" cy="92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물류 파트너 간 SLA(운송 품질 계약) 재검토를 통한 운송 단계 단축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70829" y="5092462"/>
            <a:ext cx="5255050" cy="4021392"/>
            <a:chOff x="0" y="0"/>
            <a:chExt cx="1384046" cy="10591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4046" cy="1059132"/>
            </a:xfrm>
            <a:custGeom>
              <a:avLst/>
              <a:gdLst/>
              <a:ahLst/>
              <a:cxnLst/>
              <a:rect r="r" b="b" t="t" l="l"/>
              <a:pathLst>
                <a:path h="1059132" w="1384046">
                  <a:moveTo>
                    <a:pt x="36831" y="0"/>
                  </a:moveTo>
                  <a:lnTo>
                    <a:pt x="1347215" y="0"/>
                  </a:lnTo>
                  <a:cubicBezTo>
                    <a:pt x="1367556" y="0"/>
                    <a:pt x="1384046" y="16490"/>
                    <a:pt x="1384046" y="36831"/>
                  </a:cubicBezTo>
                  <a:lnTo>
                    <a:pt x="1384046" y="1022301"/>
                  </a:lnTo>
                  <a:cubicBezTo>
                    <a:pt x="1384046" y="1042642"/>
                    <a:pt x="1367556" y="1059132"/>
                    <a:pt x="1347215" y="1059132"/>
                  </a:cubicBezTo>
                  <a:lnTo>
                    <a:pt x="36831" y="1059132"/>
                  </a:lnTo>
                  <a:cubicBezTo>
                    <a:pt x="16490" y="1059132"/>
                    <a:pt x="0" y="1042642"/>
                    <a:pt x="0" y="1022301"/>
                  </a:cubicBezTo>
                  <a:lnTo>
                    <a:pt x="0" y="36831"/>
                  </a:lnTo>
                  <a:cubicBezTo>
                    <a:pt x="0" y="16490"/>
                    <a:pt x="16490" y="0"/>
                    <a:pt x="368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rnd">
              <a:solidFill>
                <a:srgbClr val="012776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84046" cy="110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0779" y="4442269"/>
            <a:ext cx="154900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경미 지연형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7950" y="5456561"/>
            <a:ext cx="5019265" cy="345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b="true" sz="23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셀러 관리 정책 강화: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출고 지연률이 높은 셀러에 경고·패널티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부과</a:t>
            </a:r>
          </a:p>
          <a:p>
            <a:pPr algn="ctr">
              <a:lnSpc>
                <a:spcPts val="1587"/>
              </a:lnSpc>
            </a:pPr>
          </a:p>
          <a:p>
            <a:pPr algn="ctr">
              <a:lnSpc>
                <a:spcPts val="3680"/>
              </a:lnSpc>
            </a:pPr>
            <a:r>
              <a:rPr lang="en-US" b="true" sz="23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교육 및 인센티브 제공:</a:t>
            </a: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정시 출고율이 높은 셀러에게 가시적 보상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제공</a:t>
            </a:r>
          </a:p>
          <a:p>
            <a:pPr algn="ctr" marL="0" indent="0" lvl="0">
              <a:lnSpc>
                <a:spcPts val="3680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2000561" y="5092462"/>
            <a:ext cx="5258739" cy="4021392"/>
            <a:chOff x="0" y="0"/>
            <a:chExt cx="1385018" cy="10591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5018" cy="1059132"/>
            </a:xfrm>
            <a:custGeom>
              <a:avLst/>
              <a:gdLst/>
              <a:ahLst/>
              <a:cxnLst/>
              <a:rect r="r" b="b" t="t" l="l"/>
              <a:pathLst>
                <a:path h="1059132" w="1385018">
                  <a:moveTo>
                    <a:pt x="36805" y="0"/>
                  </a:moveTo>
                  <a:lnTo>
                    <a:pt x="1348213" y="0"/>
                  </a:lnTo>
                  <a:cubicBezTo>
                    <a:pt x="1368540" y="0"/>
                    <a:pt x="1385018" y="16478"/>
                    <a:pt x="1385018" y="36805"/>
                  </a:cubicBezTo>
                  <a:lnTo>
                    <a:pt x="1385018" y="1022327"/>
                  </a:lnTo>
                  <a:cubicBezTo>
                    <a:pt x="1385018" y="1032088"/>
                    <a:pt x="1381140" y="1041450"/>
                    <a:pt x="1374238" y="1048352"/>
                  </a:cubicBezTo>
                  <a:cubicBezTo>
                    <a:pt x="1367336" y="1055254"/>
                    <a:pt x="1357974" y="1059132"/>
                    <a:pt x="1348213" y="1059132"/>
                  </a:cubicBezTo>
                  <a:lnTo>
                    <a:pt x="36805" y="1059132"/>
                  </a:lnTo>
                  <a:cubicBezTo>
                    <a:pt x="27044" y="1059132"/>
                    <a:pt x="17682" y="1055254"/>
                    <a:pt x="10780" y="1048352"/>
                  </a:cubicBezTo>
                  <a:cubicBezTo>
                    <a:pt x="3878" y="1041450"/>
                    <a:pt x="0" y="1032088"/>
                    <a:pt x="0" y="1022327"/>
                  </a:cubicBezTo>
                  <a:lnTo>
                    <a:pt x="0" y="36805"/>
                  </a:lnTo>
                  <a:cubicBezTo>
                    <a:pt x="0" y="27044"/>
                    <a:pt x="3878" y="17682"/>
                    <a:pt x="10780" y="10780"/>
                  </a:cubicBezTo>
                  <a:cubicBezTo>
                    <a:pt x="17682" y="3878"/>
                    <a:pt x="27044" y="0"/>
                    <a:pt x="368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rnd">
              <a:solidFill>
                <a:srgbClr val="012776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85018" cy="110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688632" y="4442269"/>
            <a:ext cx="154900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출고 지연형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95395" y="5423265"/>
            <a:ext cx="4581625" cy="325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30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재고 예측 기반 출고 프로세스 개선: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인기 상품은 지역 내 사전 재고 확보</a:t>
            </a:r>
          </a:p>
          <a:p>
            <a:pPr algn="ctr">
              <a:lnSpc>
                <a:spcPts val="3680"/>
              </a:lnSpc>
            </a:pPr>
          </a:p>
          <a:p>
            <a:pPr algn="ctr">
              <a:lnSpc>
                <a:spcPts val="3680"/>
              </a:lnSpc>
            </a:pPr>
            <a:r>
              <a:rPr lang="en-US" sz="230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로컬 신규 판매자 유입: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해당 지역 내 셀러 비율을 높여 거리를 </a:t>
            </a:r>
          </a:p>
          <a:p>
            <a:pPr algn="ctr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단축하고, 배송 안정성 개선</a:t>
            </a:r>
          </a:p>
          <a:p>
            <a:pPr algn="ctr" marL="0" indent="0" lvl="0">
              <a:lnSpc>
                <a:spcPts val="368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2717825" y="2699926"/>
            <a:ext cx="1543050" cy="1543050"/>
            <a:chOff x="0" y="0"/>
            <a:chExt cx="2057400" cy="20574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057400" cy="205740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277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61046" y="538797"/>
              <a:ext cx="1535308" cy="979806"/>
            </a:xfrm>
            <a:custGeom>
              <a:avLst/>
              <a:gdLst/>
              <a:ahLst/>
              <a:cxnLst/>
              <a:rect r="r" b="b" t="t" l="l"/>
              <a:pathLst>
                <a:path h="979806" w="1535308">
                  <a:moveTo>
                    <a:pt x="0" y="0"/>
                  </a:moveTo>
                  <a:lnTo>
                    <a:pt x="1535308" y="0"/>
                  </a:lnTo>
                  <a:lnTo>
                    <a:pt x="1535308" y="979806"/>
                  </a:lnTo>
                  <a:lnTo>
                    <a:pt x="0" y="979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38891" y="2699926"/>
            <a:ext cx="1543050" cy="1543050"/>
            <a:chOff x="0" y="0"/>
            <a:chExt cx="2057400" cy="20574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057400" cy="205740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2776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377054" y="414415"/>
              <a:ext cx="1231947" cy="1228569"/>
            </a:xfrm>
            <a:custGeom>
              <a:avLst/>
              <a:gdLst/>
              <a:ahLst/>
              <a:cxnLst/>
              <a:rect r="r" b="b" t="t" l="l"/>
              <a:pathLst>
                <a:path h="1228569" w="1231947">
                  <a:moveTo>
                    <a:pt x="0" y="0"/>
                  </a:moveTo>
                  <a:lnTo>
                    <a:pt x="1231948" y="0"/>
                  </a:lnTo>
                  <a:lnTo>
                    <a:pt x="1231948" y="1228570"/>
                  </a:lnTo>
                  <a:lnTo>
                    <a:pt x="0" y="122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694585" y="2699926"/>
            <a:ext cx="1543050" cy="1543050"/>
            <a:chOff x="0" y="0"/>
            <a:chExt cx="2057400" cy="20574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2057400" cy="2057400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277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392603" y="265891"/>
              <a:ext cx="1272194" cy="1463822"/>
            </a:xfrm>
            <a:custGeom>
              <a:avLst/>
              <a:gdLst/>
              <a:ahLst/>
              <a:cxnLst/>
              <a:rect r="r" b="b" t="t" l="l"/>
              <a:pathLst>
                <a:path h="1463822" w="1272194">
                  <a:moveTo>
                    <a:pt x="0" y="0"/>
                  </a:moveTo>
                  <a:lnTo>
                    <a:pt x="1272194" y="0"/>
                  </a:lnTo>
                  <a:lnTo>
                    <a:pt x="1272194" y="1463822"/>
                  </a:lnTo>
                  <a:lnTo>
                    <a:pt x="0" y="1463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543786"/>
            <a:ext cx="16672477" cy="8979906"/>
            <a:chOff x="0" y="0"/>
            <a:chExt cx="4391105" cy="2365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2365078"/>
            </a:xfrm>
            <a:custGeom>
              <a:avLst/>
              <a:gdLst/>
              <a:ahLst/>
              <a:cxnLst/>
              <a:rect r="r" b="b" t="t" l="l"/>
              <a:pathLst>
                <a:path h="236507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65078"/>
                  </a:lnTo>
                  <a:lnTo>
                    <a:pt x="0" y="236507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240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0716" y="3983130"/>
            <a:ext cx="13907518" cy="1347930"/>
            <a:chOff x="0" y="0"/>
            <a:chExt cx="18543358" cy="179724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543358" cy="1797241"/>
              <a:chOff x="0" y="0"/>
              <a:chExt cx="3662885" cy="3550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62885" cy="355010"/>
              </a:xfrm>
              <a:custGeom>
                <a:avLst/>
                <a:gdLst/>
                <a:ahLst/>
                <a:cxnLst/>
                <a:rect r="r" b="b" t="t" l="l"/>
                <a:pathLst>
                  <a:path h="355010" w="3662885">
                    <a:moveTo>
                      <a:pt x="15030" y="0"/>
                    </a:moveTo>
                    <a:lnTo>
                      <a:pt x="3647855" y="0"/>
                    </a:lnTo>
                    <a:cubicBezTo>
                      <a:pt x="3656156" y="0"/>
                      <a:pt x="3662885" y="6729"/>
                      <a:pt x="3662885" y="15030"/>
                    </a:cubicBezTo>
                    <a:lnTo>
                      <a:pt x="3662885" y="339980"/>
                    </a:lnTo>
                    <a:cubicBezTo>
                      <a:pt x="3662885" y="343967"/>
                      <a:pt x="3661302" y="347790"/>
                      <a:pt x="3658483" y="350608"/>
                    </a:cubicBezTo>
                    <a:cubicBezTo>
                      <a:pt x="3655664" y="353427"/>
                      <a:pt x="3651841" y="355010"/>
                      <a:pt x="3647855" y="355010"/>
                    </a:cubicBezTo>
                    <a:lnTo>
                      <a:pt x="15030" y="355010"/>
                    </a:lnTo>
                    <a:cubicBezTo>
                      <a:pt x="6729" y="355010"/>
                      <a:pt x="0" y="348281"/>
                      <a:pt x="0" y="339980"/>
                    </a:cubicBezTo>
                    <a:lnTo>
                      <a:pt x="0" y="15030"/>
                    </a:lnTo>
                    <a:cubicBezTo>
                      <a:pt x="0" y="11044"/>
                      <a:pt x="1584" y="7221"/>
                      <a:pt x="4402" y="4402"/>
                    </a:cubicBezTo>
                    <a:cubicBezTo>
                      <a:pt x="7221" y="1584"/>
                      <a:pt x="11044" y="0"/>
                      <a:pt x="15030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28575" cap="rnd">
                <a:solidFill>
                  <a:srgbClr val="004AAD"/>
                </a:solidFill>
                <a:prstDash val="dash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3662885" cy="4597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839"/>
                  </a:lnSpc>
                </a:pPr>
                <a:r>
                  <a:rPr lang="en-US" b="true" sz="5599" spc="-167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한계점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8129" y="233487"/>
              <a:ext cx="3418324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762" y="7274686"/>
            <a:ext cx="16230600" cy="2832977"/>
          </a:xfrm>
          <a:custGeom>
            <a:avLst/>
            <a:gdLst/>
            <a:ahLst/>
            <a:cxnLst/>
            <a:rect r="r" b="b" t="t" l="l"/>
            <a:pathLst>
              <a:path h="2832977" w="16230600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62" y="763307"/>
            <a:ext cx="16672477" cy="8760385"/>
            <a:chOff x="0" y="0"/>
            <a:chExt cx="4391105" cy="2307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105" cy="2307262"/>
            </a:xfrm>
            <a:custGeom>
              <a:avLst/>
              <a:gdLst/>
              <a:ahLst/>
              <a:cxnLst/>
              <a:rect r="r" b="b" t="t" l="l"/>
              <a:pathLst>
                <a:path h="2307262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7762" y="653547"/>
            <a:ext cx="16672477" cy="8979906"/>
            <a:chOff x="0" y="0"/>
            <a:chExt cx="4391105" cy="2365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105" cy="2365078"/>
            </a:xfrm>
            <a:custGeom>
              <a:avLst/>
              <a:gdLst/>
              <a:ahLst/>
              <a:cxnLst/>
              <a:rect r="r" b="b" t="t" l="l"/>
              <a:pathLst>
                <a:path h="2365078" w="4391105">
                  <a:moveTo>
                    <a:pt x="0" y="0"/>
                  </a:moveTo>
                  <a:lnTo>
                    <a:pt x="4391105" y="0"/>
                  </a:lnTo>
                  <a:lnTo>
                    <a:pt x="4391105" y="2365078"/>
                  </a:lnTo>
                  <a:lnTo>
                    <a:pt x="0" y="236507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105" cy="240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18999" y="6043313"/>
            <a:ext cx="108500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에잇이잇&gt;&lt;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5350" y="3956051"/>
            <a:ext cx="851730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  <a:r>
              <a:rPr lang="en-US" b="true" sz="6000" spc="-12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en-US" b="true" sz="6000" spc="-12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:D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DAG8yAlkcFc</dc:identifier>
  <dcterms:modified xsi:type="dcterms:W3CDTF">2011-08-01T06:04:30Z</dcterms:modified>
  <cp:revision>1</cp:revision>
  <dc:title>에잇이잇의 사본</dc:title>
</cp:coreProperties>
</file>